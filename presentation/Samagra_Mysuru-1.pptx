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image" Target="../media/image-11-3.jpg"/><Relationship Id="rId4" Type="http://schemas.openxmlformats.org/officeDocument/2006/relationships/image" Target="../media/image-11-4.jp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9966960" y="-2011680"/>
            <a:ext cx="4937760" cy="4937760"/>
          </a:xfrm>
          <a:prstGeom prst="ellipse">
            <a:avLst/>
          </a:prstGeom>
          <a:solidFill>
            <a:srgbClr val="F2F8F4">
              <a:alpha val="75000"/>
            </a:srgbClr>
          </a:solidFill>
          <a:ln/>
        </p:spPr>
      </p:sp>
      <p:sp>
        <p:nvSpPr>
          <p:cNvPr id="3" name="Shape 1"/>
          <p:cNvSpPr/>
          <p:nvPr/>
        </p:nvSpPr>
        <p:spPr>
          <a:xfrm>
            <a:off x="-2194560" y="5394960"/>
            <a:ext cx="4206240" cy="4206240"/>
          </a:xfrm>
          <a:prstGeom prst="ellipse">
            <a:avLst/>
          </a:prstGeom>
          <a:solidFill>
            <a:srgbClr val="F2F8F4">
              <a:alpha val="75000"/>
            </a:srgbClr>
          </a:solidFill>
          <a:ln/>
        </p:spPr>
      </p:sp>
      <p:sp>
        <p:nvSpPr>
          <p:cNvPr id="4" name="Shape 2"/>
          <p:cNvSpPr/>
          <p:nvPr/>
        </p:nvSpPr>
        <p:spPr>
          <a:xfrm>
            <a:off x="822960" y="640080"/>
            <a:ext cx="777240" cy="777240"/>
          </a:xfrm>
          <a:prstGeom prst="ellipse">
            <a:avLst/>
          </a:prstGeom>
          <a:solidFill>
            <a:srgbClr val="E6F3EA"/>
          </a:solidFill>
          <a:ln w="12700">
            <a:solidFill>
              <a:srgbClr val="D3E6DA"/>
            </a:solidFill>
            <a:prstDash val="solid"/>
          </a:ln>
        </p:spPr>
      </p:sp>
      <p:sp>
        <p:nvSpPr>
          <p:cNvPr id="5" name="Text 3"/>
          <p:cNvSpPr txBox="1"/>
          <p:nvPr/>
        </p:nvSpPr>
        <p:spPr>
          <a:xfrm>
            <a:off x="822960" y="621792"/>
            <a:ext cx="777240" cy="777240"/>
          </a:xfrm>
          <a:prstGeom prst="rect">
            <a:avLst/>
          </a:prstGeom>
          <a:noFill/>
          <a:ln/>
        </p:spPr>
        <p:txBody>
          <a:bodyPr wrap="square" lIns="0" tIns="0" rIns="0" bIns="0" rtlCol="0" anchor="ctr"/>
          <a:lstStyle/>
          <a:p>
            <a:pPr algn="ctr" indent="0" marL="0">
              <a:buNone/>
            </a:pPr>
            <a:r>
              <a:rPr lang="en-US" sz="3400" b="1" dirty="0">
                <a:solidFill>
                  <a:srgbClr val="168A46"/>
                </a:solidFill>
                <a:latin typeface="Calibri" pitchFamily="34" charset="0"/>
                <a:ea typeface="Calibri" pitchFamily="34" charset="-122"/>
                <a:cs typeface="Calibri" pitchFamily="34" charset="-120"/>
              </a:rPr>
              <a:t>⌂</a:t>
            </a:r>
            <a:endParaRPr lang="en-US" sz="3400" dirty="0"/>
          </a:p>
        </p:txBody>
      </p:sp>
      <p:sp>
        <p:nvSpPr>
          <p:cNvPr id="6" name="Text 4"/>
          <p:cNvSpPr txBox="1"/>
          <p:nvPr/>
        </p:nvSpPr>
        <p:spPr>
          <a:xfrm>
            <a:off x="822960" y="1645920"/>
            <a:ext cx="7315200" cy="320040"/>
          </a:xfrm>
          <a:prstGeom prst="rect">
            <a:avLst/>
          </a:prstGeom>
          <a:noFill/>
          <a:ln/>
        </p:spPr>
        <p:txBody>
          <a:bodyPr wrap="square" lIns="0" tIns="0" rIns="0" bIns="0" rtlCol="0" anchor="ctr"/>
          <a:lstStyle/>
          <a:p>
            <a:pPr indent="0" marL="0">
              <a:buNone/>
            </a:pPr>
            <a:r>
              <a:rPr lang="en-US" sz="1300" b="1" spc="300" kern="0" dirty="0">
                <a:solidFill>
                  <a:srgbClr val="168A46"/>
                </a:solidFill>
                <a:latin typeface="Calibri" pitchFamily="34" charset="0"/>
                <a:ea typeface="Calibri" pitchFamily="34" charset="-122"/>
                <a:cs typeface="Calibri" pitchFamily="34" charset="-120"/>
              </a:rPr>
              <a:t>HACK MYSURU 1.0</a:t>
            </a:r>
            <a:endParaRPr lang="en-US" sz="1300" dirty="0"/>
          </a:p>
        </p:txBody>
      </p:sp>
      <p:sp>
        <p:nvSpPr>
          <p:cNvPr id="7" name="Text 5"/>
          <p:cNvSpPr txBox="1"/>
          <p:nvPr/>
        </p:nvSpPr>
        <p:spPr>
          <a:xfrm>
            <a:off x="777240" y="2011680"/>
            <a:ext cx="10607040" cy="1280160"/>
          </a:xfrm>
          <a:prstGeom prst="rect">
            <a:avLst/>
          </a:prstGeom>
          <a:noFill/>
          <a:ln/>
        </p:spPr>
        <p:txBody>
          <a:bodyPr wrap="square" lIns="0" tIns="0" rIns="0" bIns="0" rtlCol="0" anchor="ctr"/>
          <a:lstStyle/>
          <a:p>
            <a:pPr indent="0" marL="0">
              <a:buNone/>
            </a:pPr>
            <a:r>
              <a:rPr lang="en-US" sz="5800" b="1" dirty="0">
                <a:solidFill>
                  <a:srgbClr val="142018"/>
                </a:solidFill>
                <a:latin typeface="Calibri" pitchFamily="34" charset="0"/>
                <a:ea typeface="Calibri" pitchFamily="34" charset="-122"/>
                <a:cs typeface="Calibri" pitchFamily="34" charset="-120"/>
              </a:rPr>
              <a:t>SAMAGRA MYSURU</a:t>
            </a:r>
            <a:endParaRPr lang="en-US" sz="5800" dirty="0"/>
          </a:p>
        </p:txBody>
      </p:sp>
      <p:sp>
        <p:nvSpPr>
          <p:cNvPr id="8" name="Shape 6"/>
          <p:cNvSpPr/>
          <p:nvPr/>
        </p:nvSpPr>
        <p:spPr>
          <a:xfrm>
            <a:off x="841248" y="3218688"/>
            <a:ext cx="2377440" cy="0"/>
          </a:xfrm>
          <a:prstGeom prst="line">
            <a:avLst/>
          </a:prstGeom>
          <a:noFill/>
          <a:ln w="28575">
            <a:solidFill>
              <a:srgbClr val="168A46"/>
            </a:solidFill>
            <a:prstDash val="solid"/>
          </a:ln>
        </p:spPr>
      </p:sp>
      <p:sp>
        <p:nvSpPr>
          <p:cNvPr id="9" name="Text 7"/>
          <p:cNvSpPr txBox="1"/>
          <p:nvPr/>
        </p:nvSpPr>
        <p:spPr>
          <a:xfrm>
            <a:off x="822960" y="3364992"/>
            <a:ext cx="9601200" cy="502920"/>
          </a:xfrm>
          <a:prstGeom prst="rect">
            <a:avLst/>
          </a:prstGeom>
          <a:noFill/>
          <a:ln/>
        </p:spPr>
        <p:txBody>
          <a:bodyPr wrap="square" lIns="0" tIns="0" rIns="0" bIns="0" rtlCol="0" anchor="ctr"/>
          <a:lstStyle/>
          <a:p>
            <a:pPr indent="0" marL="0">
              <a:buNone/>
            </a:pPr>
            <a:r>
              <a:rPr lang="en-US" sz="1900" dirty="0">
                <a:solidFill>
                  <a:srgbClr val="34433B"/>
                </a:solidFill>
                <a:latin typeface="Calibri" pitchFamily="34" charset="0"/>
                <a:ea typeface="Calibri" pitchFamily="34" charset="-122"/>
                <a:cs typeface="Calibri" pitchFamily="34" charset="-120"/>
              </a:rPr>
              <a:t>Civic Complaint &amp; Governance Portal</a:t>
            </a:r>
            <a:endParaRPr lang="en-US" sz="1900" dirty="0"/>
          </a:p>
        </p:txBody>
      </p:sp>
      <p:sp>
        <p:nvSpPr>
          <p:cNvPr id="10" name="Shape 8"/>
          <p:cNvSpPr/>
          <p:nvPr/>
        </p:nvSpPr>
        <p:spPr>
          <a:xfrm>
            <a:off x="822960" y="4114800"/>
            <a:ext cx="10543032" cy="1874520"/>
          </a:xfrm>
          <a:prstGeom prst="roundRect">
            <a:avLst>
              <a:gd name="adj" fmla="val 4390"/>
            </a:avLst>
          </a:prstGeom>
          <a:solidFill>
            <a:srgbClr val="F2F8F4"/>
          </a:solidFill>
          <a:ln w="12700">
            <a:solidFill>
              <a:srgbClr val="D3E6DA"/>
            </a:solidFill>
            <a:prstDash val="solid"/>
          </a:ln>
          <a:effectLst>
            <a:outerShdw sx="100000" sy="100000" kx="0" ky="0" algn="bl" rotWithShape="0" blurRad="101600" dist="25400" dir="5400000">
              <a:srgbClr val="9CB3A4">
                <a:alpha val="28000"/>
              </a:srgbClr>
            </a:outerShdw>
          </a:effectLst>
        </p:spPr>
      </p:sp>
      <p:sp>
        <p:nvSpPr>
          <p:cNvPr id="11" name="Shape 9"/>
          <p:cNvSpPr/>
          <p:nvPr/>
        </p:nvSpPr>
        <p:spPr>
          <a:xfrm>
            <a:off x="4572000" y="4370832"/>
            <a:ext cx="0" cy="1371600"/>
          </a:xfrm>
          <a:prstGeom prst="line">
            <a:avLst/>
          </a:prstGeom>
          <a:noFill/>
          <a:ln w="12700">
            <a:solidFill>
              <a:srgbClr val="D3E6DA"/>
            </a:solidFill>
            <a:prstDash val="solid"/>
          </a:ln>
        </p:spPr>
      </p:sp>
      <p:sp>
        <p:nvSpPr>
          <p:cNvPr id="12" name="Shape 10"/>
          <p:cNvSpPr/>
          <p:nvPr/>
        </p:nvSpPr>
        <p:spPr>
          <a:xfrm>
            <a:off x="7955280" y="4370832"/>
            <a:ext cx="0" cy="1371600"/>
          </a:xfrm>
          <a:prstGeom prst="line">
            <a:avLst/>
          </a:prstGeom>
          <a:noFill/>
          <a:ln w="12700">
            <a:solidFill>
              <a:srgbClr val="D3E6DA"/>
            </a:solidFill>
            <a:prstDash val="solid"/>
          </a:ln>
        </p:spPr>
      </p:sp>
      <p:sp>
        <p:nvSpPr>
          <p:cNvPr id="13" name="Text 11"/>
          <p:cNvSpPr txBox="1"/>
          <p:nvPr/>
        </p:nvSpPr>
        <p:spPr>
          <a:xfrm>
            <a:off x="1051560" y="4315968"/>
            <a:ext cx="3108960" cy="274320"/>
          </a:xfrm>
          <a:prstGeom prst="rect">
            <a:avLst/>
          </a:prstGeom>
          <a:noFill/>
          <a:ln/>
        </p:spPr>
        <p:txBody>
          <a:bodyPr wrap="square" lIns="0" tIns="0" rIns="0" bIns="0" rtlCol="0" anchor="ctr"/>
          <a:lstStyle/>
          <a:p>
            <a:pPr indent="0" marL="0">
              <a:buNone/>
            </a:pPr>
            <a:r>
              <a:rPr lang="en-US" sz="1050" b="1" spc="150" kern="0" dirty="0">
                <a:solidFill>
                  <a:srgbClr val="168A46"/>
                </a:solidFill>
                <a:latin typeface="Calibri" pitchFamily="34" charset="0"/>
                <a:ea typeface="Calibri" pitchFamily="34" charset="-122"/>
                <a:cs typeface="Calibri" pitchFamily="34" charset="-120"/>
              </a:rPr>
              <a:t>TEAM MEMBERS</a:t>
            </a:r>
            <a:endParaRPr lang="en-US" sz="1050" dirty="0"/>
          </a:p>
        </p:txBody>
      </p:sp>
      <p:sp>
        <p:nvSpPr>
          <p:cNvPr id="14" name="Text 12"/>
          <p:cNvSpPr txBox="1"/>
          <p:nvPr/>
        </p:nvSpPr>
        <p:spPr>
          <a:xfrm>
            <a:off x="1051560" y="4626864"/>
            <a:ext cx="3383280" cy="1234440"/>
          </a:xfrm>
          <a:prstGeom prst="rect">
            <a:avLst/>
          </a:prstGeom>
          <a:noFill/>
          <a:ln/>
        </p:spPr>
        <p:txBody>
          <a:bodyPr wrap="square" lIns="0" tIns="0" rIns="0" bIns="0" rtlCol="0" anchor="ctr"/>
          <a:lstStyle/>
          <a:p>
            <a:pPr indent="0" marL="0">
              <a:lnSpc>
                <a:spcPct val="130000"/>
              </a:lnSpc>
              <a:buNone/>
            </a:pPr>
            <a:r>
              <a:rPr lang="en-US" sz="1300" dirty="0">
                <a:solidFill>
                  <a:srgbClr val="142018"/>
                </a:solidFill>
                <a:latin typeface="Calibri" pitchFamily="34" charset="0"/>
                <a:ea typeface="Calibri" pitchFamily="34" charset="-122"/>
                <a:cs typeface="Calibri" pitchFamily="34" charset="-120"/>
              </a:rPr>
              <a:t>Manasa M N</a:t>
            </a:r>
            <a:endParaRPr lang="en-US" sz="1300" dirty="0"/>
          </a:p>
          <a:p>
            <a:pPr indent="0" marL="0">
              <a:lnSpc>
                <a:spcPct val="130000"/>
              </a:lnSpc>
              <a:buNone/>
            </a:pPr>
            <a:r>
              <a:rPr lang="en-US" sz="1300" dirty="0">
                <a:solidFill>
                  <a:srgbClr val="142018"/>
                </a:solidFill>
                <a:latin typeface="Calibri" pitchFamily="34" charset="0"/>
                <a:ea typeface="Calibri" pitchFamily="34" charset="-122"/>
                <a:cs typeface="Calibri" pitchFamily="34" charset="-120"/>
              </a:rPr>
              <a:t>Prerana L</a:t>
            </a:r>
            <a:endParaRPr lang="en-US" sz="1300" dirty="0"/>
          </a:p>
          <a:p>
            <a:pPr indent="0" marL="0">
              <a:lnSpc>
                <a:spcPct val="130000"/>
              </a:lnSpc>
              <a:buNone/>
            </a:pPr>
            <a:r>
              <a:rPr lang="en-US" sz="1300" dirty="0">
                <a:solidFill>
                  <a:srgbClr val="142018"/>
                </a:solidFill>
                <a:latin typeface="Calibri" pitchFamily="34" charset="0"/>
                <a:ea typeface="Calibri" pitchFamily="34" charset="-122"/>
                <a:cs typeface="Calibri" pitchFamily="34" charset="-120"/>
              </a:rPr>
              <a:t>Sahana M Singad</a:t>
            </a:r>
            <a:endParaRPr lang="en-US" sz="1300" dirty="0"/>
          </a:p>
          <a:p>
            <a:pPr indent="0" marL="0">
              <a:lnSpc>
                <a:spcPct val="130000"/>
              </a:lnSpc>
              <a:buNone/>
            </a:pPr>
            <a:r>
              <a:rPr lang="en-US" sz="1300" dirty="0">
                <a:solidFill>
                  <a:srgbClr val="142018"/>
                </a:solidFill>
                <a:latin typeface="Calibri" pitchFamily="34" charset="0"/>
                <a:ea typeface="Calibri" pitchFamily="34" charset="-122"/>
                <a:cs typeface="Calibri" pitchFamily="34" charset="-120"/>
              </a:rPr>
              <a:t>Sinchana</a:t>
            </a:r>
            <a:endParaRPr lang="en-US" sz="1300" dirty="0"/>
          </a:p>
        </p:txBody>
      </p:sp>
      <p:sp>
        <p:nvSpPr>
          <p:cNvPr id="15" name="Text 13"/>
          <p:cNvSpPr txBox="1"/>
          <p:nvPr/>
        </p:nvSpPr>
        <p:spPr>
          <a:xfrm>
            <a:off x="4800600" y="4315968"/>
            <a:ext cx="2743200" cy="274320"/>
          </a:xfrm>
          <a:prstGeom prst="rect">
            <a:avLst/>
          </a:prstGeom>
          <a:noFill/>
          <a:ln/>
        </p:spPr>
        <p:txBody>
          <a:bodyPr wrap="square" lIns="0" tIns="0" rIns="0" bIns="0" rtlCol="0" anchor="ctr"/>
          <a:lstStyle/>
          <a:p>
            <a:pPr indent="0" marL="0">
              <a:buNone/>
            </a:pPr>
            <a:r>
              <a:rPr lang="en-US" sz="1050" b="1" spc="150" kern="0" dirty="0">
                <a:solidFill>
                  <a:srgbClr val="168A46"/>
                </a:solidFill>
                <a:latin typeface="Calibri" pitchFamily="34" charset="0"/>
                <a:ea typeface="Calibri" pitchFamily="34" charset="-122"/>
                <a:cs typeface="Calibri" pitchFamily="34" charset="-120"/>
              </a:rPr>
              <a:t>COLLEGE</a:t>
            </a:r>
            <a:endParaRPr lang="en-US" sz="1050" dirty="0"/>
          </a:p>
        </p:txBody>
      </p:sp>
      <p:sp>
        <p:nvSpPr>
          <p:cNvPr id="16" name="Text 14"/>
          <p:cNvSpPr txBox="1"/>
          <p:nvPr/>
        </p:nvSpPr>
        <p:spPr>
          <a:xfrm>
            <a:off x="4800600" y="4626864"/>
            <a:ext cx="3017520" cy="822960"/>
          </a:xfrm>
          <a:prstGeom prst="rect">
            <a:avLst/>
          </a:prstGeom>
          <a:noFill/>
          <a:ln/>
        </p:spPr>
        <p:txBody>
          <a:bodyPr wrap="square" lIns="0" tIns="0" rIns="0" bIns="0" rtlCol="0" anchor="ctr"/>
          <a:lstStyle/>
          <a:p>
            <a:pPr indent="0" marL="0">
              <a:lnSpc>
                <a:spcPct val="130000"/>
              </a:lnSpc>
              <a:buNone/>
            </a:pPr>
            <a:r>
              <a:rPr lang="en-US" sz="1300" dirty="0">
                <a:solidFill>
                  <a:srgbClr val="142018"/>
                </a:solidFill>
                <a:latin typeface="Calibri" pitchFamily="34" charset="0"/>
                <a:ea typeface="Calibri" pitchFamily="34" charset="-122"/>
                <a:cs typeface="Calibri" pitchFamily="34" charset="-120"/>
              </a:rPr>
              <a:t>GSSSIETW</a:t>
            </a:r>
            <a:endParaRPr lang="en-US" sz="1300" dirty="0"/>
          </a:p>
          <a:p>
            <a:pPr indent="0" marL="0">
              <a:lnSpc>
                <a:spcPct val="130000"/>
              </a:lnSpc>
              <a:buNone/>
            </a:pPr>
            <a:r>
              <a:rPr lang="en-US" sz="1300" dirty="0">
                <a:solidFill>
                  <a:srgbClr val="142018"/>
                </a:solidFill>
                <a:latin typeface="Calibri" pitchFamily="34" charset="0"/>
                <a:ea typeface="Calibri" pitchFamily="34" charset="-122"/>
                <a:cs typeface="Calibri" pitchFamily="34" charset="-120"/>
              </a:rPr>
              <a:t>Dept. of CSE (AIML)</a:t>
            </a:r>
            <a:endParaRPr lang="en-US" sz="1300" dirty="0"/>
          </a:p>
        </p:txBody>
      </p:sp>
      <p:sp>
        <p:nvSpPr>
          <p:cNvPr id="17" name="Text 15"/>
          <p:cNvSpPr txBox="1"/>
          <p:nvPr/>
        </p:nvSpPr>
        <p:spPr>
          <a:xfrm>
            <a:off x="8183880" y="4315968"/>
            <a:ext cx="2743200" cy="274320"/>
          </a:xfrm>
          <a:prstGeom prst="rect">
            <a:avLst/>
          </a:prstGeom>
          <a:noFill/>
          <a:ln/>
        </p:spPr>
        <p:txBody>
          <a:bodyPr wrap="square" lIns="0" tIns="0" rIns="0" bIns="0" rtlCol="0" anchor="ctr"/>
          <a:lstStyle/>
          <a:p>
            <a:pPr indent="0" marL="0">
              <a:buNone/>
            </a:pPr>
            <a:r>
              <a:rPr lang="en-US" sz="1050" b="1" spc="150" kern="0" dirty="0">
                <a:solidFill>
                  <a:srgbClr val="168A46"/>
                </a:solidFill>
                <a:latin typeface="Calibri" pitchFamily="34" charset="0"/>
                <a:ea typeface="Calibri" pitchFamily="34" charset="-122"/>
                <a:cs typeface="Calibri" pitchFamily="34" charset="-120"/>
              </a:rPr>
              <a:t>HACKATHON</a:t>
            </a:r>
            <a:endParaRPr lang="en-US" sz="1050" dirty="0"/>
          </a:p>
        </p:txBody>
      </p:sp>
      <p:sp>
        <p:nvSpPr>
          <p:cNvPr id="18" name="Text 16"/>
          <p:cNvSpPr txBox="1"/>
          <p:nvPr/>
        </p:nvSpPr>
        <p:spPr>
          <a:xfrm>
            <a:off x="8183880" y="4626864"/>
            <a:ext cx="3017520" cy="822960"/>
          </a:xfrm>
          <a:prstGeom prst="rect">
            <a:avLst/>
          </a:prstGeom>
          <a:noFill/>
          <a:ln/>
        </p:spPr>
        <p:txBody>
          <a:bodyPr wrap="square" lIns="0" tIns="0" rIns="0" bIns="0" rtlCol="0" anchor="ctr"/>
          <a:lstStyle/>
          <a:p>
            <a:pPr indent="0" marL="0">
              <a:lnSpc>
                <a:spcPct val="130000"/>
              </a:lnSpc>
              <a:buNone/>
            </a:pPr>
            <a:r>
              <a:rPr lang="en-US" sz="1300" dirty="0">
                <a:solidFill>
                  <a:srgbClr val="142018"/>
                </a:solidFill>
                <a:latin typeface="Calibri" pitchFamily="34" charset="0"/>
                <a:ea typeface="Calibri" pitchFamily="34" charset="-122"/>
                <a:cs typeface="Calibri" pitchFamily="34" charset="-120"/>
              </a:rPr>
              <a:t>Hack Mysuru 1.0</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9966960" y="-2011680"/>
            <a:ext cx="4937760" cy="4937760"/>
          </a:xfrm>
          <a:prstGeom prst="ellipse">
            <a:avLst/>
          </a:prstGeom>
          <a:solidFill>
            <a:srgbClr val="F2F8F4">
              <a:alpha val="75000"/>
            </a:srgbClr>
          </a:solidFill>
          <a:ln/>
        </p:spPr>
      </p:sp>
      <p:sp>
        <p:nvSpPr>
          <p:cNvPr id="3" name="Text 1"/>
          <p:cNvSpPr txBox="1"/>
          <p:nvPr/>
        </p:nvSpPr>
        <p:spPr>
          <a:xfrm>
            <a:off x="548640" y="384048"/>
            <a:ext cx="9601200" cy="320040"/>
          </a:xfrm>
          <a:prstGeom prst="rect">
            <a:avLst/>
          </a:prstGeom>
          <a:noFill/>
          <a:ln/>
        </p:spPr>
        <p:txBody>
          <a:bodyPr wrap="square" lIns="0" tIns="0" rIns="0" bIns="0" rtlCol="0" anchor="ctr"/>
          <a:lstStyle/>
          <a:p>
            <a:pPr indent="0" marL="0">
              <a:buNone/>
            </a:pPr>
            <a:r>
              <a:rPr lang="en-US" sz="1250" b="1" spc="250" kern="0" dirty="0">
                <a:solidFill>
                  <a:srgbClr val="168A46"/>
                </a:solidFill>
                <a:latin typeface="Calibri" pitchFamily="34" charset="0"/>
                <a:ea typeface="Calibri" pitchFamily="34" charset="-122"/>
                <a:cs typeface="Calibri" pitchFamily="34" charset="-120"/>
              </a:rPr>
              <a:t>PROBLEM STATEMENT</a:t>
            </a:r>
            <a:endParaRPr lang="en-US" sz="1250" dirty="0"/>
          </a:p>
        </p:txBody>
      </p:sp>
      <p:sp>
        <p:nvSpPr>
          <p:cNvPr id="4" name="Text 2"/>
          <p:cNvSpPr txBox="1"/>
          <p:nvPr/>
        </p:nvSpPr>
        <p:spPr>
          <a:xfrm>
            <a:off x="548640" y="658368"/>
            <a:ext cx="9875520" cy="685800"/>
          </a:xfrm>
          <a:prstGeom prst="rect">
            <a:avLst/>
          </a:prstGeom>
          <a:noFill/>
          <a:ln/>
        </p:spPr>
        <p:txBody>
          <a:bodyPr wrap="square" lIns="0" tIns="0" rIns="0" bIns="0" rtlCol="0" anchor="ctr"/>
          <a:lstStyle/>
          <a:p>
            <a:pPr indent="0" marL="0">
              <a:buNone/>
            </a:pPr>
            <a:r>
              <a:rPr lang="en-US" sz="2500" b="1" dirty="0">
                <a:solidFill>
                  <a:srgbClr val="142018"/>
                </a:solidFill>
                <a:latin typeface="Calibri" pitchFamily="34" charset="0"/>
                <a:ea typeface="Calibri" pitchFamily="34" charset="-122"/>
                <a:cs typeface="Calibri" pitchFamily="34" charset="-120"/>
              </a:rPr>
              <a:t>Domain: Civic Governance &amp; Clean Mysuru</a:t>
            </a:r>
            <a:endParaRPr lang="en-US" sz="2500" dirty="0"/>
          </a:p>
        </p:txBody>
      </p:sp>
      <p:sp>
        <p:nvSpPr>
          <p:cNvPr id="5" name="Text 3"/>
          <p:cNvSpPr txBox="1"/>
          <p:nvPr/>
        </p:nvSpPr>
        <p:spPr>
          <a:xfrm>
            <a:off x="548640" y="1417320"/>
            <a:ext cx="6537960" cy="320040"/>
          </a:xfrm>
          <a:prstGeom prst="rect">
            <a:avLst/>
          </a:prstGeom>
          <a:noFill/>
          <a:ln/>
        </p:spPr>
        <p:txBody>
          <a:bodyPr wrap="square" lIns="0" tIns="0" rIns="0" bIns="0" rtlCol="0" anchor="ctr"/>
          <a:lstStyle/>
          <a:p>
            <a:pPr indent="0" marL="0">
              <a:buNone/>
            </a:pPr>
            <a:r>
              <a:rPr lang="en-US" sz="1400" b="1" dirty="0">
                <a:solidFill>
                  <a:srgbClr val="0F6334"/>
                </a:solidFill>
                <a:latin typeface="Calibri" pitchFamily="34" charset="0"/>
                <a:ea typeface="Calibri" pitchFamily="34" charset="-122"/>
                <a:cs typeface="Calibri" pitchFamily="34" charset="-120"/>
              </a:rPr>
              <a:t>The Situation</a:t>
            </a:r>
            <a:endParaRPr lang="en-US" sz="1400" dirty="0"/>
          </a:p>
        </p:txBody>
      </p:sp>
      <p:sp>
        <p:nvSpPr>
          <p:cNvPr id="6" name="Shape 4"/>
          <p:cNvSpPr/>
          <p:nvPr/>
        </p:nvSpPr>
        <p:spPr>
          <a:xfrm>
            <a:off x="548640" y="1865376"/>
            <a:ext cx="82296" cy="82296"/>
          </a:xfrm>
          <a:prstGeom prst="roundRect">
            <a:avLst>
              <a:gd name="adj" fmla="val 50000"/>
            </a:avLst>
          </a:prstGeom>
          <a:solidFill>
            <a:srgbClr val="168A46"/>
          </a:solidFill>
          <a:ln/>
        </p:spPr>
      </p:sp>
      <p:sp>
        <p:nvSpPr>
          <p:cNvPr id="7" name="Text 5"/>
          <p:cNvSpPr txBox="1"/>
          <p:nvPr/>
        </p:nvSpPr>
        <p:spPr>
          <a:xfrm>
            <a:off x="822960" y="1755648"/>
            <a:ext cx="6263640" cy="1051560"/>
          </a:xfrm>
          <a:prstGeom prst="rect">
            <a:avLst/>
          </a:prstGeom>
          <a:noFill/>
          <a:ln/>
        </p:spPr>
        <p:txBody>
          <a:bodyPr wrap="square" lIns="0" tIns="0" rIns="0" bIns="0" rtlCol="0" anchor="ctr"/>
          <a:lstStyle/>
          <a:p>
            <a:pPr indent="0" marL="0">
              <a:lnSpc>
                <a:spcPct val="114000"/>
              </a:lnSpc>
              <a:buNone/>
            </a:pPr>
            <a:r>
              <a:rPr lang="en-US" sz="1180" dirty="0">
                <a:solidFill>
                  <a:srgbClr val="34433B"/>
                </a:solidFill>
                <a:latin typeface="Calibri" pitchFamily="34" charset="0"/>
                <a:ea typeface="Calibri" pitchFamily="34" charset="-122"/>
                <a:cs typeface="Calibri" pitchFamily="34" charset="-120"/>
              </a:rPr>
              <a:t>Mysuru generates around 550 to 600 tonnes of garbage every single day. There is a backlog of nearly 7 lakh tonnes of old, untreated waste. The city also produces over 150 tonnes of construction and demolition waste every day, and much of it is illegally dumped at night because it is hard to catch or identify who is doing it.</a:t>
            </a:r>
            <a:endParaRPr lang="en-US" sz="1180" dirty="0"/>
          </a:p>
        </p:txBody>
      </p:sp>
      <p:sp>
        <p:nvSpPr>
          <p:cNvPr id="8" name="Shape 6"/>
          <p:cNvSpPr/>
          <p:nvPr/>
        </p:nvSpPr>
        <p:spPr>
          <a:xfrm>
            <a:off x="548640" y="3035808"/>
            <a:ext cx="82296" cy="82296"/>
          </a:xfrm>
          <a:prstGeom prst="roundRect">
            <a:avLst>
              <a:gd name="adj" fmla="val 50000"/>
            </a:avLst>
          </a:prstGeom>
          <a:solidFill>
            <a:srgbClr val="168A46"/>
          </a:solidFill>
          <a:ln/>
        </p:spPr>
      </p:sp>
      <p:sp>
        <p:nvSpPr>
          <p:cNvPr id="9" name="Text 7"/>
          <p:cNvSpPr txBox="1"/>
          <p:nvPr/>
        </p:nvSpPr>
        <p:spPr>
          <a:xfrm>
            <a:off x="822960" y="2926080"/>
            <a:ext cx="6263640" cy="1051560"/>
          </a:xfrm>
          <a:prstGeom prst="rect">
            <a:avLst/>
          </a:prstGeom>
          <a:noFill/>
          <a:ln/>
        </p:spPr>
        <p:txBody>
          <a:bodyPr wrap="square" lIns="0" tIns="0" rIns="0" bIns="0" rtlCol="0" anchor="ctr"/>
          <a:lstStyle/>
          <a:p>
            <a:pPr indent="0" marL="0">
              <a:lnSpc>
                <a:spcPct val="114000"/>
              </a:lnSpc>
              <a:buNone/>
            </a:pPr>
            <a:r>
              <a:rPr lang="en-US" sz="1180" dirty="0">
                <a:solidFill>
                  <a:srgbClr val="34433B"/>
                </a:solidFill>
                <a:latin typeface="Calibri" pitchFamily="34" charset="0"/>
                <a:ea typeface="Calibri" pitchFamily="34" charset="-122"/>
                <a:cs typeface="Calibri" pitchFamily="34" charset="-120"/>
              </a:rPr>
              <a:t>Mysuru City Corporation is officially expanding — absorbing one City Municipal Council, four Town Panchayats and eight Gram Panchayats into one bigger body. Even the government is still sorting out who is responsible for what, and there have already been public disagreements between local leaders about which villages should come under which authority.</a:t>
            </a:r>
            <a:endParaRPr lang="en-US" sz="1180" dirty="0"/>
          </a:p>
        </p:txBody>
      </p:sp>
      <p:sp>
        <p:nvSpPr>
          <p:cNvPr id="10" name="Shape 8"/>
          <p:cNvSpPr/>
          <p:nvPr/>
        </p:nvSpPr>
        <p:spPr>
          <a:xfrm>
            <a:off x="548640" y="4206240"/>
            <a:ext cx="82296" cy="82296"/>
          </a:xfrm>
          <a:prstGeom prst="roundRect">
            <a:avLst>
              <a:gd name="adj" fmla="val 50000"/>
            </a:avLst>
          </a:prstGeom>
          <a:solidFill>
            <a:srgbClr val="168A46"/>
          </a:solidFill>
          <a:ln/>
        </p:spPr>
      </p:sp>
      <p:sp>
        <p:nvSpPr>
          <p:cNvPr id="11" name="Text 9"/>
          <p:cNvSpPr txBox="1"/>
          <p:nvPr/>
        </p:nvSpPr>
        <p:spPr>
          <a:xfrm>
            <a:off x="822960" y="4096512"/>
            <a:ext cx="6263640" cy="1051560"/>
          </a:xfrm>
          <a:prstGeom prst="rect">
            <a:avLst/>
          </a:prstGeom>
          <a:noFill/>
          <a:ln/>
        </p:spPr>
        <p:txBody>
          <a:bodyPr wrap="square" lIns="0" tIns="0" rIns="0" bIns="0" rtlCol="0" anchor="ctr"/>
          <a:lstStyle/>
          <a:p>
            <a:pPr indent="0" marL="0">
              <a:lnSpc>
                <a:spcPct val="114000"/>
              </a:lnSpc>
              <a:buNone/>
            </a:pPr>
            <a:r>
              <a:rPr lang="en-US" sz="1180" dirty="0">
                <a:solidFill>
                  <a:srgbClr val="34433B"/>
                </a:solidFill>
                <a:latin typeface="Calibri" pitchFamily="34" charset="0"/>
                <a:ea typeface="Calibri" pitchFamily="34" charset="-122"/>
                <a:cs typeface="Calibri" pitchFamily="34" charset="-120"/>
              </a:rPr>
              <a:t>Because of this, when a citizen reports a problem — a pothole, an overflowing bin, a broken streetlight — it can bounce between offices, or disappear with no update, while residents wonder if anyone is even looking at what they reported.</a:t>
            </a:r>
            <a:endParaRPr lang="en-US" sz="1180" dirty="0"/>
          </a:p>
        </p:txBody>
      </p:sp>
      <p:sp>
        <p:nvSpPr>
          <p:cNvPr id="12" name="Shape 10"/>
          <p:cNvSpPr/>
          <p:nvPr/>
        </p:nvSpPr>
        <p:spPr>
          <a:xfrm>
            <a:off x="548640" y="5340096"/>
            <a:ext cx="6537960" cy="548640"/>
          </a:xfrm>
          <a:prstGeom prst="roundRect">
            <a:avLst>
              <a:gd name="adj" fmla="val 15000"/>
            </a:avLst>
          </a:prstGeom>
          <a:solidFill>
            <a:srgbClr val="E6F3EA"/>
          </a:solidFill>
          <a:ln w="12700">
            <a:solidFill>
              <a:srgbClr val="168A46"/>
            </a:solidFill>
            <a:prstDash val="solid"/>
          </a:ln>
          <a:effectLst>
            <a:outerShdw sx="100000" sy="100000" kx="0" ky="0" algn="bl" rotWithShape="0" blurRad="101600" dist="25400" dir="5400000">
              <a:srgbClr val="9CB3A4">
                <a:alpha val="28000"/>
              </a:srgbClr>
            </a:outerShdw>
          </a:effectLst>
        </p:spPr>
      </p:sp>
      <p:sp>
        <p:nvSpPr>
          <p:cNvPr id="13" name="Text 11"/>
          <p:cNvSpPr txBox="1"/>
          <p:nvPr/>
        </p:nvSpPr>
        <p:spPr>
          <a:xfrm>
            <a:off x="731520" y="5340096"/>
            <a:ext cx="6172200" cy="548640"/>
          </a:xfrm>
          <a:prstGeom prst="rect">
            <a:avLst/>
          </a:prstGeom>
          <a:noFill/>
          <a:ln/>
        </p:spPr>
        <p:txBody>
          <a:bodyPr wrap="square" lIns="0" tIns="0" rIns="0" bIns="0" rtlCol="0" anchor="ctr"/>
          <a:lstStyle/>
          <a:p>
            <a:pPr algn="ctr" indent="0" marL="0">
              <a:buNone/>
            </a:pPr>
            <a:r>
              <a:rPr lang="en-US" sz="1300" b="1" i="1" dirty="0">
                <a:solidFill>
                  <a:srgbClr val="0F6334"/>
                </a:solidFill>
                <a:latin typeface="Calibri" pitchFamily="34" charset="0"/>
                <a:ea typeface="Calibri" pitchFamily="34" charset="-122"/>
                <a:cs typeface="Calibri" pitchFamily="34" charset="-120"/>
              </a:rPr>
              <a:t>“Right complaint + wrong authority = delayed action.”</a:t>
            </a:r>
            <a:endParaRPr lang="en-US" sz="1300" dirty="0"/>
          </a:p>
        </p:txBody>
      </p:sp>
      <p:sp>
        <p:nvSpPr>
          <p:cNvPr id="14" name="Shape 12"/>
          <p:cNvSpPr/>
          <p:nvPr/>
        </p:nvSpPr>
        <p:spPr>
          <a:xfrm>
            <a:off x="7296912" y="1417320"/>
            <a:ext cx="4343400" cy="4617720"/>
          </a:xfrm>
          <a:prstGeom prst="roundRect">
            <a:avLst>
              <a:gd name="adj" fmla="val 1895"/>
            </a:avLst>
          </a:prstGeom>
          <a:solidFill>
            <a:srgbClr val="F2F8F4"/>
          </a:solidFill>
          <a:ln w="12700">
            <a:solidFill>
              <a:srgbClr val="D3E6DA"/>
            </a:solidFill>
            <a:prstDash val="solid"/>
          </a:ln>
          <a:effectLst>
            <a:outerShdw sx="100000" sy="100000" kx="0" ky="0" algn="bl" rotWithShape="0" blurRad="101600" dist="25400" dir="5400000">
              <a:srgbClr val="9CB3A4">
                <a:alpha val="28000"/>
              </a:srgbClr>
            </a:outerShdw>
          </a:effectLst>
        </p:spPr>
      </p:sp>
      <p:sp>
        <p:nvSpPr>
          <p:cNvPr id="15" name="Text 13"/>
          <p:cNvSpPr txBox="1"/>
          <p:nvPr/>
        </p:nvSpPr>
        <p:spPr>
          <a:xfrm>
            <a:off x="7571232" y="1600200"/>
            <a:ext cx="3794760" cy="320040"/>
          </a:xfrm>
          <a:prstGeom prst="rect">
            <a:avLst/>
          </a:prstGeom>
          <a:noFill/>
          <a:ln/>
        </p:spPr>
        <p:txBody>
          <a:bodyPr wrap="square" lIns="0" tIns="0" rIns="0" bIns="0" rtlCol="0" anchor="ctr"/>
          <a:lstStyle/>
          <a:p>
            <a:pPr indent="0" marL="0">
              <a:buNone/>
            </a:pPr>
            <a:r>
              <a:rPr lang="en-US" sz="1400" b="1" dirty="0">
                <a:solidFill>
                  <a:srgbClr val="0F6334"/>
                </a:solidFill>
                <a:latin typeface="Calibri" pitchFamily="34" charset="0"/>
                <a:ea typeface="Calibri" pitchFamily="34" charset="-122"/>
                <a:cs typeface="Calibri" pitchFamily="34" charset="-120"/>
              </a:rPr>
              <a:t>Why is it important?</a:t>
            </a:r>
            <a:endParaRPr lang="en-US" sz="1400" dirty="0"/>
          </a:p>
        </p:txBody>
      </p:sp>
      <p:sp>
        <p:nvSpPr>
          <p:cNvPr id="16" name="Text 14"/>
          <p:cNvSpPr txBox="1"/>
          <p:nvPr/>
        </p:nvSpPr>
        <p:spPr>
          <a:xfrm>
            <a:off x="7571232" y="1947672"/>
            <a:ext cx="3794760" cy="658368"/>
          </a:xfrm>
          <a:prstGeom prst="rect">
            <a:avLst/>
          </a:prstGeom>
          <a:noFill/>
          <a:ln/>
        </p:spPr>
        <p:txBody>
          <a:bodyPr wrap="square" lIns="0" tIns="0" rIns="0" bIns="0" rtlCol="0" anchor="ctr"/>
          <a:lstStyle/>
          <a:p>
            <a:pPr indent="0" marL="0">
              <a:lnSpc>
                <a:spcPct val="115000"/>
              </a:lnSpc>
              <a:buNone/>
            </a:pPr>
            <a:r>
              <a:rPr lang="en-US" sz="1180" dirty="0">
                <a:solidFill>
                  <a:srgbClr val="34433B"/>
                </a:solidFill>
                <a:latin typeface="Calibri" pitchFamily="34" charset="0"/>
                <a:ea typeface="Calibri" pitchFamily="34" charset="-122"/>
                <a:cs typeface="Calibri" pitchFamily="34" charset="-120"/>
              </a:rPr>
              <a:t>Because a complaint is useful only when it reaches the right authority. Incorrect or unclear routing can lead to:</a:t>
            </a:r>
            <a:endParaRPr lang="en-US" sz="1180" dirty="0"/>
          </a:p>
        </p:txBody>
      </p:sp>
      <p:sp>
        <p:nvSpPr>
          <p:cNvPr id="17" name="Shape 15"/>
          <p:cNvSpPr/>
          <p:nvPr/>
        </p:nvSpPr>
        <p:spPr>
          <a:xfrm>
            <a:off x="7589520" y="2770632"/>
            <a:ext cx="118872" cy="118872"/>
          </a:xfrm>
          <a:prstGeom prst="ellipse">
            <a:avLst/>
          </a:prstGeom>
          <a:solidFill>
            <a:srgbClr val="E8960C"/>
          </a:solidFill>
          <a:ln/>
        </p:spPr>
      </p:sp>
      <p:sp>
        <p:nvSpPr>
          <p:cNvPr id="18" name="Text 16"/>
          <p:cNvSpPr txBox="1"/>
          <p:nvPr/>
        </p:nvSpPr>
        <p:spPr>
          <a:xfrm>
            <a:off x="7818120" y="2660904"/>
            <a:ext cx="3538728" cy="457200"/>
          </a:xfrm>
          <a:prstGeom prst="rect">
            <a:avLst/>
          </a:prstGeom>
          <a:noFill/>
          <a:ln/>
        </p:spPr>
        <p:txBody>
          <a:bodyPr wrap="square" lIns="0" tIns="0" rIns="0" bIns="0" rtlCol="0" anchor="ctr"/>
          <a:lstStyle/>
          <a:p>
            <a:pPr indent="0" marL="0">
              <a:lnSpc>
                <a:spcPct val="105000"/>
              </a:lnSpc>
              <a:buNone/>
            </a:pPr>
            <a:r>
              <a:rPr lang="en-US" sz="1150" dirty="0">
                <a:solidFill>
                  <a:srgbClr val="34433B"/>
                </a:solidFill>
                <a:latin typeface="Calibri" pitchFamily="34" charset="0"/>
                <a:ea typeface="Calibri" pitchFamily="34" charset="-122"/>
                <a:cs typeface="Calibri" pitchFamily="34" charset="-120"/>
              </a:rPr>
              <a:t>Delays in taking action</a:t>
            </a:r>
            <a:endParaRPr lang="en-US" sz="1150" dirty="0"/>
          </a:p>
        </p:txBody>
      </p:sp>
      <p:sp>
        <p:nvSpPr>
          <p:cNvPr id="19" name="Shape 17"/>
          <p:cNvSpPr/>
          <p:nvPr/>
        </p:nvSpPr>
        <p:spPr>
          <a:xfrm>
            <a:off x="7589520" y="3227832"/>
            <a:ext cx="118872" cy="118872"/>
          </a:xfrm>
          <a:prstGeom prst="ellipse">
            <a:avLst/>
          </a:prstGeom>
          <a:solidFill>
            <a:srgbClr val="E8960C"/>
          </a:solidFill>
          <a:ln/>
        </p:spPr>
      </p:sp>
      <p:sp>
        <p:nvSpPr>
          <p:cNvPr id="20" name="Text 18"/>
          <p:cNvSpPr txBox="1"/>
          <p:nvPr/>
        </p:nvSpPr>
        <p:spPr>
          <a:xfrm>
            <a:off x="7818120" y="3118104"/>
            <a:ext cx="3538728" cy="457200"/>
          </a:xfrm>
          <a:prstGeom prst="rect">
            <a:avLst/>
          </a:prstGeom>
          <a:noFill/>
          <a:ln/>
        </p:spPr>
        <p:txBody>
          <a:bodyPr wrap="square" lIns="0" tIns="0" rIns="0" bIns="0" rtlCol="0" anchor="ctr"/>
          <a:lstStyle/>
          <a:p>
            <a:pPr indent="0" marL="0">
              <a:lnSpc>
                <a:spcPct val="105000"/>
              </a:lnSpc>
              <a:buNone/>
            </a:pPr>
            <a:r>
              <a:rPr lang="en-US" sz="1150" dirty="0">
                <a:solidFill>
                  <a:srgbClr val="34433B"/>
                </a:solidFill>
                <a:latin typeface="Calibri" pitchFamily="34" charset="0"/>
                <a:ea typeface="Calibri" pitchFamily="34" charset="-122"/>
                <a:cs typeface="Calibri" pitchFamily="34" charset="-120"/>
              </a:rPr>
              <a:t>Complaints being redirected between offices</a:t>
            </a:r>
            <a:endParaRPr lang="en-US" sz="1150" dirty="0"/>
          </a:p>
        </p:txBody>
      </p:sp>
      <p:sp>
        <p:nvSpPr>
          <p:cNvPr id="21" name="Shape 19"/>
          <p:cNvSpPr/>
          <p:nvPr/>
        </p:nvSpPr>
        <p:spPr>
          <a:xfrm>
            <a:off x="7589520" y="3685032"/>
            <a:ext cx="118872" cy="118872"/>
          </a:xfrm>
          <a:prstGeom prst="ellipse">
            <a:avLst/>
          </a:prstGeom>
          <a:solidFill>
            <a:srgbClr val="E8960C"/>
          </a:solidFill>
          <a:ln/>
        </p:spPr>
      </p:sp>
      <p:sp>
        <p:nvSpPr>
          <p:cNvPr id="22" name="Text 20"/>
          <p:cNvSpPr txBox="1"/>
          <p:nvPr/>
        </p:nvSpPr>
        <p:spPr>
          <a:xfrm>
            <a:off x="7818120" y="3575304"/>
            <a:ext cx="3538728" cy="457200"/>
          </a:xfrm>
          <a:prstGeom prst="rect">
            <a:avLst/>
          </a:prstGeom>
          <a:noFill/>
          <a:ln/>
        </p:spPr>
        <p:txBody>
          <a:bodyPr wrap="square" lIns="0" tIns="0" rIns="0" bIns="0" rtlCol="0" anchor="ctr"/>
          <a:lstStyle/>
          <a:p>
            <a:pPr indent="0" marL="0">
              <a:lnSpc>
                <a:spcPct val="105000"/>
              </a:lnSpc>
              <a:buNone/>
            </a:pPr>
            <a:r>
              <a:rPr lang="en-US" sz="1150" dirty="0">
                <a:solidFill>
                  <a:srgbClr val="34433B"/>
                </a:solidFill>
                <a:latin typeface="Calibri" pitchFamily="34" charset="0"/>
                <a:ea typeface="Calibri" pitchFamily="34" charset="-122"/>
                <a:cs typeface="Calibri" pitchFamily="34" charset="-120"/>
              </a:rPr>
              <a:t>Confusion for citizens</a:t>
            </a:r>
            <a:endParaRPr lang="en-US" sz="1150" dirty="0"/>
          </a:p>
        </p:txBody>
      </p:sp>
      <p:sp>
        <p:nvSpPr>
          <p:cNvPr id="23" name="Shape 21"/>
          <p:cNvSpPr/>
          <p:nvPr/>
        </p:nvSpPr>
        <p:spPr>
          <a:xfrm>
            <a:off x="7589520" y="4142232"/>
            <a:ext cx="118872" cy="118872"/>
          </a:xfrm>
          <a:prstGeom prst="ellipse">
            <a:avLst/>
          </a:prstGeom>
          <a:solidFill>
            <a:srgbClr val="E8960C"/>
          </a:solidFill>
          <a:ln/>
        </p:spPr>
      </p:sp>
      <p:sp>
        <p:nvSpPr>
          <p:cNvPr id="24" name="Text 22"/>
          <p:cNvSpPr txBox="1"/>
          <p:nvPr/>
        </p:nvSpPr>
        <p:spPr>
          <a:xfrm>
            <a:off x="7818120" y="4032504"/>
            <a:ext cx="3538728" cy="457200"/>
          </a:xfrm>
          <a:prstGeom prst="rect">
            <a:avLst/>
          </a:prstGeom>
          <a:noFill/>
          <a:ln/>
        </p:spPr>
        <p:txBody>
          <a:bodyPr wrap="square" lIns="0" tIns="0" rIns="0" bIns="0" rtlCol="0" anchor="ctr"/>
          <a:lstStyle/>
          <a:p>
            <a:pPr indent="0" marL="0">
              <a:lnSpc>
                <a:spcPct val="105000"/>
              </a:lnSpc>
              <a:buNone/>
            </a:pPr>
            <a:r>
              <a:rPr lang="en-US" sz="1150" dirty="0">
                <a:solidFill>
                  <a:srgbClr val="34433B"/>
                </a:solidFill>
                <a:latin typeface="Calibri" pitchFamily="34" charset="0"/>
                <a:ea typeface="Calibri" pitchFamily="34" charset="-122"/>
                <a:cs typeface="Calibri" pitchFamily="34" charset="-120"/>
              </a:rPr>
              <a:t>Difficulty for authorities in managing complaints</a:t>
            </a:r>
            <a:endParaRPr lang="en-US" sz="1150" dirty="0"/>
          </a:p>
        </p:txBody>
      </p:sp>
      <p:sp>
        <p:nvSpPr>
          <p:cNvPr id="25" name="Shape 23"/>
          <p:cNvSpPr/>
          <p:nvPr/>
        </p:nvSpPr>
        <p:spPr>
          <a:xfrm>
            <a:off x="7589520" y="4599432"/>
            <a:ext cx="118872" cy="118872"/>
          </a:xfrm>
          <a:prstGeom prst="ellipse">
            <a:avLst/>
          </a:prstGeom>
          <a:solidFill>
            <a:srgbClr val="E8960C"/>
          </a:solidFill>
          <a:ln/>
        </p:spPr>
      </p:sp>
      <p:sp>
        <p:nvSpPr>
          <p:cNvPr id="26" name="Text 24"/>
          <p:cNvSpPr txBox="1"/>
          <p:nvPr/>
        </p:nvSpPr>
        <p:spPr>
          <a:xfrm>
            <a:off x="7818120" y="4489704"/>
            <a:ext cx="3538728" cy="457200"/>
          </a:xfrm>
          <a:prstGeom prst="rect">
            <a:avLst/>
          </a:prstGeom>
          <a:noFill/>
          <a:ln/>
        </p:spPr>
        <p:txBody>
          <a:bodyPr wrap="square" lIns="0" tIns="0" rIns="0" bIns="0" rtlCol="0" anchor="ctr"/>
          <a:lstStyle/>
          <a:p>
            <a:pPr indent="0" marL="0">
              <a:lnSpc>
                <a:spcPct val="105000"/>
              </a:lnSpc>
              <a:buNone/>
            </a:pPr>
            <a:r>
              <a:rPr lang="en-US" sz="1150" dirty="0">
                <a:solidFill>
                  <a:srgbClr val="34433B"/>
                </a:solidFill>
                <a:latin typeface="Calibri" pitchFamily="34" charset="0"/>
                <a:ea typeface="Calibri" pitchFamily="34" charset="-122"/>
                <a:cs typeface="Calibri" pitchFamily="34" charset="-120"/>
              </a:rPr>
              <a:t>Poor visibility of which jurisdiction is receiving which type of complaints</a:t>
            </a:r>
            <a:endParaRPr lang="en-US" sz="1150" dirty="0"/>
          </a:p>
        </p:txBody>
      </p:sp>
      <p:sp>
        <p:nvSpPr>
          <p:cNvPr id="27" name="Shape 25"/>
          <p:cNvSpPr/>
          <p:nvPr/>
        </p:nvSpPr>
        <p:spPr>
          <a:xfrm>
            <a:off x="7571232" y="5056632"/>
            <a:ext cx="3794760" cy="0"/>
          </a:xfrm>
          <a:prstGeom prst="line">
            <a:avLst/>
          </a:prstGeom>
          <a:noFill/>
          <a:ln w="12700">
            <a:solidFill>
              <a:srgbClr val="D3E6DA"/>
            </a:solidFill>
            <a:prstDash val="solid"/>
          </a:ln>
        </p:spPr>
      </p:sp>
      <p:sp>
        <p:nvSpPr>
          <p:cNvPr id="28" name="Text 26"/>
          <p:cNvSpPr txBox="1"/>
          <p:nvPr/>
        </p:nvSpPr>
        <p:spPr>
          <a:xfrm>
            <a:off x="7571232" y="5157216"/>
            <a:ext cx="3794760" cy="502920"/>
          </a:xfrm>
          <a:prstGeom prst="rect">
            <a:avLst/>
          </a:prstGeom>
          <a:noFill/>
          <a:ln/>
        </p:spPr>
        <p:txBody>
          <a:bodyPr wrap="square" lIns="0" tIns="0" rIns="0" bIns="0" rtlCol="0" anchor="ctr"/>
          <a:lstStyle/>
          <a:p>
            <a:pPr indent="0" marL="0">
              <a:lnSpc>
                <a:spcPct val="120000"/>
              </a:lnSpc>
              <a:buNone/>
            </a:pPr>
            <a:r>
              <a:rPr lang="en-US" sz="1100" i="1" dirty="0">
                <a:solidFill>
                  <a:srgbClr val="6C7D71"/>
                </a:solidFill>
                <a:latin typeface="Calibri" pitchFamily="34" charset="0"/>
                <a:ea typeface="Calibri" pitchFamily="34" charset="-122"/>
                <a:cs typeface="Calibri" pitchFamily="34" charset="-120"/>
              </a:rPr>
              <a:t>This becomes especially important in Mysuru because of the changing jurisdiction structure in 2026.</a:t>
            </a:r>
            <a:endParaRPr lang="en-US" sz="1100" dirty="0"/>
          </a:p>
        </p:txBody>
      </p:sp>
      <p:sp>
        <p:nvSpPr>
          <p:cNvPr id="29" name="Text 27"/>
          <p:cNvSpPr txBox="1"/>
          <p:nvPr/>
        </p:nvSpPr>
        <p:spPr>
          <a:xfrm>
            <a:off x="11368735" y="6400800"/>
            <a:ext cx="548640" cy="274320"/>
          </a:xfrm>
          <a:prstGeom prst="rect">
            <a:avLst/>
          </a:prstGeom>
          <a:noFill/>
          <a:ln/>
        </p:spPr>
        <p:txBody>
          <a:bodyPr wrap="square" lIns="0" tIns="0" rIns="0" bIns="0" rtlCol="0" anchor="ctr"/>
          <a:lstStyle/>
          <a:p>
            <a:pPr algn="r" indent="0" marL="0">
              <a:buNone/>
            </a:pPr>
            <a:r>
              <a:rPr lang="en-US" sz="1000" dirty="0">
                <a:solidFill>
                  <a:srgbClr val="6C7D71"/>
                </a:solidFill>
                <a:latin typeface="Calibri" pitchFamily="34" charset="0"/>
                <a:ea typeface="Calibri" pitchFamily="34" charset="-122"/>
                <a:cs typeface="Calibri" pitchFamily="34" charset="-120"/>
              </a:rPr>
              <a:t>02</a:t>
            </a:r>
            <a:endParaRPr lang="en-US" sz="1000" dirty="0"/>
          </a:p>
        </p:txBody>
      </p:sp>
      <p:sp>
        <p:nvSpPr>
          <p:cNvPr id="30" name="Text 28"/>
          <p:cNvSpPr txBox="1"/>
          <p:nvPr/>
        </p:nvSpPr>
        <p:spPr>
          <a:xfrm>
            <a:off x="548640" y="6400800"/>
            <a:ext cx="3657600" cy="274320"/>
          </a:xfrm>
          <a:prstGeom prst="rect">
            <a:avLst/>
          </a:prstGeom>
          <a:noFill/>
          <a:ln/>
        </p:spPr>
        <p:txBody>
          <a:bodyPr wrap="square" lIns="0" tIns="0" rIns="0" bIns="0" rtlCol="0" anchor="ctr"/>
          <a:lstStyle/>
          <a:p>
            <a:pPr indent="0" marL="0">
              <a:buNone/>
            </a:pPr>
            <a:r>
              <a:rPr lang="en-US" sz="900" spc="200" kern="0" dirty="0">
                <a:solidFill>
                  <a:srgbClr val="6C7D71"/>
                </a:solidFill>
                <a:latin typeface="Calibri" pitchFamily="34" charset="0"/>
                <a:ea typeface="Calibri" pitchFamily="34" charset="-122"/>
                <a:cs typeface="Calibri" pitchFamily="34" charset="-120"/>
              </a:rPr>
              <a:t>SAMAGRA MYSURU</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10058400" y="4846320"/>
            <a:ext cx="3840480" cy="3840480"/>
          </a:xfrm>
          <a:prstGeom prst="ellipse">
            <a:avLst/>
          </a:prstGeom>
          <a:solidFill>
            <a:srgbClr val="F2F8F4">
              <a:alpha val="75000"/>
            </a:srgbClr>
          </a:solidFill>
          <a:ln/>
        </p:spPr>
      </p:sp>
      <p:sp>
        <p:nvSpPr>
          <p:cNvPr id="3" name="Text 1"/>
          <p:cNvSpPr txBox="1"/>
          <p:nvPr/>
        </p:nvSpPr>
        <p:spPr>
          <a:xfrm>
            <a:off x="548640" y="384048"/>
            <a:ext cx="9601200" cy="320040"/>
          </a:xfrm>
          <a:prstGeom prst="rect">
            <a:avLst/>
          </a:prstGeom>
          <a:noFill/>
          <a:ln/>
        </p:spPr>
        <p:txBody>
          <a:bodyPr wrap="square" lIns="0" tIns="0" rIns="0" bIns="0" rtlCol="0" anchor="ctr"/>
          <a:lstStyle/>
          <a:p>
            <a:pPr indent="0" marL="0">
              <a:buNone/>
            </a:pPr>
            <a:r>
              <a:rPr lang="en-US" sz="1250" b="1" spc="250" kern="0" dirty="0">
                <a:solidFill>
                  <a:srgbClr val="168A46"/>
                </a:solidFill>
                <a:latin typeface="Calibri" pitchFamily="34" charset="0"/>
                <a:ea typeface="Calibri" pitchFamily="34" charset="-122"/>
                <a:cs typeface="Calibri" pitchFamily="34" charset="-120"/>
              </a:rPr>
              <a:t>REAL WORLD STATISTICS</a:t>
            </a:r>
            <a:endParaRPr lang="en-US" sz="1250" dirty="0"/>
          </a:p>
        </p:txBody>
      </p:sp>
      <p:sp>
        <p:nvSpPr>
          <p:cNvPr id="4" name="Text 2"/>
          <p:cNvSpPr txBox="1"/>
          <p:nvPr/>
        </p:nvSpPr>
        <p:spPr>
          <a:xfrm>
            <a:off x="548640" y="658368"/>
            <a:ext cx="9601200" cy="685800"/>
          </a:xfrm>
          <a:prstGeom prst="rect">
            <a:avLst/>
          </a:prstGeom>
          <a:noFill/>
          <a:ln/>
        </p:spPr>
        <p:txBody>
          <a:bodyPr wrap="square" lIns="0" tIns="0" rIns="0" bIns="0" rtlCol="0" anchor="ctr"/>
          <a:lstStyle/>
          <a:p>
            <a:pPr indent="0" marL="0">
              <a:buNone/>
            </a:pPr>
            <a:r>
              <a:rPr lang="en-US" sz="2800" b="1" dirty="0">
                <a:solidFill>
                  <a:srgbClr val="142018"/>
                </a:solidFill>
                <a:latin typeface="Calibri" pitchFamily="34" charset="0"/>
                <a:ea typeface="Calibri" pitchFamily="34" charset="-122"/>
                <a:cs typeface="Calibri" pitchFamily="34" charset="-120"/>
              </a:rPr>
              <a:t>The scale of the problem, in numbers</a:t>
            </a:r>
            <a:endParaRPr lang="en-US" sz="2800" dirty="0"/>
          </a:p>
        </p:txBody>
      </p:sp>
      <p:sp>
        <p:nvSpPr>
          <p:cNvPr id="5" name="Shape 3"/>
          <p:cNvSpPr/>
          <p:nvPr/>
        </p:nvSpPr>
        <p:spPr>
          <a:xfrm>
            <a:off x="548640" y="1737360"/>
            <a:ext cx="2542032" cy="1600200"/>
          </a:xfrm>
          <a:prstGeom prst="roundRect">
            <a:avLst>
              <a:gd name="adj" fmla="val 5143"/>
            </a:avLst>
          </a:prstGeom>
          <a:solidFill>
            <a:srgbClr val="F2F8F4"/>
          </a:solidFill>
          <a:ln w="12700">
            <a:solidFill>
              <a:srgbClr val="D3E6DA"/>
            </a:solidFill>
            <a:prstDash val="solid"/>
          </a:ln>
          <a:effectLst>
            <a:outerShdw sx="100000" sy="100000" kx="0" ky="0" algn="bl" rotWithShape="0" blurRad="101600" dist="25400" dir="5400000">
              <a:srgbClr val="9CB3A4">
                <a:alpha val="28000"/>
              </a:srgbClr>
            </a:outerShdw>
          </a:effectLst>
        </p:spPr>
      </p:sp>
      <p:sp>
        <p:nvSpPr>
          <p:cNvPr id="6" name="Text 4"/>
          <p:cNvSpPr txBox="1"/>
          <p:nvPr/>
        </p:nvSpPr>
        <p:spPr>
          <a:xfrm>
            <a:off x="685800" y="1865376"/>
            <a:ext cx="2267712" cy="800100"/>
          </a:xfrm>
          <a:prstGeom prst="rect">
            <a:avLst/>
          </a:prstGeom>
          <a:noFill/>
          <a:ln/>
        </p:spPr>
        <p:txBody>
          <a:bodyPr wrap="square" lIns="0" tIns="0" rIns="0" bIns="0" rtlCol="0" anchor="b"/>
          <a:lstStyle/>
          <a:p>
            <a:pPr algn="l" indent="0" marL="0">
              <a:buNone/>
            </a:pPr>
            <a:r>
              <a:rPr lang="en-US" sz="2500" b="1" dirty="0">
                <a:solidFill>
                  <a:srgbClr val="168A46"/>
                </a:solidFill>
                <a:latin typeface="Calibri" pitchFamily="34" charset="0"/>
                <a:ea typeface="Calibri" pitchFamily="34" charset="-122"/>
                <a:cs typeface="Calibri" pitchFamily="34" charset="-120"/>
              </a:rPr>
              <a:t>550–600 t/day</a:t>
            </a:r>
            <a:endParaRPr lang="en-US" sz="2500" dirty="0"/>
          </a:p>
        </p:txBody>
      </p:sp>
      <p:sp>
        <p:nvSpPr>
          <p:cNvPr id="7" name="Text 5"/>
          <p:cNvSpPr txBox="1"/>
          <p:nvPr/>
        </p:nvSpPr>
        <p:spPr>
          <a:xfrm>
            <a:off x="685800" y="2665476"/>
            <a:ext cx="2267712" cy="640080"/>
          </a:xfrm>
          <a:prstGeom prst="rect">
            <a:avLst/>
          </a:prstGeom>
          <a:noFill/>
          <a:ln/>
        </p:spPr>
        <p:txBody>
          <a:bodyPr wrap="square" lIns="0" tIns="0" rIns="0" bIns="0" rtlCol="0" anchor="t"/>
          <a:lstStyle/>
          <a:p>
            <a:pPr algn="l" indent="0" marL="0">
              <a:buNone/>
            </a:pPr>
            <a:r>
              <a:rPr lang="en-US" sz="1080" dirty="0">
                <a:solidFill>
                  <a:srgbClr val="34433B"/>
                </a:solidFill>
                <a:latin typeface="Calibri" pitchFamily="34" charset="0"/>
                <a:ea typeface="Calibri" pitchFamily="34" charset="-122"/>
                <a:cs typeface="Calibri" pitchFamily="34" charset="-120"/>
              </a:rPr>
              <a:t>Municipal waste generated</a:t>
            </a:r>
            <a:endParaRPr lang="en-US" sz="1080" dirty="0"/>
          </a:p>
        </p:txBody>
      </p:sp>
      <p:sp>
        <p:nvSpPr>
          <p:cNvPr id="8" name="Shape 6"/>
          <p:cNvSpPr/>
          <p:nvPr/>
        </p:nvSpPr>
        <p:spPr>
          <a:xfrm>
            <a:off x="3310128" y="1737360"/>
            <a:ext cx="2542032" cy="1600200"/>
          </a:xfrm>
          <a:prstGeom prst="roundRect">
            <a:avLst>
              <a:gd name="adj" fmla="val 5143"/>
            </a:avLst>
          </a:prstGeom>
          <a:solidFill>
            <a:srgbClr val="F2F8F4"/>
          </a:solidFill>
          <a:ln w="12700">
            <a:solidFill>
              <a:srgbClr val="D3E6DA"/>
            </a:solidFill>
            <a:prstDash val="solid"/>
          </a:ln>
          <a:effectLst>
            <a:outerShdw sx="100000" sy="100000" kx="0" ky="0" algn="bl" rotWithShape="0" blurRad="101600" dist="25400" dir="5400000">
              <a:srgbClr val="9CB3A4">
                <a:alpha val="28000"/>
              </a:srgbClr>
            </a:outerShdw>
          </a:effectLst>
        </p:spPr>
      </p:sp>
      <p:sp>
        <p:nvSpPr>
          <p:cNvPr id="9" name="Text 7"/>
          <p:cNvSpPr txBox="1"/>
          <p:nvPr/>
        </p:nvSpPr>
        <p:spPr>
          <a:xfrm>
            <a:off x="3447288" y="1865376"/>
            <a:ext cx="2267712" cy="800100"/>
          </a:xfrm>
          <a:prstGeom prst="rect">
            <a:avLst/>
          </a:prstGeom>
          <a:noFill/>
          <a:ln/>
        </p:spPr>
        <p:txBody>
          <a:bodyPr wrap="square" lIns="0" tIns="0" rIns="0" bIns="0" rtlCol="0" anchor="b"/>
          <a:lstStyle/>
          <a:p>
            <a:pPr algn="l" indent="0" marL="0">
              <a:buNone/>
            </a:pPr>
            <a:r>
              <a:rPr lang="en-US" sz="2500" b="1" dirty="0">
                <a:solidFill>
                  <a:srgbClr val="E8960C"/>
                </a:solidFill>
                <a:latin typeface="Calibri" pitchFamily="34" charset="0"/>
                <a:ea typeface="Calibri" pitchFamily="34" charset="-122"/>
                <a:cs typeface="Calibri" pitchFamily="34" charset="-120"/>
              </a:rPr>
              <a:t>~7 lakh t</a:t>
            </a:r>
            <a:endParaRPr lang="en-US" sz="2500" dirty="0"/>
          </a:p>
        </p:txBody>
      </p:sp>
      <p:sp>
        <p:nvSpPr>
          <p:cNvPr id="10" name="Text 8"/>
          <p:cNvSpPr txBox="1"/>
          <p:nvPr/>
        </p:nvSpPr>
        <p:spPr>
          <a:xfrm>
            <a:off x="3447288" y="2665476"/>
            <a:ext cx="2267712" cy="640080"/>
          </a:xfrm>
          <a:prstGeom prst="rect">
            <a:avLst/>
          </a:prstGeom>
          <a:noFill/>
          <a:ln/>
        </p:spPr>
        <p:txBody>
          <a:bodyPr wrap="square" lIns="0" tIns="0" rIns="0" bIns="0" rtlCol="0" anchor="t"/>
          <a:lstStyle/>
          <a:p>
            <a:pPr algn="l" indent="0" marL="0">
              <a:buNone/>
            </a:pPr>
            <a:r>
              <a:rPr lang="en-US" sz="1080" dirty="0">
                <a:solidFill>
                  <a:srgbClr val="34433B"/>
                </a:solidFill>
                <a:latin typeface="Calibri" pitchFamily="34" charset="0"/>
                <a:ea typeface="Calibri" pitchFamily="34" charset="-122"/>
                <a:cs typeface="Calibri" pitchFamily="34" charset="-120"/>
              </a:rPr>
              <a:t>Reported waste backlog</a:t>
            </a:r>
            <a:endParaRPr lang="en-US" sz="1080" dirty="0"/>
          </a:p>
        </p:txBody>
      </p:sp>
      <p:sp>
        <p:nvSpPr>
          <p:cNvPr id="11" name="Shape 9"/>
          <p:cNvSpPr/>
          <p:nvPr/>
        </p:nvSpPr>
        <p:spPr>
          <a:xfrm>
            <a:off x="6071616" y="1737360"/>
            <a:ext cx="2542032" cy="1600200"/>
          </a:xfrm>
          <a:prstGeom prst="roundRect">
            <a:avLst>
              <a:gd name="adj" fmla="val 5143"/>
            </a:avLst>
          </a:prstGeom>
          <a:solidFill>
            <a:srgbClr val="F2F8F4"/>
          </a:solidFill>
          <a:ln w="12700">
            <a:solidFill>
              <a:srgbClr val="D3E6DA"/>
            </a:solidFill>
            <a:prstDash val="solid"/>
          </a:ln>
          <a:effectLst>
            <a:outerShdw sx="100000" sy="100000" kx="0" ky="0" algn="bl" rotWithShape="0" blurRad="101600" dist="25400" dir="5400000">
              <a:srgbClr val="9CB3A4">
                <a:alpha val="28000"/>
              </a:srgbClr>
            </a:outerShdw>
          </a:effectLst>
        </p:spPr>
      </p:sp>
      <p:sp>
        <p:nvSpPr>
          <p:cNvPr id="12" name="Text 10"/>
          <p:cNvSpPr txBox="1"/>
          <p:nvPr/>
        </p:nvSpPr>
        <p:spPr>
          <a:xfrm>
            <a:off x="6208776" y="1865376"/>
            <a:ext cx="2267712" cy="800100"/>
          </a:xfrm>
          <a:prstGeom prst="rect">
            <a:avLst/>
          </a:prstGeom>
          <a:noFill/>
          <a:ln/>
        </p:spPr>
        <p:txBody>
          <a:bodyPr wrap="square" lIns="0" tIns="0" rIns="0" bIns="0" rtlCol="0" anchor="b"/>
          <a:lstStyle/>
          <a:p>
            <a:pPr algn="l" indent="0" marL="0">
              <a:buNone/>
            </a:pPr>
            <a:r>
              <a:rPr lang="en-US" sz="2500" b="1" dirty="0">
                <a:solidFill>
                  <a:srgbClr val="2464EB"/>
                </a:solidFill>
                <a:latin typeface="Calibri" pitchFamily="34" charset="0"/>
                <a:ea typeface="Calibri" pitchFamily="34" charset="-122"/>
                <a:cs typeface="Calibri" pitchFamily="34" charset="-120"/>
              </a:rPr>
              <a:t>65 wards</a:t>
            </a:r>
            <a:endParaRPr lang="en-US" sz="2500" dirty="0"/>
          </a:p>
        </p:txBody>
      </p:sp>
      <p:sp>
        <p:nvSpPr>
          <p:cNvPr id="13" name="Text 11"/>
          <p:cNvSpPr txBox="1"/>
          <p:nvPr/>
        </p:nvSpPr>
        <p:spPr>
          <a:xfrm>
            <a:off x="6208776" y="2665476"/>
            <a:ext cx="2267712" cy="640080"/>
          </a:xfrm>
          <a:prstGeom prst="rect">
            <a:avLst/>
          </a:prstGeom>
          <a:noFill/>
          <a:ln/>
        </p:spPr>
        <p:txBody>
          <a:bodyPr wrap="square" lIns="0" tIns="0" rIns="0" bIns="0" rtlCol="0" anchor="t"/>
          <a:lstStyle/>
          <a:p>
            <a:pPr algn="l" indent="0" marL="0">
              <a:buNone/>
            </a:pPr>
            <a:r>
              <a:rPr lang="en-US" sz="1080" dirty="0">
                <a:solidFill>
                  <a:srgbClr val="34433B"/>
                </a:solidFill>
                <a:latin typeface="Calibri" pitchFamily="34" charset="0"/>
                <a:ea typeface="Calibri" pitchFamily="34" charset="-122"/>
                <a:cs typeface="Calibri" pitchFamily="34" charset="-120"/>
              </a:rPr>
              <a:t>Existing MCC ward structure</a:t>
            </a:r>
            <a:endParaRPr lang="en-US" sz="1080" dirty="0"/>
          </a:p>
        </p:txBody>
      </p:sp>
      <p:sp>
        <p:nvSpPr>
          <p:cNvPr id="14" name="Shape 12"/>
          <p:cNvSpPr/>
          <p:nvPr/>
        </p:nvSpPr>
        <p:spPr>
          <a:xfrm>
            <a:off x="8833104" y="1737360"/>
            <a:ext cx="2542032" cy="1600200"/>
          </a:xfrm>
          <a:prstGeom prst="roundRect">
            <a:avLst>
              <a:gd name="adj" fmla="val 5143"/>
            </a:avLst>
          </a:prstGeom>
          <a:solidFill>
            <a:srgbClr val="F2F8F4"/>
          </a:solidFill>
          <a:ln w="12700">
            <a:solidFill>
              <a:srgbClr val="D3E6DA"/>
            </a:solidFill>
            <a:prstDash val="solid"/>
          </a:ln>
          <a:effectLst>
            <a:outerShdw sx="100000" sy="100000" kx="0" ky="0" algn="bl" rotWithShape="0" blurRad="101600" dist="25400" dir="5400000">
              <a:srgbClr val="9CB3A4">
                <a:alpha val="28000"/>
              </a:srgbClr>
            </a:outerShdw>
          </a:effectLst>
        </p:spPr>
      </p:sp>
      <p:sp>
        <p:nvSpPr>
          <p:cNvPr id="15" name="Text 13"/>
          <p:cNvSpPr txBox="1"/>
          <p:nvPr/>
        </p:nvSpPr>
        <p:spPr>
          <a:xfrm>
            <a:off x="8970264" y="1865376"/>
            <a:ext cx="2267712" cy="800100"/>
          </a:xfrm>
          <a:prstGeom prst="rect">
            <a:avLst/>
          </a:prstGeom>
          <a:noFill/>
          <a:ln/>
        </p:spPr>
        <p:txBody>
          <a:bodyPr wrap="square" lIns="0" tIns="0" rIns="0" bIns="0" rtlCol="0" anchor="b"/>
          <a:lstStyle/>
          <a:p>
            <a:pPr algn="l" indent="0" marL="0">
              <a:buNone/>
            </a:pPr>
            <a:r>
              <a:rPr lang="en-US" sz="2500" b="1" dirty="0">
                <a:solidFill>
                  <a:srgbClr val="0F6334"/>
                </a:solidFill>
                <a:latin typeface="Calibri" pitchFamily="34" charset="0"/>
                <a:ea typeface="Calibri" pitchFamily="34" charset="-122"/>
                <a:cs typeface="Calibri" pitchFamily="34" charset="-120"/>
              </a:rPr>
              <a:t>86.31→~341.44</a:t>
            </a:r>
            <a:endParaRPr lang="en-US" sz="2500" dirty="0"/>
          </a:p>
        </p:txBody>
      </p:sp>
      <p:sp>
        <p:nvSpPr>
          <p:cNvPr id="16" name="Text 14"/>
          <p:cNvSpPr txBox="1"/>
          <p:nvPr/>
        </p:nvSpPr>
        <p:spPr>
          <a:xfrm>
            <a:off x="8970264" y="2665476"/>
            <a:ext cx="2267712" cy="640080"/>
          </a:xfrm>
          <a:prstGeom prst="rect">
            <a:avLst/>
          </a:prstGeom>
          <a:noFill/>
          <a:ln/>
        </p:spPr>
        <p:txBody>
          <a:bodyPr wrap="square" lIns="0" tIns="0" rIns="0" bIns="0" rtlCol="0" anchor="t"/>
          <a:lstStyle/>
          <a:p>
            <a:pPr algn="l" indent="0" marL="0">
              <a:buNone/>
            </a:pPr>
            <a:r>
              <a:rPr lang="en-US" sz="1080" dirty="0">
                <a:solidFill>
                  <a:srgbClr val="34433B"/>
                </a:solidFill>
                <a:latin typeface="Calibri" pitchFamily="34" charset="0"/>
                <a:ea typeface="Calibri" pitchFamily="34" charset="-122"/>
                <a:cs typeface="Calibri" pitchFamily="34" charset="-120"/>
              </a:rPr>
              <a:t>MCC area → proposed Greater Mysuru area (sq. km)</a:t>
            </a:r>
            <a:endParaRPr lang="en-US" sz="1080" dirty="0"/>
          </a:p>
        </p:txBody>
      </p:sp>
      <p:sp>
        <p:nvSpPr>
          <p:cNvPr id="17" name="Shape 15"/>
          <p:cNvSpPr/>
          <p:nvPr/>
        </p:nvSpPr>
        <p:spPr>
          <a:xfrm>
            <a:off x="548640" y="3611880"/>
            <a:ext cx="5303520" cy="1600200"/>
          </a:xfrm>
          <a:prstGeom prst="roundRect">
            <a:avLst>
              <a:gd name="adj" fmla="val 5143"/>
            </a:avLst>
          </a:prstGeom>
          <a:solidFill>
            <a:srgbClr val="F2F8F4"/>
          </a:solidFill>
          <a:ln w="12700">
            <a:solidFill>
              <a:srgbClr val="D3E6DA"/>
            </a:solidFill>
            <a:prstDash val="solid"/>
          </a:ln>
          <a:effectLst>
            <a:outerShdw sx="100000" sy="100000" kx="0" ky="0" algn="bl" rotWithShape="0" blurRad="101600" dist="25400" dir="5400000">
              <a:srgbClr val="9CB3A4">
                <a:alpha val="28000"/>
              </a:srgbClr>
            </a:outerShdw>
          </a:effectLst>
        </p:spPr>
      </p:sp>
      <p:sp>
        <p:nvSpPr>
          <p:cNvPr id="18" name="Text 16"/>
          <p:cNvSpPr txBox="1"/>
          <p:nvPr/>
        </p:nvSpPr>
        <p:spPr>
          <a:xfrm>
            <a:off x="822960" y="3776472"/>
            <a:ext cx="4809744" cy="274320"/>
          </a:xfrm>
          <a:prstGeom prst="rect">
            <a:avLst/>
          </a:prstGeom>
          <a:noFill/>
          <a:ln/>
        </p:spPr>
        <p:txBody>
          <a:bodyPr wrap="square" lIns="0" tIns="0" rIns="0" bIns="0" rtlCol="0" anchor="ctr"/>
          <a:lstStyle/>
          <a:p>
            <a:pPr indent="0" marL="0">
              <a:buNone/>
            </a:pPr>
            <a:r>
              <a:rPr lang="en-US" sz="1250" b="1" dirty="0">
                <a:solidFill>
                  <a:srgbClr val="0F6334"/>
                </a:solidFill>
                <a:latin typeface="Calibri" pitchFamily="34" charset="0"/>
                <a:ea typeface="Calibri" pitchFamily="34" charset="-122"/>
                <a:cs typeface="Calibri" pitchFamily="34" charset="-120"/>
              </a:rPr>
              <a:t>🗑️  Mysuru’s waste challenge</a:t>
            </a:r>
            <a:endParaRPr lang="en-US" sz="1250" dirty="0"/>
          </a:p>
        </p:txBody>
      </p:sp>
      <p:sp>
        <p:nvSpPr>
          <p:cNvPr id="19" name="Text 17"/>
          <p:cNvSpPr txBox="1"/>
          <p:nvPr/>
        </p:nvSpPr>
        <p:spPr>
          <a:xfrm>
            <a:off x="822960" y="4114800"/>
            <a:ext cx="4535424" cy="914400"/>
          </a:xfrm>
          <a:prstGeom prst="rect">
            <a:avLst/>
          </a:prstGeom>
          <a:noFill/>
          <a:ln/>
        </p:spPr>
        <p:txBody>
          <a:bodyPr wrap="square" lIns="0" tIns="0" rIns="0" bIns="0" rtlCol="0" anchor="ctr"/>
          <a:lstStyle/>
          <a:p>
            <a:pPr indent="0" marL="0">
              <a:lnSpc>
                <a:spcPct val="125000"/>
              </a:lnSpc>
              <a:buNone/>
            </a:pPr>
            <a:r>
              <a:rPr lang="en-US" sz="1200" dirty="0">
                <a:solidFill>
                  <a:srgbClr val="34433B"/>
                </a:solidFill>
                <a:latin typeface="Calibri" pitchFamily="34" charset="0"/>
                <a:ea typeface="Calibri" pitchFamily="34" charset="-122"/>
                <a:cs typeface="Calibri" pitchFamily="34" charset="-120"/>
              </a:rPr>
              <a:t>Mysuru generates approximately 550–600 tonnes of waste per day, with a reported backlog of nearly 7 lakh tonnes.</a:t>
            </a:r>
            <a:endParaRPr lang="en-US" sz="1200" dirty="0"/>
          </a:p>
        </p:txBody>
      </p:sp>
      <p:sp>
        <p:nvSpPr>
          <p:cNvPr id="20" name="Shape 18"/>
          <p:cNvSpPr/>
          <p:nvPr/>
        </p:nvSpPr>
        <p:spPr>
          <a:xfrm>
            <a:off x="6071616" y="3611880"/>
            <a:ext cx="5084064" cy="1600200"/>
          </a:xfrm>
          <a:prstGeom prst="roundRect">
            <a:avLst>
              <a:gd name="adj" fmla="val 5143"/>
            </a:avLst>
          </a:prstGeom>
          <a:solidFill>
            <a:srgbClr val="F2F8F4"/>
          </a:solidFill>
          <a:ln w="12700">
            <a:solidFill>
              <a:srgbClr val="D3E6DA"/>
            </a:solidFill>
            <a:prstDash val="solid"/>
          </a:ln>
          <a:effectLst>
            <a:outerShdw sx="100000" sy="100000" kx="0" ky="0" algn="bl" rotWithShape="0" blurRad="101600" dist="25400" dir="5400000">
              <a:srgbClr val="9CB3A4">
                <a:alpha val="28000"/>
              </a:srgbClr>
            </a:outerShdw>
          </a:effectLst>
        </p:spPr>
      </p:sp>
      <p:sp>
        <p:nvSpPr>
          <p:cNvPr id="21" name="Text 19"/>
          <p:cNvSpPr txBox="1"/>
          <p:nvPr/>
        </p:nvSpPr>
        <p:spPr>
          <a:xfrm>
            <a:off x="6345936" y="3776472"/>
            <a:ext cx="4535424" cy="274320"/>
          </a:xfrm>
          <a:prstGeom prst="rect">
            <a:avLst/>
          </a:prstGeom>
          <a:noFill/>
          <a:ln/>
        </p:spPr>
        <p:txBody>
          <a:bodyPr wrap="square" lIns="0" tIns="0" rIns="0" bIns="0" rtlCol="0" anchor="ctr"/>
          <a:lstStyle/>
          <a:p>
            <a:pPr indent="0" marL="0">
              <a:buNone/>
            </a:pPr>
            <a:r>
              <a:rPr lang="en-US" sz="1250" b="1" dirty="0">
                <a:solidFill>
                  <a:srgbClr val="0F6334"/>
                </a:solidFill>
                <a:latin typeface="Calibri" pitchFamily="34" charset="0"/>
                <a:ea typeface="Calibri" pitchFamily="34" charset="-122"/>
                <a:cs typeface="Calibri" pitchFamily="34" charset="-120"/>
              </a:rPr>
              <a:t>🏙️  Jurisdiction complexity</a:t>
            </a:r>
            <a:endParaRPr lang="en-US" sz="1250" dirty="0"/>
          </a:p>
        </p:txBody>
      </p:sp>
      <p:sp>
        <p:nvSpPr>
          <p:cNvPr id="22" name="Text 20"/>
          <p:cNvSpPr txBox="1"/>
          <p:nvPr/>
        </p:nvSpPr>
        <p:spPr>
          <a:xfrm>
            <a:off x="6345936" y="4114800"/>
            <a:ext cx="4535424" cy="914400"/>
          </a:xfrm>
          <a:prstGeom prst="rect">
            <a:avLst/>
          </a:prstGeom>
          <a:noFill/>
          <a:ln/>
        </p:spPr>
        <p:txBody>
          <a:bodyPr wrap="square" lIns="0" tIns="0" rIns="0" bIns="0" rtlCol="0" anchor="ctr"/>
          <a:lstStyle/>
          <a:p>
            <a:pPr indent="0" marL="0">
              <a:lnSpc>
                <a:spcPct val="120000"/>
              </a:lnSpc>
              <a:buNone/>
            </a:pPr>
            <a:r>
              <a:rPr lang="en-US" sz="1100" dirty="0">
                <a:solidFill>
                  <a:srgbClr val="34433B"/>
                </a:solidFill>
                <a:latin typeface="Calibri" pitchFamily="34" charset="0"/>
                <a:ea typeface="Calibri" pitchFamily="34" charset="-122"/>
                <a:cs typeface="Calibri" pitchFamily="34" charset="-120"/>
              </a:rPr>
              <a:t>Mysuru’s existing MCC area is about 86.31 sq. km, while the proposed expanded Greater Mysuru area is approximately 341.44 sq. km. The expansion involves the existing 65 MCC wards along with surrounding local-government areas.</a:t>
            </a:r>
            <a:endParaRPr lang="en-US" sz="1100" dirty="0"/>
          </a:p>
        </p:txBody>
      </p:sp>
      <p:sp>
        <p:nvSpPr>
          <p:cNvPr id="23" name="Text 21"/>
          <p:cNvSpPr txBox="1"/>
          <p:nvPr/>
        </p:nvSpPr>
        <p:spPr>
          <a:xfrm>
            <a:off x="548640" y="5413248"/>
            <a:ext cx="11091672" cy="365760"/>
          </a:xfrm>
          <a:prstGeom prst="rect">
            <a:avLst/>
          </a:prstGeom>
          <a:noFill/>
          <a:ln/>
        </p:spPr>
        <p:txBody>
          <a:bodyPr wrap="square" lIns="0" tIns="0" rIns="0" bIns="0" rtlCol="0" anchor="ctr"/>
          <a:lstStyle/>
          <a:p>
            <a:pPr algn="ctr" indent="0" marL="0">
              <a:buNone/>
            </a:pPr>
            <a:r>
              <a:rPr lang="en-US" sz="1200" i="1" dirty="0">
                <a:solidFill>
                  <a:srgbClr val="6C7D71"/>
                </a:solidFill>
                <a:latin typeface="Calibri" pitchFamily="34" charset="0"/>
                <a:ea typeface="Calibri" pitchFamily="34" charset="-122"/>
                <a:cs typeface="Calibri" pitchFamily="34" charset="-120"/>
              </a:rPr>
              <a:t>These numbers show why civic management and accurate jurisdiction-based routing matter.</a:t>
            </a:r>
            <a:endParaRPr lang="en-US" sz="1200" dirty="0"/>
          </a:p>
        </p:txBody>
      </p:sp>
      <p:sp>
        <p:nvSpPr>
          <p:cNvPr id="24" name="Text 22"/>
          <p:cNvSpPr txBox="1"/>
          <p:nvPr/>
        </p:nvSpPr>
        <p:spPr>
          <a:xfrm>
            <a:off x="11368735" y="6400800"/>
            <a:ext cx="548640" cy="274320"/>
          </a:xfrm>
          <a:prstGeom prst="rect">
            <a:avLst/>
          </a:prstGeom>
          <a:noFill/>
          <a:ln/>
        </p:spPr>
        <p:txBody>
          <a:bodyPr wrap="square" lIns="0" tIns="0" rIns="0" bIns="0" rtlCol="0" anchor="ctr"/>
          <a:lstStyle/>
          <a:p>
            <a:pPr algn="r" indent="0" marL="0">
              <a:buNone/>
            </a:pPr>
            <a:r>
              <a:rPr lang="en-US" sz="1000" dirty="0">
                <a:solidFill>
                  <a:srgbClr val="6C7D71"/>
                </a:solidFill>
                <a:latin typeface="Calibri" pitchFamily="34" charset="0"/>
                <a:ea typeface="Calibri" pitchFamily="34" charset="-122"/>
                <a:cs typeface="Calibri" pitchFamily="34" charset="-120"/>
              </a:rPr>
              <a:t>03</a:t>
            </a:r>
            <a:endParaRPr lang="en-US" sz="1000" dirty="0"/>
          </a:p>
        </p:txBody>
      </p:sp>
      <p:sp>
        <p:nvSpPr>
          <p:cNvPr id="25" name="Text 23"/>
          <p:cNvSpPr txBox="1"/>
          <p:nvPr/>
        </p:nvSpPr>
        <p:spPr>
          <a:xfrm>
            <a:off x="548640" y="6400800"/>
            <a:ext cx="3657600" cy="274320"/>
          </a:xfrm>
          <a:prstGeom prst="rect">
            <a:avLst/>
          </a:prstGeom>
          <a:noFill/>
          <a:ln/>
        </p:spPr>
        <p:txBody>
          <a:bodyPr wrap="square" lIns="0" tIns="0" rIns="0" bIns="0" rtlCol="0" anchor="ctr"/>
          <a:lstStyle/>
          <a:p>
            <a:pPr indent="0" marL="0">
              <a:buNone/>
            </a:pPr>
            <a:r>
              <a:rPr lang="en-US" sz="900" spc="200" kern="0" dirty="0">
                <a:solidFill>
                  <a:srgbClr val="6C7D71"/>
                </a:solidFill>
                <a:latin typeface="Calibri" pitchFamily="34" charset="0"/>
                <a:ea typeface="Calibri" pitchFamily="34" charset="-122"/>
                <a:cs typeface="Calibri" pitchFamily="34" charset="-120"/>
              </a:rPr>
              <a:t>SAMAGRA MYSURU</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9966960" y="-2011680"/>
            <a:ext cx="4937760" cy="4937760"/>
          </a:xfrm>
          <a:prstGeom prst="ellipse">
            <a:avLst/>
          </a:prstGeom>
          <a:solidFill>
            <a:srgbClr val="F2F8F4">
              <a:alpha val="75000"/>
            </a:srgbClr>
          </a:solidFill>
          <a:ln/>
        </p:spPr>
      </p:sp>
      <p:sp>
        <p:nvSpPr>
          <p:cNvPr id="3" name="Text 1"/>
          <p:cNvSpPr txBox="1"/>
          <p:nvPr/>
        </p:nvSpPr>
        <p:spPr>
          <a:xfrm>
            <a:off x="548640" y="384048"/>
            <a:ext cx="9601200" cy="320040"/>
          </a:xfrm>
          <a:prstGeom prst="rect">
            <a:avLst/>
          </a:prstGeom>
          <a:noFill/>
          <a:ln/>
        </p:spPr>
        <p:txBody>
          <a:bodyPr wrap="square" lIns="0" tIns="0" rIns="0" bIns="0" rtlCol="0" anchor="ctr"/>
          <a:lstStyle/>
          <a:p>
            <a:pPr indent="0" marL="0">
              <a:buNone/>
            </a:pPr>
            <a:r>
              <a:rPr lang="en-US" sz="1250" b="1" spc="250" kern="0" dirty="0">
                <a:solidFill>
                  <a:srgbClr val="168A46"/>
                </a:solidFill>
                <a:latin typeface="Calibri" pitchFamily="34" charset="0"/>
                <a:ea typeface="Calibri" pitchFamily="34" charset="-122"/>
                <a:cs typeface="Calibri" pitchFamily="34" charset="-120"/>
              </a:rPr>
              <a:t>EXISTING SOLUTION GAPS</a:t>
            </a:r>
            <a:endParaRPr lang="en-US" sz="1250" dirty="0"/>
          </a:p>
        </p:txBody>
      </p:sp>
      <p:sp>
        <p:nvSpPr>
          <p:cNvPr id="4" name="Text 2"/>
          <p:cNvSpPr txBox="1"/>
          <p:nvPr/>
        </p:nvSpPr>
        <p:spPr>
          <a:xfrm>
            <a:off x="548640" y="658368"/>
            <a:ext cx="9601200" cy="685800"/>
          </a:xfrm>
          <a:prstGeom prst="rect">
            <a:avLst/>
          </a:prstGeom>
          <a:noFill/>
          <a:ln/>
        </p:spPr>
        <p:txBody>
          <a:bodyPr wrap="square" lIns="0" tIns="0" rIns="0" bIns="0" rtlCol="0" anchor="ctr"/>
          <a:lstStyle/>
          <a:p>
            <a:pPr indent="0" marL="0">
              <a:buNone/>
            </a:pPr>
            <a:r>
              <a:rPr lang="en-US" sz="2800" b="1" dirty="0">
                <a:solidFill>
                  <a:srgbClr val="142018"/>
                </a:solidFill>
                <a:latin typeface="Calibri" pitchFamily="34" charset="0"/>
                <a:ea typeface="Calibri" pitchFamily="34" charset="-122"/>
                <a:cs typeface="Calibri" pitchFamily="34" charset="-120"/>
              </a:rPr>
              <a:t>Why the current system falls short</a:t>
            </a:r>
            <a:endParaRPr lang="en-US" sz="2800" dirty="0"/>
          </a:p>
        </p:txBody>
      </p:sp>
      <p:sp>
        <p:nvSpPr>
          <p:cNvPr id="5" name="Shape 3"/>
          <p:cNvSpPr/>
          <p:nvPr/>
        </p:nvSpPr>
        <p:spPr>
          <a:xfrm>
            <a:off x="548640" y="1691640"/>
            <a:ext cx="5257800" cy="1371600"/>
          </a:xfrm>
          <a:prstGeom prst="roundRect">
            <a:avLst>
              <a:gd name="adj" fmla="val 6000"/>
            </a:avLst>
          </a:prstGeom>
          <a:solidFill>
            <a:srgbClr val="F2F8F4"/>
          </a:solidFill>
          <a:ln w="12700">
            <a:solidFill>
              <a:srgbClr val="D3E6DA"/>
            </a:solidFill>
            <a:prstDash val="solid"/>
          </a:ln>
          <a:effectLst>
            <a:outerShdw sx="100000" sy="100000" kx="0" ky="0" algn="bl" rotWithShape="0" blurRad="101600" dist="25400" dir="5400000">
              <a:srgbClr val="9CB3A4">
                <a:alpha val="28000"/>
              </a:srgbClr>
            </a:outerShdw>
          </a:effectLst>
        </p:spPr>
      </p:sp>
      <p:sp>
        <p:nvSpPr>
          <p:cNvPr id="6" name="Text 4"/>
          <p:cNvSpPr txBox="1"/>
          <p:nvPr/>
        </p:nvSpPr>
        <p:spPr>
          <a:xfrm>
            <a:off x="713232" y="1819656"/>
            <a:ext cx="822960" cy="548640"/>
          </a:xfrm>
          <a:prstGeom prst="rect">
            <a:avLst/>
          </a:prstGeom>
          <a:noFill/>
          <a:ln/>
        </p:spPr>
        <p:txBody>
          <a:bodyPr wrap="square" lIns="0" tIns="0" rIns="0" bIns="0" rtlCol="0" anchor="ctr"/>
          <a:lstStyle/>
          <a:p>
            <a:pPr indent="0" marL="0">
              <a:buNone/>
            </a:pPr>
            <a:r>
              <a:rPr lang="en-US" sz="2600" b="1" dirty="0">
                <a:solidFill>
                  <a:srgbClr val="168A46"/>
                </a:solidFill>
                <a:latin typeface="Calibri" pitchFamily="34" charset="0"/>
                <a:ea typeface="Calibri" pitchFamily="34" charset="-122"/>
                <a:cs typeface="Calibri" pitchFamily="34" charset="-120"/>
              </a:rPr>
              <a:t>1</a:t>
            </a:r>
            <a:endParaRPr lang="en-US" sz="2600" dirty="0"/>
          </a:p>
        </p:txBody>
      </p:sp>
      <p:sp>
        <p:nvSpPr>
          <p:cNvPr id="7" name="Text 5"/>
          <p:cNvSpPr txBox="1"/>
          <p:nvPr/>
        </p:nvSpPr>
        <p:spPr>
          <a:xfrm>
            <a:off x="1463040" y="1819656"/>
            <a:ext cx="4160520" cy="457200"/>
          </a:xfrm>
          <a:prstGeom prst="rect">
            <a:avLst/>
          </a:prstGeom>
          <a:noFill/>
          <a:ln/>
        </p:spPr>
        <p:txBody>
          <a:bodyPr wrap="square" lIns="0" tIns="0" rIns="0" bIns="0" rtlCol="0" anchor="ctr"/>
          <a:lstStyle/>
          <a:p>
            <a:pPr indent="0" marL="0">
              <a:lnSpc>
                <a:spcPct val="105000"/>
              </a:lnSpc>
              <a:buNone/>
            </a:pPr>
            <a:r>
              <a:rPr lang="en-US" sz="1300" b="1" dirty="0">
                <a:solidFill>
                  <a:srgbClr val="142018"/>
                </a:solidFill>
                <a:latin typeface="Calibri" pitchFamily="34" charset="0"/>
                <a:ea typeface="Calibri" pitchFamily="34" charset="-122"/>
                <a:cs typeface="Calibri" pitchFamily="34" charset="-120"/>
              </a:rPr>
              <a:t>Citizens may not know the correct authority</a:t>
            </a:r>
            <a:endParaRPr lang="en-US" sz="1300" dirty="0"/>
          </a:p>
        </p:txBody>
      </p:sp>
      <p:sp>
        <p:nvSpPr>
          <p:cNvPr id="8" name="Text 6"/>
          <p:cNvSpPr txBox="1"/>
          <p:nvPr/>
        </p:nvSpPr>
        <p:spPr>
          <a:xfrm>
            <a:off x="1463040" y="2295144"/>
            <a:ext cx="4160520" cy="713232"/>
          </a:xfrm>
          <a:prstGeom prst="rect">
            <a:avLst/>
          </a:prstGeom>
          <a:noFill/>
          <a:ln/>
        </p:spPr>
        <p:txBody>
          <a:bodyPr wrap="square" lIns="0" tIns="0" rIns="0" bIns="0" rtlCol="0" anchor="ctr"/>
          <a:lstStyle/>
          <a:p>
            <a:pPr indent="0" marL="0">
              <a:lnSpc>
                <a:spcPct val="110000"/>
              </a:lnSpc>
              <a:buNone/>
            </a:pPr>
            <a:r>
              <a:rPr lang="en-US" sz="1080" dirty="0">
                <a:solidFill>
                  <a:srgbClr val="34433B"/>
                </a:solidFill>
                <a:latin typeface="Calibri" pitchFamily="34" charset="0"/>
                <a:ea typeface="Calibri" pitchFamily="34" charset="-122"/>
                <a:cs typeface="Calibri" pitchFamily="34" charset="-120"/>
              </a:rPr>
              <a:t>A civic problem can fall under MCC, CMCs, Town Panchayats or Gram Panchayats. A citizen may know the problem, but not which authority is responsible.</a:t>
            </a:r>
            <a:endParaRPr lang="en-US" sz="1080" dirty="0"/>
          </a:p>
        </p:txBody>
      </p:sp>
      <p:sp>
        <p:nvSpPr>
          <p:cNvPr id="9" name="Shape 7"/>
          <p:cNvSpPr/>
          <p:nvPr/>
        </p:nvSpPr>
        <p:spPr>
          <a:xfrm>
            <a:off x="6080760" y="1691640"/>
            <a:ext cx="5257800" cy="1371600"/>
          </a:xfrm>
          <a:prstGeom prst="roundRect">
            <a:avLst>
              <a:gd name="adj" fmla="val 6000"/>
            </a:avLst>
          </a:prstGeom>
          <a:solidFill>
            <a:srgbClr val="F2F8F4"/>
          </a:solidFill>
          <a:ln w="12700">
            <a:solidFill>
              <a:srgbClr val="D3E6DA"/>
            </a:solidFill>
            <a:prstDash val="solid"/>
          </a:ln>
          <a:effectLst>
            <a:outerShdw sx="100000" sy="100000" kx="0" ky="0" algn="bl" rotWithShape="0" blurRad="101600" dist="25400" dir="5400000">
              <a:srgbClr val="9CB3A4">
                <a:alpha val="28000"/>
              </a:srgbClr>
            </a:outerShdw>
          </a:effectLst>
        </p:spPr>
      </p:sp>
      <p:sp>
        <p:nvSpPr>
          <p:cNvPr id="10" name="Text 8"/>
          <p:cNvSpPr txBox="1"/>
          <p:nvPr/>
        </p:nvSpPr>
        <p:spPr>
          <a:xfrm>
            <a:off x="6245352" y="1819656"/>
            <a:ext cx="822960" cy="548640"/>
          </a:xfrm>
          <a:prstGeom prst="rect">
            <a:avLst/>
          </a:prstGeom>
          <a:noFill/>
          <a:ln/>
        </p:spPr>
        <p:txBody>
          <a:bodyPr wrap="square" lIns="0" tIns="0" rIns="0" bIns="0" rtlCol="0" anchor="ctr"/>
          <a:lstStyle/>
          <a:p>
            <a:pPr indent="0" marL="0">
              <a:buNone/>
            </a:pPr>
            <a:r>
              <a:rPr lang="en-US" sz="2600" b="1" dirty="0">
                <a:solidFill>
                  <a:srgbClr val="168A46"/>
                </a:solidFill>
                <a:latin typeface="Calibri" pitchFamily="34" charset="0"/>
                <a:ea typeface="Calibri" pitchFamily="34" charset="-122"/>
                <a:cs typeface="Calibri" pitchFamily="34" charset="-120"/>
              </a:rPr>
              <a:t>2</a:t>
            </a:r>
            <a:endParaRPr lang="en-US" sz="2600" dirty="0"/>
          </a:p>
        </p:txBody>
      </p:sp>
      <p:sp>
        <p:nvSpPr>
          <p:cNvPr id="11" name="Text 9"/>
          <p:cNvSpPr txBox="1"/>
          <p:nvPr/>
        </p:nvSpPr>
        <p:spPr>
          <a:xfrm>
            <a:off x="6995160" y="1819656"/>
            <a:ext cx="4160520" cy="457200"/>
          </a:xfrm>
          <a:prstGeom prst="rect">
            <a:avLst/>
          </a:prstGeom>
          <a:noFill/>
          <a:ln/>
        </p:spPr>
        <p:txBody>
          <a:bodyPr wrap="square" lIns="0" tIns="0" rIns="0" bIns="0" rtlCol="0" anchor="ctr"/>
          <a:lstStyle/>
          <a:p>
            <a:pPr indent="0" marL="0">
              <a:lnSpc>
                <a:spcPct val="105000"/>
              </a:lnSpc>
              <a:buNone/>
            </a:pPr>
            <a:r>
              <a:rPr lang="en-US" sz="1300" b="1" dirty="0">
                <a:solidFill>
                  <a:srgbClr val="142018"/>
                </a:solidFill>
                <a:latin typeface="Calibri" pitchFamily="34" charset="0"/>
                <a:ea typeface="Calibri" pitchFamily="34" charset="-122"/>
                <a:cs typeface="Calibri" pitchFamily="34" charset="-120"/>
              </a:rPr>
              <a:t>Complaint registration and routing are different problems</a:t>
            </a:r>
            <a:endParaRPr lang="en-US" sz="1300" dirty="0"/>
          </a:p>
        </p:txBody>
      </p:sp>
      <p:sp>
        <p:nvSpPr>
          <p:cNvPr id="12" name="Text 10"/>
          <p:cNvSpPr txBox="1"/>
          <p:nvPr/>
        </p:nvSpPr>
        <p:spPr>
          <a:xfrm>
            <a:off x="6995160" y="2295144"/>
            <a:ext cx="4160520" cy="713232"/>
          </a:xfrm>
          <a:prstGeom prst="rect">
            <a:avLst/>
          </a:prstGeom>
          <a:noFill/>
          <a:ln/>
        </p:spPr>
        <p:txBody>
          <a:bodyPr wrap="square" lIns="0" tIns="0" rIns="0" bIns="0" rtlCol="0" anchor="ctr"/>
          <a:lstStyle/>
          <a:p>
            <a:pPr indent="0" marL="0">
              <a:lnSpc>
                <a:spcPct val="110000"/>
              </a:lnSpc>
              <a:buNone/>
            </a:pPr>
            <a:r>
              <a:rPr lang="en-US" sz="1080" dirty="0">
                <a:solidFill>
                  <a:srgbClr val="34433B"/>
                </a:solidFill>
                <a:latin typeface="Calibri" pitchFamily="34" charset="0"/>
                <a:ea typeface="Calibri" pitchFamily="34" charset="-122"/>
                <a:cs typeface="Calibri" pitchFamily="34" charset="-120"/>
              </a:rPr>
              <a:t>Submitting a complaint doesn’t solve the jurisdiction-routing problem. Our focus is: “Where should this complaint go?”</a:t>
            </a:r>
            <a:endParaRPr lang="en-US" sz="1080" dirty="0"/>
          </a:p>
        </p:txBody>
      </p:sp>
      <p:sp>
        <p:nvSpPr>
          <p:cNvPr id="13" name="Shape 11"/>
          <p:cNvSpPr/>
          <p:nvPr/>
        </p:nvSpPr>
        <p:spPr>
          <a:xfrm>
            <a:off x="548640" y="3227832"/>
            <a:ext cx="5257800" cy="1371600"/>
          </a:xfrm>
          <a:prstGeom prst="roundRect">
            <a:avLst>
              <a:gd name="adj" fmla="val 6000"/>
            </a:avLst>
          </a:prstGeom>
          <a:solidFill>
            <a:srgbClr val="F2F8F4"/>
          </a:solidFill>
          <a:ln w="12700">
            <a:solidFill>
              <a:srgbClr val="D3E6DA"/>
            </a:solidFill>
            <a:prstDash val="solid"/>
          </a:ln>
          <a:effectLst>
            <a:outerShdw sx="100000" sy="100000" kx="0" ky="0" algn="bl" rotWithShape="0" blurRad="101600" dist="25400" dir="5400000">
              <a:srgbClr val="9CB3A4">
                <a:alpha val="28000"/>
              </a:srgbClr>
            </a:outerShdw>
          </a:effectLst>
        </p:spPr>
      </p:sp>
      <p:sp>
        <p:nvSpPr>
          <p:cNvPr id="14" name="Text 12"/>
          <p:cNvSpPr txBox="1"/>
          <p:nvPr/>
        </p:nvSpPr>
        <p:spPr>
          <a:xfrm>
            <a:off x="713232" y="3355848"/>
            <a:ext cx="822960" cy="548640"/>
          </a:xfrm>
          <a:prstGeom prst="rect">
            <a:avLst/>
          </a:prstGeom>
          <a:noFill/>
          <a:ln/>
        </p:spPr>
        <p:txBody>
          <a:bodyPr wrap="square" lIns="0" tIns="0" rIns="0" bIns="0" rtlCol="0" anchor="ctr"/>
          <a:lstStyle/>
          <a:p>
            <a:pPr indent="0" marL="0">
              <a:buNone/>
            </a:pPr>
            <a:r>
              <a:rPr lang="en-US" sz="2600" b="1" dirty="0">
                <a:solidFill>
                  <a:srgbClr val="168A46"/>
                </a:solidFill>
                <a:latin typeface="Calibri" pitchFamily="34" charset="0"/>
                <a:ea typeface="Calibri" pitchFamily="34" charset="-122"/>
                <a:cs typeface="Calibri" pitchFamily="34" charset="-120"/>
              </a:rPr>
              <a:t>3</a:t>
            </a:r>
            <a:endParaRPr lang="en-US" sz="2600" dirty="0"/>
          </a:p>
        </p:txBody>
      </p:sp>
      <p:sp>
        <p:nvSpPr>
          <p:cNvPr id="15" name="Text 13"/>
          <p:cNvSpPr txBox="1"/>
          <p:nvPr/>
        </p:nvSpPr>
        <p:spPr>
          <a:xfrm>
            <a:off x="1463040" y="3355848"/>
            <a:ext cx="4160520" cy="457200"/>
          </a:xfrm>
          <a:prstGeom prst="rect">
            <a:avLst/>
          </a:prstGeom>
          <a:noFill/>
          <a:ln/>
        </p:spPr>
        <p:txBody>
          <a:bodyPr wrap="square" lIns="0" tIns="0" rIns="0" bIns="0" rtlCol="0" anchor="ctr"/>
          <a:lstStyle/>
          <a:p>
            <a:pPr indent="0" marL="0">
              <a:lnSpc>
                <a:spcPct val="105000"/>
              </a:lnSpc>
              <a:buNone/>
            </a:pPr>
            <a:r>
              <a:rPr lang="en-US" sz="1300" b="1" dirty="0">
                <a:solidFill>
                  <a:srgbClr val="142018"/>
                </a:solidFill>
                <a:latin typeface="Calibri" pitchFamily="34" charset="0"/>
                <a:ea typeface="Calibri" pitchFamily="34" charset="-122"/>
                <a:cs typeface="Calibri" pitchFamily="34" charset="-120"/>
              </a:rPr>
              <a:t>Location-based jurisdiction is complicated</a:t>
            </a:r>
            <a:endParaRPr lang="en-US" sz="1300" dirty="0"/>
          </a:p>
        </p:txBody>
      </p:sp>
      <p:sp>
        <p:nvSpPr>
          <p:cNvPr id="16" name="Text 14"/>
          <p:cNvSpPr txBox="1"/>
          <p:nvPr/>
        </p:nvSpPr>
        <p:spPr>
          <a:xfrm>
            <a:off x="1463040" y="3831336"/>
            <a:ext cx="4160520" cy="713232"/>
          </a:xfrm>
          <a:prstGeom prst="rect">
            <a:avLst/>
          </a:prstGeom>
          <a:noFill/>
          <a:ln/>
        </p:spPr>
        <p:txBody>
          <a:bodyPr wrap="square" lIns="0" tIns="0" rIns="0" bIns="0" rtlCol="0" anchor="ctr"/>
          <a:lstStyle/>
          <a:p>
            <a:pPr indent="0" marL="0">
              <a:lnSpc>
                <a:spcPct val="110000"/>
              </a:lnSpc>
              <a:buNone/>
            </a:pPr>
            <a:r>
              <a:rPr lang="en-US" sz="1080" dirty="0">
                <a:solidFill>
                  <a:srgbClr val="34433B"/>
                </a:solidFill>
                <a:latin typeface="Calibri" pitchFamily="34" charset="0"/>
                <a:ea typeface="Calibri" pitchFamily="34" charset="-122"/>
                <a:cs typeface="Calibri" pitchFamily="34" charset="-120"/>
              </a:rPr>
              <a:t>A simple city/area name is not enough. Our system uses: Latitude + Longitude → Jurisdiction → Authority → Department.</a:t>
            </a:r>
            <a:endParaRPr lang="en-US" sz="1080" dirty="0"/>
          </a:p>
        </p:txBody>
      </p:sp>
      <p:sp>
        <p:nvSpPr>
          <p:cNvPr id="17" name="Shape 15"/>
          <p:cNvSpPr/>
          <p:nvPr/>
        </p:nvSpPr>
        <p:spPr>
          <a:xfrm>
            <a:off x="6080760" y="3227832"/>
            <a:ext cx="5257800" cy="1371600"/>
          </a:xfrm>
          <a:prstGeom prst="roundRect">
            <a:avLst>
              <a:gd name="adj" fmla="val 6000"/>
            </a:avLst>
          </a:prstGeom>
          <a:solidFill>
            <a:srgbClr val="F2F8F4"/>
          </a:solidFill>
          <a:ln w="12700">
            <a:solidFill>
              <a:srgbClr val="D3E6DA"/>
            </a:solidFill>
            <a:prstDash val="solid"/>
          </a:ln>
          <a:effectLst>
            <a:outerShdw sx="100000" sy="100000" kx="0" ky="0" algn="bl" rotWithShape="0" blurRad="101600" dist="25400" dir="5400000">
              <a:srgbClr val="9CB3A4">
                <a:alpha val="28000"/>
              </a:srgbClr>
            </a:outerShdw>
          </a:effectLst>
        </p:spPr>
      </p:sp>
      <p:sp>
        <p:nvSpPr>
          <p:cNvPr id="18" name="Text 16"/>
          <p:cNvSpPr txBox="1"/>
          <p:nvPr/>
        </p:nvSpPr>
        <p:spPr>
          <a:xfrm>
            <a:off x="6245352" y="3355848"/>
            <a:ext cx="822960" cy="548640"/>
          </a:xfrm>
          <a:prstGeom prst="rect">
            <a:avLst/>
          </a:prstGeom>
          <a:noFill/>
          <a:ln/>
        </p:spPr>
        <p:txBody>
          <a:bodyPr wrap="square" lIns="0" tIns="0" rIns="0" bIns="0" rtlCol="0" anchor="ctr"/>
          <a:lstStyle/>
          <a:p>
            <a:pPr indent="0" marL="0">
              <a:buNone/>
            </a:pPr>
            <a:r>
              <a:rPr lang="en-US" sz="2600" b="1" dirty="0">
                <a:solidFill>
                  <a:srgbClr val="168A46"/>
                </a:solidFill>
                <a:latin typeface="Calibri" pitchFamily="34" charset="0"/>
                <a:ea typeface="Calibri" pitchFamily="34" charset="-122"/>
                <a:cs typeface="Calibri" pitchFamily="34" charset="-120"/>
              </a:rPr>
              <a:t>4</a:t>
            </a:r>
            <a:endParaRPr lang="en-US" sz="2600" dirty="0"/>
          </a:p>
        </p:txBody>
      </p:sp>
      <p:sp>
        <p:nvSpPr>
          <p:cNvPr id="19" name="Text 17"/>
          <p:cNvSpPr txBox="1"/>
          <p:nvPr/>
        </p:nvSpPr>
        <p:spPr>
          <a:xfrm>
            <a:off x="6995160" y="3355848"/>
            <a:ext cx="4160520" cy="457200"/>
          </a:xfrm>
          <a:prstGeom prst="rect">
            <a:avLst/>
          </a:prstGeom>
          <a:noFill/>
          <a:ln/>
        </p:spPr>
        <p:txBody>
          <a:bodyPr wrap="square" lIns="0" tIns="0" rIns="0" bIns="0" rtlCol="0" anchor="ctr"/>
          <a:lstStyle/>
          <a:p>
            <a:pPr indent="0" marL="0">
              <a:lnSpc>
                <a:spcPct val="105000"/>
              </a:lnSpc>
              <a:buNone/>
            </a:pPr>
            <a:r>
              <a:rPr lang="en-US" sz="1300" b="1" dirty="0">
                <a:solidFill>
                  <a:srgbClr val="142018"/>
                </a:solidFill>
                <a:latin typeface="Calibri" pitchFamily="34" charset="0"/>
                <a:ea typeface="Calibri" pitchFamily="34" charset="-122"/>
                <a:cs typeface="Calibri" pitchFamily="34" charset="-120"/>
              </a:rPr>
              <a:t>Mysuru’s 2026 jurisdiction transition makes routing harder</a:t>
            </a:r>
            <a:endParaRPr lang="en-US" sz="1300" dirty="0"/>
          </a:p>
        </p:txBody>
      </p:sp>
      <p:sp>
        <p:nvSpPr>
          <p:cNvPr id="20" name="Text 18"/>
          <p:cNvSpPr txBox="1"/>
          <p:nvPr/>
        </p:nvSpPr>
        <p:spPr>
          <a:xfrm>
            <a:off x="6995160" y="3831336"/>
            <a:ext cx="4160520" cy="713232"/>
          </a:xfrm>
          <a:prstGeom prst="rect">
            <a:avLst/>
          </a:prstGeom>
          <a:noFill/>
          <a:ln/>
        </p:spPr>
        <p:txBody>
          <a:bodyPr wrap="square" lIns="0" tIns="0" rIns="0" bIns="0" rtlCol="0" anchor="ctr"/>
          <a:lstStyle/>
          <a:p>
            <a:pPr indent="0" marL="0">
              <a:lnSpc>
                <a:spcPct val="110000"/>
              </a:lnSpc>
              <a:buNone/>
            </a:pPr>
            <a:r>
              <a:rPr lang="en-US" sz="1080" dirty="0">
                <a:solidFill>
                  <a:srgbClr val="34433B"/>
                </a:solidFill>
                <a:latin typeface="Calibri" pitchFamily="34" charset="0"/>
                <a:ea typeface="Calibri" pitchFamily="34" charset="-122"/>
                <a:cs typeface="Calibri" pitchFamily="34" charset="-120"/>
              </a:rPr>
              <a:t>Routing must distinguish current operating, notified/future, and historical jurisdiction — time-aware data, not a static list of areas.</a:t>
            </a:r>
            <a:endParaRPr lang="en-US" sz="1080" dirty="0"/>
          </a:p>
        </p:txBody>
      </p:sp>
      <p:sp>
        <p:nvSpPr>
          <p:cNvPr id="21" name="Shape 19"/>
          <p:cNvSpPr/>
          <p:nvPr/>
        </p:nvSpPr>
        <p:spPr>
          <a:xfrm>
            <a:off x="548640" y="4764024"/>
            <a:ext cx="5257800" cy="1371600"/>
          </a:xfrm>
          <a:prstGeom prst="roundRect">
            <a:avLst>
              <a:gd name="adj" fmla="val 6000"/>
            </a:avLst>
          </a:prstGeom>
          <a:solidFill>
            <a:srgbClr val="F2F8F4"/>
          </a:solidFill>
          <a:ln w="12700">
            <a:solidFill>
              <a:srgbClr val="D3E6DA"/>
            </a:solidFill>
            <a:prstDash val="solid"/>
          </a:ln>
          <a:effectLst>
            <a:outerShdw sx="100000" sy="100000" kx="0" ky="0" algn="bl" rotWithShape="0" blurRad="101600" dist="25400" dir="5400000">
              <a:srgbClr val="9CB3A4">
                <a:alpha val="28000"/>
              </a:srgbClr>
            </a:outerShdw>
          </a:effectLst>
        </p:spPr>
      </p:sp>
      <p:sp>
        <p:nvSpPr>
          <p:cNvPr id="22" name="Text 20"/>
          <p:cNvSpPr txBox="1"/>
          <p:nvPr/>
        </p:nvSpPr>
        <p:spPr>
          <a:xfrm>
            <a:off x="713232" y="4892040"/>
            <a:ext cx="822960" cy="548640"/>
          </a:xfrm>
          <a:prstGeom prst="rect">
            <a:avLst/>
          </a:prstGeom>
          <a:noFill/>
          <a:ln/>
        </p:spPr>
        <p:txBody>
          <a:bodyPr wrap="square" lIns="0" tIns="0" rIns="0" bIns="0" rtlCol="0" anchor="ctr"/>
          <a:lstStyle/>
          <a:p>
            <a:pPr indent="0" marL="0">
              <a:buNone/>
            </a:pPr>
            <a:r>
              <a:rPr lang="en-US" sz="2600" b="1" dirty="0">
                <a:solidFill>
                  <a:srgbClr val="168A46"/>
                </a:solidFill>
                <a:latin typeface="Calibri" pitchFamily="34" charset="0"/>
                <a:ea typeface="Calibri" pitchFamily="34" charset="-122"/>
                <a:cs typeface="Calibri" pitchFamily="34" charset="-120"/>
              </a:rPr>
              <a:t>5</a:t>
            </a:r>
            <a:endParaRPr lang="en-US" sz="2600" dirty="0"/>
          </a:p>
        </p:txBody>
      </p:sp>
      <p:sp>
        <p:nvSpPr>
          <p:cNvPr id="23" name="Text 21"/>
          <p:cNvSpPr txBox="1"/>
          <p:nvPr/>
        </p:nvSpPr>
        <p:spPr>
          <a:xfrm>
            <a:off x="1463040" y="4892040"/>
            <a:ext cx="4160520" cy="457200"/>
          </a:xfrm>
          <a:prstGeom prst="rect">
            <a:avLst/>
          </a:prstGeom>
          <a:noFill/>
          <a:ln/>
        </p:spPr>
        <p:txBody>
          <a:bodyPr wrap="square" lIns="0" tIns="0" rIns="0" bIns="0" rtlCol="0" anchor="ctr"/>
          <a:lstStyle/>
          <a:p>
            <a:pPr indent="0" marL="0">
              <a:lnSpc>
                <a:spcPct val="105000"/>
              </a:lnSpc>
              <a:buNone/>
            </a:pPr>
            <a:r>
              <a:rPr lang="en-US" sz="1300" b="1" dirty="0">
                <a:solidFill>
                  <a:srgbClr val="142018"/>
                </a:solidFill>
                <a:latin typeface="Calibri" pitchFamily="34" charset="0"/>
                <a:ea typeface="Calibri" pitchFamily="34" charset="-122"/>
                <a:cs typeface="Calibri" pitchFamily="34" charset="-120"/>
              </a:rPr>
              <a:t>Manual routing can create delays</a:t>
            </a:r>
            <a:endParaRPr lang="en-US" sz="1300" dirty="0"/>
          </a:p>
        </p:txBody>
      </p:sp>
      <p:sp>
        <p:nvSpPr>
          <p:cNvPr id="24" name="Text 22"/>
          <p:cNvSpPr txBox="1"/>
          <p:nvPr/>
        </p:nvSpPr>
        <p:spPr>
          <a:xfrm>
            <a:off x="1463040" y="5367528"/>
            <a:ext cx="4160520" cy="713232"/>
          </a:xfrm>
          <a:prstGeom prst="rect">
            <a:avLst/>
          </a:prstGeom>
          <a:noFill/>
          <a:ln/>
        </p:spPr>
        <p:txBody>
          <a:bodyPr wrap="square" lIns="0" tIns="0" rIns="0" bIns="0" rtlCol="0" anchor="ctr"/>
          <a:lstStyle/>
          <a:p>
            <a:pPr indent="0" marL="0">
              <a:lnSpc>
                <a:spcPct val="110000"/>
              </a:lnSpc>
              <a:buNone/>
            </a:pPr>
            <a:r>
              <a:rPr lang="en-US" sz="1080" dirty="0">
                <a:solidFill>
                  <a:srgbClr val="34433B"/>
                </a:solidFill>
                <a:latin typeface="Calibri" pitchFamily="34" charset="0"/>
                <a:ea typeface="Calibri" pitchFamily="34" charset="-122"/>
                <a:cs typeface="Calibri" pitchFamily="34" charset="-120"/>
              </a:rPr>
              <a:t>A wrong-office complaint needs redirecting before action: Citizen → Complaint → Wrong authority → Redirect / clarification → Correct authority → Action.</a:t>
            </a:r>
            <a:endParaRPr lang="en-US" sz="1080" dirty="0"/>
          </a:p>
        </p:txBody>
      </p:sp>
      <p:sp>
        <p:nvSpPr>
          <p:cNvPr id="25" name="Shape 23"/>
          <p:cNvSpPr/>
          <p:nvPr/>
        </p:nvSpPr>
        <p:spPr>
          <a:xfrm>
            <a:off x="6080760" y="4764024"/>
            <a:ext cx="5257800" cy="1371600"/>
          </a:xfrm>
          <a:prstGeom prst="roundRect">
            <a:avLst>
              <a:gd name="adj" fmla="val 6000"/>
            </a:avLst>
          </a:prstGeom>
          <a:solidFill>
            <a:srgbClr val="E6F3EA"/>
          </a:solidFill>
          <a:ln w="12700">
            <a:solidFill>
              <a:srgbClr val="168A46"/>
            </a:solidFill>
            <a:prstDash val="solid"/>
          </a:ln>
          <a:effectLst>
            <a:outerShdw sx="100000" sy="100000" kx="0" ky="0" algn="bl" rotWithShape="0" blurRad="101600" dist="25400" dir="5400000">
              <a:srgbClr val="9CB3A4">
                <a:alpha val="28000"/>
              </a:srgbClr>
            </a:outerShdw>
          </a:effectLst>
        </p:spPr>
      </p:sp>
      <p:sp>
        <p:nvSpPr>
          <p:cNvPr id="26" name="Text 24"/>
          <p:cNvSpPr txBox="1"/>
          <p:nvPr/>
        </p:nvSpPr>
        <p:spPr>
          <a:xfrm>
            <a:off x="6281928" y="4910328"/>
            <a:ext cx="4855464" cy="274320"/>
          </a:xfrm>
          <a:prstGeom prst="rect">
            <a:avLst/>
          </a:prstGeom>
          <a:noFill/>
          <a:ln/>
        </p:spPr>
        <p:txBody>
          <a:bodyPr wrap="square" lIns="0" tIns="0" rIns="0" bIns="0" rtlCol="0" anchor="ctr"/>
          <a:lstStyle/>
          <a:p>
            <a:pPr indent="0" marL="0">
              <a:buNone/>
            </a:pPr>
            <a:r>
              <a:rPr lang="en-US" sz="1150" b="1" spc="50" kern="0" dirty="0">
                <a:solidFill>
                  <a:srgbClr val="0F6334"/>
                </a:solidFill>
                <a:latin typeface="Calibri" pitchFamily="34" charset="0"/>
                <a:ea typeface="Calibri" pitchFamily="34" charset="-122"/>
                <a:cs typeface="Calibri" pitchFamily="34" charset="-120"/>
              </a:rPr>
              <a:t>Especially critical because</a:t>
            </a:r>
            <a:endParaRPr lang="en-US" sz="1150" dirty="0"/>
          </a:p>
        </p:txBody>
      </p:sp>
      <p:sp>
        <p:nvSpPr>
          <p:cNvPr id="27" name="Text 25"/>
          <p:cNvSpPr txBox="1"/>
          <p:nvPr/>
        </p:nvSpPr>
        <p:spPr>
          <a:xfrm>
            <a:off x="6281928" y="5239512"/>
            <a:ext cx="4855464" cy="822960"/>
          </a:xfrm>
          <a:prstGeom prst="rect">
            <a:avLst/>
          </a:prstGeom>
          <a:noFill/>
          <a:ln/>
        </p:spPr>
        <p:txBody>
          <a:bodyPr wrap="square" lIns="0" tIns="0" rIns="0" bIns="0" rtlCol="0" anchor="ctr"/>
          <a:lstStyle/>
          <a:p>
            <a:pPr indent="0" marL="0">
              <a:lnSpc>
                <a:spcPct val="115000"/>
              </a:lnSpc>
              <a:buNone/>
            </a:pPr>
            <a:r>
              <a:rPr lang="en-US" sz="1130" i="1" dirty="0">
                <a:solidFill>
                  <a:srgbClr val="34433B"/>
                </a:solidFill>
                <a:latin typeface="Calibri" pitchFamily="34" charset="0"/>
                <a:ea typeface="Calibri" pitchFamily="34" charset="-122"/>
                <a:cs typeface="Calibri" pitchFamily="34" charset="-120"/>
              </a:rPr>
              <a:t>Mysuru’s planned Greater Mysuru expansion is happening now — which means jurisdiction data cannot be static; it needs to stay accurate as boundaries change.</a:t>
            </a:r>
            <a:endParaRPr lang="en-US" sz="1130" dirty="0"/>
          </a:p>
        </p:txBody>
      </p:sp>
      <p:sp>
        <p:nvSpPr>
          <p:cNvPr id="28" name="Text 26"/>
          <p:cNvSpPr txBox="1"/>
          <p:nvPr/>
        </p:nvSpPr>
        <p:spPr>
          <a:xfrm>
            <a:off x="11368735" y="6400800"/>
            <a:ext cx="548640" cy="274320"/>
          </a:xfrm>
          <a:prstGeom prst="rect">
            <a:avLst/>
          </a:prstGeom>
          <a:noFill/>
          <a:ln/>
        </p:spPr>
        <p:txBody>
          <a:bodyPr wrap="square" lIns="0" tIns="0" rIns="0" bIns="0" rtlCol="0" anchor="ctr"/>
          <a:lstStyle/>
          <a:p>
            <a:pPr algn="r" indent="0" marL="0">
              <a:buNone/>
            </a:pPr>
            <a:r>
              <a:rPr lang="en-US" sz="1000" dirty="0">
                <a:solidFill>
                  <a:srgbClr val="6C7D71"/>
                </a:solidFill>
                <a:latin typeface="Calibri" pitchFamily="34" charset="0"/>
                <a:ea typeface="Calibri" pitchFamily="34" charset="-122"/>
                <a:cs typeface="Calibri" pitchFamily="34" charset="-120"/>
              </a:rPr>
              <a:t>04</a:t>
            </a:r>
            <a:endParaRPr lang="en-US" sz="1000" dirty="0"/>
          </a:p>
        </p:txBody>
      </p:sp>
      <p:sp>
        <p:nvSpPr>
          <p:cNvPr id="29" name="Text 27"/>
          <p:cNvSpPr txBox="1"/>
          <p:nvPr/>
        </p:nvSpPr>
        <p:spPr>
          <a:xfrm>
            <a:off x="548640" y="6400800"/>
            <a:ext cx="3657600" cy="274320"/>
          </a:xfrm>
          <a:prstGeom prst="rect">
            <a:avLst/>
          </a:prstGeom>
          <a:noFill/>
          <a:ln/>
        </p:spPr>
        <p:txBody>
          <a:bodyPr wrap="square" lIns="0" tIns="0" rIns="0" bIns="0" rtlCol="0" anchor="ctr"/>
          <a:lstStyle/>
          <a:p>
            <a:pPr indent="0" marL="0">
              <a:buNone/>
            </a:pPr>
            <a:r>
              <a:rPr lang="en-US" sz="900" spc="200" kern="0" dirty="0">
                <a:solidFill>
                  <a:srgbClr val="6C7D71"/>
                </a:solidFill>
                <a:latin typeface="Calibri" pitchFamily="34" charset="0"/>
                <a:ea typeface="Calibri" pitchFamily="34" charset="-122"/>
                <a:cs typeface="Calibri" pitchFamily="34" charset="-120"/>
              </a:rPr>
              <a:t>SAMAGRA MYSURU</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10058400" y="4846320"/>
            <a:ext cx="3840480" cy="3840480"/>
          </a:xfrm>
          <a:prstGeom prst="ellipse">
            <a:avLst/>
          </a:prstGeom>
          <a:solidFill>
            <a:srgbClr val="F2F8F4">
              <a:alpha val="75000"/>
            </a:srgbClr>
          </a:solidFill>
          <a:ln/>
        </p:spPr>
      </p:sp>
      <p:sp>
        <p:nvSpPr>
          <p:cNvPr id="3" name="Text 1"/>
          <p:cNvSpPr txBox="1"/>
          <p:nvPr/>
        </p:nvSpPr>
        <p:spPr>
          <a:xfrm>
            <a:off x="548640" y="384048"/>
            <a:ext cx="9601200" cy="320040"/>
          </a:xfrm>
          <a:prstGeom prst="rect">
            <a:avLst/>
          </a:prstGeom>
          <a:noFill/>
          <a:ln/>
        </p:spPr>
        <p:txBody>
          <a:bodyPr wrap="square" lIns="0" tIns="0" rIns="0" bIns="0" rtlCol="0" anchor="ctr"/>
          <a:lstStyle/>
          <a:p>
            <a:pPr indent="0" marL="0">
              <a:buNone/>
            </a:pPr>
            <a:r>
              <a:rPr lang="en-US" sz="1250" b="1" spc="250" kern="0" dirty="0">
                <a:solidFill>
                  <a:srgbClr val="168A46"/>
                </a:solidFill>
                <a:latin typeface="Calibri" pitchFamily="34" charset="0"/>
                <a:ea typeface="Calibri" pitchFamily="34" charset="-122"/>
                <a:cs typeface="Calibri" pitchFamily="34" charset="-120"/>
              </a:rPr>
              <a:t>YOUR SOLUTION</a:t>
            </a:r>
            <a:endParaRPr lang="en-US" sz="1250" dirty="0"/>
          </a:p>
        </p:txBody>
      </p:sp>
      <p:sp>
        <p:nvSpPr>
          <p:cNvPr id="4" name="Text 2"/>
          <p:cNvSpPr txBox="1"/>
          <p:nvPr/>
        </p:nvSpPr>
        <p:spPr>
          <a:xfrm>
            <a:off x="548640" y="658368"/>
            <a:ext cx="9601200" cy="685800"/>
          </a:xfrm>
          <a:prstGeom prst="rect">
            <a:avLst/>
          </a:prstGeom>
          <a:noFill/>
          <a:ln/>
        </p:spPr>
        <p:txBody>
          <a:bodyPr wrap="square" lIns="0" tIns="0" rIns="0" bIns="0" rtlCol="0" anchor="ctr"/>
          <a:lstStyle/>
          <a:p>
            <a:pPr indent="0" marL="0">
              <a:buNone/>
            </a:pPr>
            <a:r>
              <a:rPr lang="en-US" sz="2800" b="1" dirty="0">
                <a:solidFill>
                  <a:srgbClr val="142018"/>
                </a:solidFill>
                <a:latin typeface="Calibri" pitchFamily="34" charset="0"/>
                <a:ea typeface="Calibri" pitchFamily="34" charset="-122"/>
                <a:cs typeface="Calibri" pitchFamily="34" charset="-120"/>
              </a:rPr>
              <a:t>SAMAGRA MYSURU</a:t>
            </a:r>
            <a:endParaRPr lang="en-US" sz="2800" dirty="0"/>
          </a:p>
        </p:txBody>
      </p:sp>
      <p:sp>
        <p:nvSpPr>
          <p:cNvPr id="5" name="Text 3"/>
          <p:cNvSpPr txBox="1"/>
          <p:nvPr/>
        </p:nvSpPr>
        <p:spPr>
          <a:xfrm>
            <a:off x="548640" y="1188720"/>
            <a:ext cx="8229600" cy="365760"/>
          </a:xfrm>
          <a:prstGeom prst="rect">
            <a:avLst/>
          </a:prstGeom>
          <a:noFill/>
          <a:ln/>
        </p:spPr>
        <p:txBody>
          <a:bodyPr wrap="square" lIns="0" tIns="0" rIns="0" bIns="0" rtlCol="0" anchor="ctr"/>
          <a:lstStyle/>
          <a:p>
            <a:pPr indent="0" marL="0">
              <a:buNone/>
            </a:pPr>
            <a:r>
              <a:rPr lang="en-US" sz="1450" i="1" dirty="0">
                <a:solidFill>
                  <a:srgbClr val="34433B"/>
                </a:solidFill>
                <a:latin typeface="Calibri" pitchFamily="34" charset="0"/>
                <a:ea typeface="Calibri" pitchFamily="34" charset="-122"/>
                <a:cs typeface="Calibri" pitchFamily="34" charset="-120"/>
              </a:rPr>
              <a:t>A location-aware civic complaint routing system</a:t>
            </a:r>
            <a:endParaRPr lang="en-US" sz="1450" dirty="0"/>
          </a:p>
        </p:txBody>
      </p:sp>
      <p:sp>
        <p:nvSpPr>
          <p:cNvPr id="6" name="Shape 4"/>
          <p:cNvSpPr/>
          <p:nvPr/>
        </p:nvSpPr>
        <p:spPr>
          <a:xfrm>
            <a:off x="548640" y="1737360"/>
            <a:ext cx="3246120" cy="822960"/>
          </a:xfrm>
          <a:prstGeom prst="roundRect">
            <a:avLst>
              <a:gd name="adj" fmla="val 10000"/>
            </a:avLst>
          </a:prstGeom>
          <a:solidFill>
            <a:srgbClr val="E6F3EA"/>
          </a:solidFill>
          <a:ln w="12700">
            <a:solidFill>
              <a:srgbClr val="D3E6DA"/>
            </a:solidFill>
            <a:prstDash val="solid"/>
          </a:ln>
          <a:effectLst>
            <a:outerShdw sx="100000" sy="100000" kx="0" ky="0" algn="bl" rotWithShape="0" blurRad="101600" dist="25400" dir="5400000">
              <a:srgbClr val="9CB3A4">
                <a:alpha val="28000"/>
              </a:srgbClr>
            </a:outerShdw>
          </a:effectLst>
        </p:spPr>
      </p:sp>
      <p:sp>
        <p:nvSpPr>
          <p:cNvPr id="7" name="Text 5"/>
          <p:cNvSpPr txBox="1"/>
          <p:nvPr/>
        </p:nvSpPr>
        <p:spPr>
          <a:xfrm>
            <a:off x="777240" y="1828800"/>
            <a:ext cx="2743200" cy="320040"/>
          </a:xfrm>
          <a:prstGeom prst="rect">
            <a:avLst/>
          </a:prstGeom>
          <a:noFill/>
          <a:ln/>
        </p:spPr>
        <p:txBody>
          <a:bodyPr wrap="square" lIns="0" tIns="0" rIns="0" bIns="0" rtlCol="0" anchor="ctr"/>
          <a:lstStyle/>
          <a:p>
            <a:pPr indent="0" marL="0">
              <a:buNone/>
            </a:pPr>
            <a:r>
              <a:rPr lang="en-US" sz="1300" b="1" dirty="0">
                <a:solidFill>
                  <a:srgbClr val="0F6334"/>
                </a:solidFill>
                <a:latin typeface="Calibri" pitchFamily="34" charset="0"/>
                <a:ea typeface="Calibri" pitchFamily="34" charset="-122"/>
                <a:cs typeface="Calibri" pitchFamily="34" charset="-120"/>
              </a:rPr>
              <a:t>📍  WHERE</a:t>
            </a:r>
            <a:endParaRPr lang="en-US" sz="1300" dirty="0"/>
          </a:p>
        </p:txBody>
      </p:sp>
      <p:sp>
        <p:nvSpPr>
          <p:cNvPr id="8" name="Text 6"/>
          <p:cNvSpPr txBox="1"/>
          <p:nvPr/>
        </p:nvSpPr>
        <p:spPr>
          <a:xfrm>
            <a:off x="777240" y="2157984"/>
            <a:ext cx="2834640" cy="365760"/>
          </a:xfrm>
          <a:prstGeom prst="rect">
            <a:avLst/>
          </a:prstGeom>
          <a:noFill/>
          <a:ln/>
        </p:spPr>
        <p:txBody>
          <a:bodyPr wrap="square" lIns="0" tIns="0" rIns="0" bIns="0" rtlCol="0" anchor="ctr"/>
          <a:lstStyle/>
          <a:p>
            <a:pPr indent="0" marL="0">
              <a:buNone/>
            </a:pPr>
            <a:r>
              <a:rPr lang="en-US" sz="1100" dirty="0">
                <a:solidFill>
                  <a:srgbClr val="34433B"/>
                </a:solidFill>
                <a:latin typeface="Calibri" pitchFamily="34" charset="0"/>
                <a:ea typeface="Calibri" pitchFamily="34" charset="-122"/>
                <a:cs typeface="Calibri" pitchFamily="34" charset="-120"/>
              </a:rPr>
              <a:t>the problem occurs</a:t>
            </a:r>
            <a:endParaRPr lang="en-US" sz="1100" dirty="0"/>
          </a:p>
        </p:txBody>
      </p:sp>
      <p:sp>
        <p:nvSpPr>
          <p:cNvPr id="9" name="Text 7"/>
          <p:cNvSpPr txBox="1"/>
          <p:nvPr/>
        </p:nvSpPr>
        <p:spPr>
          <a:xfrm>
            <a:off x="3858768" y="1901952"/>
            <a:ext cx="457200" cy="502920"/>
          </a:xfrm>
          <a:prstGeom prst="rect">
            <a:avLst/>
          </a:prstGeom>
          <a:noFill/>
          <a:ln/>
        </p:spPr>
        <p:txBody>
          <a:bodyPr wrap="square" lIns="0" tIns="0" rIns="0" bIns="0" rtlCol="0" anchor="ctr"/>
          <a:lstStyle/>
          <a:p>
            <a:pPr algn="ctr" indent="0" marL="0">
              <a:buNone/>
            </a:pPr>
            <a:r>
              <a:rPr lang="en-US" sz="2400" b="1" dirty="0">
                <a:solidFill>
                  <a:srgbClr val="6C7D71"/>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4370832" y="1737360"/>
            <a:ext cx="3246120" cy="822960"/>
          </a:xfrm>
          <a:prstGeom prst="roundRect">
            <a:avLst>
              <a:gd name="adj" fmla="val 10000"/>
            </a:avLst>
          </a:prstGeom>
          <a:solidFill>
            <a:srgbClr val="E6F3EA"/>
          </a:solidFill>
          <a:ln w="12700">
            <a:solidFill>
              <a:srgbClr val="D3E6DA"/>
            </a:solidFill>
            <a:prstDash val="solid"/>
          </a:ln>
          <a:effectLst>
            <a:outerShdw sx="100000" sy="100000" kx="0" ky="0" algn="bl" rotWithShape="0" blurRad="101600" dist="25400" dir="5400000">
              <a:srgbClr val="9CB3A4">
                <a:alpha val="28000"/>
              </a:srgbClr>
            </a:outerShdw>
          </a:effectLst>
        </p:spPr>
      </p:sp>
      <p:sp>
        <p:nvSpPr>
          <p:cNvPr id="11" name="Text 9"/>
          <p:cNvSpPr txBox="1"/>
          <p:nvPr/>
        </p:nvSpPr>
        <p:spPr>
          <a:xfrm>
            <a:off x="4599432" y="1828800"/>
            <a:ext cx="2743200" cy="320040"/>
          </a:xfrm>
          <a:prstGeom prst="rect">
            <a:avLst/>
          </a:prstGeom>
          <a:noFill/>
          <a:ln/>
        </p:spPr>
        <p:txBody>
          <a:bodyPr wrap="square" lIns="0" tIns="0" rIns="0" bIns="0" rtlCol="0" anchor="ctr"/>
          <a:lstStyle/>
          <a:p>
            <a:pPr indent="0" marL="0">
              <a:buNone/>
            </a:pPr>
            <a:r>
              <a:rPr lang="en-US" sz="1300" b="1" dirty="0">
                <a:solidFill>
                  <a:srgbClr val="0F6334"/>
                </a:solidFill>
                <a:latin typeface="Calibri" pitchFamily="34" charset="0"/>
                <a:ea typeface="Calibri" pitchFamily="34" charset="-122"/>
                <a:cs typeface="Calibri" pitchFamily="34" charset="-120"/>
              </a:rPr>
              <a:t>📝  WHAT</a:t>
            </a:r>
            <a:endParaRPr lang="en-US" sz="1300" dirty="0"/>
          </a:p>
        </p:txBody>
      </p:sp>
      <p:sp>
        <p:nvSpPr>
          <p:cNvPr id="12" name="Text 10"/>
          <p:cNvSpPr txBox="1"/>
          <p:nvPr/>
        </p:nvSpPr>
        <p:spPr>
          <a:xfrm>
            <a:off x="4599432" y="2157984"/>
            <a:ext cx="2834640" cy="365760"/>
          </a:xfrm>
          <a:prstGeom prst="rect">
            <a:avLst/>
          </a:prstGeom>
          <a:noFill/>
          <a:ln/>
        </p:spPr>
        <p:txBody>
          <a:bodyPr wrap="square" lIns="0" tIns="0" rIns="0" bIns="0" rtlCol="0" anchor="ctr"/>
          <a:lstStyle/>
          <a:p>
            <a:pPr indent="0" marL="0">
              <a:buNone/>
            </a:pPr>
            <a:r>
              <a:rPr lang="en-US" sz="1100" dirty="0">
                <a:solidFill>
                  <a:srgbClr val="34433B"/>
                </a:solidFill>
                <a:latin typeface="Calibri" pitchFamily="34" charset="0"/>
                <a:ea typeface="Calibri" pitchFamily="34" charset="-122"/>
                <a:cs typeface="Calibri" pitchFamily="34" charset="-120"/>
              </a:rPr>
              <a:t>the problem is</a:t>
            </a:r>
            <a:endParaRPr lang="en-US" sz="1100" dirty="0"/>
          </a:p>
        </p:txBody>
      </p:sp>
      <p:sp>
        <p:nvSpPr>
          <p:cNvPr id="13" name="Shape 11"/>
          <p:cNvSpPr/>
          <p:nvPr/>
        </p:nvSpPr>
        <p:spPr>
          <a:xfrm>
            <a:off x="7699248" y="2066544"/>
            <a:ext cx="292608" cy="164592"/>
          </a:xfrm>
          <a:prstGeom prst="rightArrow">
            <a:avLst/>
          </a:prstGeom>
          <a:solidFill>
            <a:srgbClr val="168A46"/>
          </a:solidFill>
          <a:ln/>
        </p:spPr>
      </p:sp>
      <p:sp>
        <p:nvSpPr>
          <p:cNvPr id="14" name="Shape 12"/>
          <p:cNvSpPr/>
          <p:nvPr/>
        </p:nvSpPr>
        <p:spPr>
          <a:xfrm>
            <a:off x="8092440" y="1737360"/>
            <a:ext cx="3547872" cy="822960"/>
          </a:xfrm>
          <a:prstGeom prst="roundRect">
            <a:avLst>
              <a:gd name="adj" fmla="val 10000"/>
            </a:avLst>
          </a:prstGeom>
          <a:solidFill>
            <a:srgbClr val="E6F3EA"/>
          </a:solidFill>
          <a:ln w="12700">
            <a:solidFill>
              <a:srgbClr val="168A46"/>
            </a:solidFill>
            <a:prstDash val="solid"/>
          </a:ln>
          <a:effectLst>
            <a:outerShdw sx="100000" sy="100000" kx="0" ky="0" algn="bl" rotWithShape="0" blurRad="101600" dist="25400" dir="5400000">
              <a:srgbClr val="9CB3A4">
                <a:alpha val="28000"/>
              </a:srgbClr>
            </a:outerShdw>
          </a:effectLst>
        </p:spPr>
      </p:sp>
      <p:sp>
        <p:nvSpPr>
          <p:cNvPr id="15" name="Text 13"/>
          <p:cNvSpPr txBox="1"/>
          <p:nvPr/>
        </p:nvSpPr>
        <p:spPr>
          <a:xfrm>
            <a:off x="8321040" y="1828800"/>
            <a:ext cx="3108960" cy="320040"/>
          </a:xfrm>
          <a:prstGeom prst="rect">
            <a:avLst/>
          </a:prstGeom>
          <a:noFill/>
          <a:ln/>
        </p:spPr>
        <p:txBody>
          <a:bodyPr wrap="square" lIns="0" tIns="0" rIns="0" bIns="0" rtlCol="0" anchor="ctr"/>
          <a:lstStyle/>
          <a:p>
            <a:pPr indent="0" marL="0">
              <a:buNone/>
            </a:pPr>
            <a:r>
              <a:rPr lang="en-US" sz="1300" b="1" dirty="0">
                <a:solidFill>
                  <a:srgbClr val="0F6334"/>
                </a:solidFill>
                <a:latin typeface="Calibri" pitchFamily="34" charset="0"/>
                <a:ea typeface="Calibri" pitchFamily="34" charset="-122"/>
                <a:cs typeface="Calibri" pitchFamily="34" charset="-120"/>
              </a:rPr>
              <a:t>🏢  WHO</a:t>
            </a:r>
            <a:endParaRPr lang="en-US" sz="1300" dirty="0"/>
          </a:p>
        </p:txBody>
      </p:sp>
      <p:sp>
        <p:nvSpPr>
          <p:cNvPr id="16" name="Text 14"/>
          <p:cNvSpPr txBox="1"/>
          <p:nvPr/>
        </p:nvSpPr>
        <p:spPr>
          <a:xfrm>
            <a:off x="8321040" y="2157984"/>
            <a:ext cx="3200400" cy="365760"/>
          </a:xfrm>
          <a:prstGeom prst="rect">
            <a:avLst/>
          </a:prstGeom>
          <a:noFill/>
          <a:ln/>
        </p:spPr>
        <p:txBody>
          <a:bodyPr wrap="square" lIns="0" tIns="0" rIns="0" bIns="0" rtlCol="0" anchor="ctr"/>
          <a:lstStyle/>
          <a:p>
            <a:pPr indent="0" marL="0">
              <a:buNone/>
            </a:pPr>
            <a:r>
              <a:rPr lang="en-US" sz="1100" b="1" dirty="0">
                <a:solidFill>
                  <a:srgbClr val="142018"/>
                </a:solidFill>
                <a:latin typeface="Calibri" pitchFamily="34" charset="0"/>
                <a:ea typeface="Calibri" pitchFamily="34" charset="-122"/>
                <a:cs typeface="Calibri" pitchFamily="34" charset="-120"/>
              </a:rPr>
              <a:t>should handle it</a:t>
            </a:r>
            <a:endParaRPr lang="en-US" sz="1100" dirty="0"/>
          </a:p>
        </p:txBody>
      </p:sp>
      <p:sp>
        <p:nvSpPr>
          <p:cNvPr id="17" name="Text 15"/>
          <p:cNvSpPr txBox="1"/>
          <p:nvPr/>
        </p:nvSpPr>
        <p:spPr>
          <a:xfrm>
            <a:off x="548640" y="2697480"/>
            <a:ext cx="11091672" cy="365760"/>
          </a:xfrm>
          <a:prstGeom prst="rect">
            <a:avLst/>
          </a:prstGeom>
          <a:noFill/>
          <a:ln/>
        </p:spPr>
        <p:txBody>
          <a:bodyPr wrap="square" lIns="0" tIns="0" rIns="0" bIns="0" rtlCol="0" anchor="ctr"/>
          <a:lstStyle/>
          <a:p>
            <a:pPr algn="ctr" indent="0" marL="0">
              <a:buNone/>
            </a:pPr>
            <a:r>
              <a:rPr lang="en-US" sz="1150" i="1" dirty="0">
                <a:solidFill>
                  <a:srgbClr val="6C7D71"/>
                </a:solidFill>
                <a:latin typeface="Calibri" pitchFamily="34" charset="0"/>
                <a:ea typeface="Calibri" pitchFamily="34" charset="-122"/>
                <a:cs typeface="Calibri" pitchFamily="34" charset="-120"/>
              </a:rPr>
              <a:t>“By combining WHERE the problem occurs with WHAT the problem is, our system determines WHO should handle it.”</a:t>
            </a:r>
            <a:endParaRPr lang="en-US" sz="1150" dirty="0"/>
          </a:p>
        </p:txBody>
      </p:sp>
      <p:sp>
        <p:nvSpPr>
          <p:cNvPr id="18" name="Shape 16"/>
          <p:cNvSpPr/>
          <p:nvPr/>
        </p:nvSpPr>
        <p:spPr>
          <a:xfrm>
            <a:off x="548640" y="3200400"/>
            <a:ext cx="3456432" cy="2880360"/>
          </a:xfrm>
          <a:prstGeom prst="roundRect">
            <a:avLst>
              <a:gd name="adj" fmla="val 2857"/>
            </a:avLst>
          </a:prstGeom>
          <a:solidFill>
            <a:srgbClr val="F2F8F4"/>
          </a:solidFill>
          <a:ln w="12700">
            <a:solidFill>
              <a:srgbClr val="D3E6DA"/>
            </a:solidFill>
            <a:prstDash val="solid"/>
          </a:ln>
          <a:effectLst>
            <a:outerShdw sx="100000" sy="100000" kx="0" ky="0" algn="bl" rotWithShape="0" blurRad="101600" dist="25400" dir="5400000">
              <a:srgbClr val="9CB3A4">
                <a:alpha val="28000"/>
              </a:srgbClr>
            </a:outerShdw>
          </a:effectLst>
        </p:spPr>
      </p:sp>
      <p:sp>
        <p:nvSpPr>
          <p:cNvPr id="19" name="Shape 17"/>
          <p:cNvSpPr/>
          <p:nvPr/>
        </p:nvSpPr>
        <p:spPr>
          <a:xfrm>
            <a:off x="749808" y="3401568"/>
            <a:ext cx="457200" cy="457200"/>
          </a:xfrm>
          <a:prstGeom prst="ellipse">
            <a:avLst/>
          </a:prstGeom>
          <a:solidFill>
            <a:srgbClr val="E6F3EA"/>
          </a:solidFill>
          <a:ln w="12700">
            <a:solidFill>
              <a:srgbClr val="D3E6DA"/>
            </a:solidFill>
            <a:prstDash val="solid"/>
          </a:ln>
        </p:spPr>
      </p:sp>
      <p:sp>
        <p:nvSpPr>
          <p:cNvPr id="20" name="Text 18"/>
          <p:cNvSpPr txBox="1"/>
          <p:nvPr/>
        </p:nvSpPr>
        <p:spPr>
          <a:xfrm>
            <a:off x="749808" y="3383280"/>
            <a:ext cx="457200" cy="457200"/>
          </a:xfrm>
          <a:prstGeom prst="rect">
            <a:avLst/>
          </a:prstGeom>
          <a:noFill/>
          <a:ln/>
        </p:spPr>
        <p:txBody>
          <a:bodyPr wrap="square" lIns="0" tIns="0" rIns="0" bIns="0" rtlCol="0" anchor="ctr"/>
          <a:lstStyle/>
          <a:p>
            <a:pPr algn="ctr" indent="0" marL="0">
              <a:buNone/>
            </a:pPr>
            <a:r>
              <a:rPr lang="en-US" sz="2000" b="1" dirty="0">
                <a:solidFill>
                  <a:srgbClr val="168A46"/>
                </a:solidFill>
                <a:latin typeface="Calibri" pitchFamily="34" charset="0"/>
                <a:ea typeface="Calibri" pitchFamily="34" charset="-122"/>
                <a:cs typeface="Calibri" pitchFamily="34" charset="-120"/>
              </a:rPr>
              <a:t>◉</a:t>
            </a:r>
            <a:endParaRPr lang="en-US" sz="2000" dirty="0"/>
          </a:p>
        </p:txBody>
      </p:sp>
      <p:sp>
        <p:nvSpPr>
          <p:cNvPr id="21" name="Text 19"/>
          <p:cNvSpPr txBox="1"/>
          <p:nvPr/>
        </p:nvSpPr>
        <p:spPr>
          <a:xfrm>
            <a:off x="1325880" y="3383280"/>
            <a:ext cx="2542032" cy="502920"/>
          </a:xfrm>
          <a:prstGeom prst="rect">
            <a:avLst/>
          </a:prstGeom>
          <a:noFill/>
          <a:ln/>
        </p:spPr>
        <p:txBody>
          <a:bodyPr wrap="square" lIns="0" tIns="0" rIns="0" bIns="0" rtlCol="0" anchor="ctr"/>
          <a:lstStyle/>
          <a:p>
            <a:pPr indent="0" marL="0">
              <a:lnSpc>
                <a:spcPct val="105000"/>
              </a:lnSpc>
              <a:buNone/>
            </a:pPr>
            <a:r>
              <a:rPr lang="en-US" sz="1200" b="1" dirty="0">
                <a:solidFill>
                  <a:srgbClr val="142018"/>
                </a:solidFill>
                <a:latin typeface="Calibri" pitchFamily="34" charset="0"/>
                <a:ea typeface="Calibri" pitchFamily="34" charset="-122"/>
                <a:cs typeface="Calibri" pitchFamily="34" charset="-120"/>
              </a:rPr>
              <a:t>What our app/product does</a:t>
            </a:r>
            <a:endParaRPr lang="en-US" sz="1200" dirty="0"/>
          </a:p>
        </p:txBody>
      </p:sp>
      <p:sp>
        <p:nvSpPr>
          <p:cNvPr id="22" name="Text 20"/>
          <p:cNvSpPr txBox="1"/>
          <p:nvPr/>
        </p:nvSpPr>
        <p:spPr>
          <a:xfrm>
            <a:off x="768096" y="4023360"/>
            <a:ext cx="3017520" cy="1874520"/>
          </a:xfrm>
          <a:prstGeom prst="rect">
            <a:avLst/>
          </a:prstGeom>
          <a:noFill/>
          <a:ln/>
        </p:spPr>
        <p:txBody>
          <a:bodyPr wrap="square" lIns="0" tIns="0" rIns="0" bIns="0" rtlCol="0" anchor="ctr"/>
          <a:lstStyle/>
          <a:p>
            <a:pPr indent="0" marL="0">
              <a:lnSpc>
                <a:spcPct val="118000"/>
              </a:lnSpc>
              <a:buNone/>
            </a:pPr>
            <a:r>
              <a:rPr lang="en-US" sz="1130" dirty="0">
                <a:solidFill>
                  <a:srgbClr val="34433B"/>
                </a:solidFill>
                <a:latin typeface="Calibri" pitchFamily="34" charset="0"/>
                <a:ea typeface="Calibri" pitchFamily="34" charset="-122"/>
                <a:cs typeface="Calibri" pitchFamily="34" charset="-120"/>
              </a:rPr>
              <a:t>A citizen can report a problem such as garbage, road damage, drainage, or a streetlight issue. The system uses the complaint type and geographic location to determine where the complaint should be routed.</a:t>
            </a:r>
            <a:endParaRPr lang="en-US" sz="1130" dirty="0"/>
          </a:p>
        </p:txBody>
      </p:sp>
      <p:sp>
        <p:nvSpPr>
          <p:cNvPr id="23" name="Shape 21"/>
          <p:cNvSpPr/>
          <p:nvPr/>
        </p:nvSpPr>
        <p:spPr>
          <a:xfrm>
            <a:off x="4187952" y="3200400"/>
            <a:ext cx="3456432" cy="2880360"/>
          </a:xfrm>
          <a:prstGeom prst="roundRect">
            <a:avLst>
              <a:gd name="adj" fmla="val 2857"/>
            </a:avLst>
          </a:prstGeom>
          <a:solidFill>
            <a:srgbClr val="F2F8F4"/>
          </a:solidFill>
          <a:ln w="12700">
            <a:solidFill>
              <a:srgbClr val="D3E6DA"/>
            </a:solidFill>
            <a:prstDash val="solid"/>
          </a:ln>
          <a:effectLst>
            <a:outerShdw sx="100000" sy="100000" kx="0" ky="0" algn="bl" rotWithShape="0" blurRad="101600" dist="25400" dir="5400000">
              <a:srgbClr val="9CB3A4">
                <a:alpha val="28000"/>
              </a:srgbClr>
            </a:outerShdw>
          </a:effectLst>
        </p:spPr>
      </p:sp>
      <p:sp>
        <p:nvSpPr>
          <p:cNvPr id="24" name="Shape 22"/>
          <p:cNvSpPr/>
          <p:nvPr/>
        </p:nvSpPr>
        <p:spPr>
          <a:xfrm>
            <a:off x="4389120" y="3401568"/>
            <a:ext cx="457200" cy="457200"/>
          </a:xfrm>
          <a:prstGeom prst="ellipse">
            <a:avLst/>
          </a:prstGeom>
          <a:solidFill>
            <a:srgbClr val="E6F3EA"/>
          </a:solidFill>
          <a:ln w="12700">
            <a:solidFill>
              <a:srgbClr val="D3E6DA"/>
            </a:solidFill>
            <a:prstDash val="solid"/>
          </a:ln>
        </p:spPr>
      </p:sp>
      <p:sp>
        <p:nvSpPr>
          <p:cNvPr id="25" name="Text 23"/>
          <p:cNvSpPr txBox="1"/>
          <p:nvPr/>
        </p:nvSpPr>
        <p:spPr>
          <a:xfrm>
            <a:off x="4389120" y="3383280"/>
            <a:ext cx="457200" cy="457200"/>
          </a:xfrm>
          <a:prstGeom prst="rect">
            <a:avLst/>
          </a:prstGeom>
          <a:noFill/>
          <a:ln/>
        </p:spPr>
        <p:txBody>
          <a:bodyPr wrap="square" lIns="0" tIns="0" rIns="0" bIns="0" rtlCol="0" anchor="ctr"/>
          <a:lstStyle/>
          <a:p>
            <a:pPr algn="ctr" indent="0" marL="0">
              <a:buNone/>
            </a:pPr>
            <a:r>
              <a:rPr lang="en-US" sz="2000" b="1" dirty="0">
                <a:solidFill>
                  <a:srgbClr val="168A46"/>
                </a:solidFill>
                <a:latin typeface="Calibri" pitchFamily="34" charset="0"/>
                <a:ea typeface="Calibri" pitchFamily="34" charset="-122"/>
                <a:cs typeface="Calibri" pitchFamily="34" charset="-120"/>
              </a:rPr>
              <a:t>⚙</a:t>
            </a:r>
            <a:endParaRPr lang="en-US" sz="2000" dirty="0"/>
          </a:p>
        </p:txBody>
      </p:sp>
      <p:sp>
        <p:nvSpPr>
          <p:cNvPr id="26" name="Text 24"/>
          <p:cNvSpPr txBox="1"/>
          <p:nvPr/>
        </p:nvSpPr>
        <p:spPr>
          <a:xfrm>
            <a:off x="4965192" y="3383280"/>
            <a:ext cx="2542032" cy="502920"/>
          </a:xfrm>
          <a:prstGeom prst="rect">
            <a:avLst/>
          </a:prstGeom>
          <a:noFill/>
          <a:ln/>
        </p:spPr>
        <p:txBody>
          <a:bodyPr wrap="square" lIns="0" tIns="0" rIns="0" bIns="0" rtlCol="0" anchor="ctr"/>
          <a:lstStyle/>
          <a:p>
            <a:pPr indent="0" marL="0">
              <a:lnSpc>
                <a:spcPct val="105000"/>
              </a:lnSpc>
              <a:buNone/>
            </a:pPr>
            <a:r>
              <a:rPr lang="en-US" sz="1200" b="1" dirty="0">
                <a:solidFill>
                  <a:srgbClr val="142018"/>
                </a:solidFill>
                <a:latin typeface="Calibri" pitchFamily="34" charset="0"/>
                <a:ea typeface="Calibri" pitchFamily="34" charset="-122"/>
                <a:cs typeface="Calibri" pitchFamily="34" charset="-120"/>
              </a:rPr>
              <a:t>How it solves the issue</a:t>
            </a:r>
            <a:endParaRPr lang="en-US" sz="1200" dirty="0"/>
          </a:p>
        </p:txBody>
      </p:sp>
      <p:sp>
        <p:nvSpPr>
          <p:cNvPr id="27" name="Text 25"/>
          <p:cNvSpPr txBox="1"/>
          <p:nvPr/>
        </p:nvSpPr>
        <p:spPr>
          <a:xfrm>
            <a:off x="4407408" y="4023360"/>
            <a:ext cx="3017520" cy="1874520"/>
          </a:xfrm>
          <a:prstGeom prst="rect">
            <a:avLst/>
          </a:prstGeom>
          <a:noFill/>
          <a:ln/>
        </p:spPr>
        <p:txBody>
          <a:bodyPr wrap="square" lIns="0" tIns="0" rIns="0" bIns="0" rtlCol="0" anchor="ctr"/>
          <a:lstStyle/>
          <a:p>
            <a:pPr indent="0" marL="0">
              <a:lnSpc>
                <a:spcPct val="118000"/>
              </a:lnSpc>
              <a:buNone/>
            </a:pPr>
            <a:r>
              <a:rPr lang="en-US" sz="1130" dirty="0">
                <a:solidFill>
                  <a:srgbClr val="34433B"/>
                </a:solidFill>
                <a:latin typeface="Calibri" pitchFamily="34" charset="0"/>
                <a:ea typeface="Calibri" pitchFamily="34" charset="-122"/>
                <a:cs typeface="Calibri" pitchFamily="34" charset="-120"/>
              </a:rPr>
              <a:t>Combines location-based jurisdiction data with issue-to-department routing rules — covering 65 MCC wards, current authorities, localities, 2026 expansion information, issue categories and routing rules.</a:t>
            </a:r>
            <a:endParaRPr lang="en-US" sz="1130" dirty="0"/>
          </a:p>
        </p:txBody>
      </p:sp>
      <p:sp>
        <p:nvSpPr>
          <p:cNvPr id="28" name="Shape 26"/>
          <p:cNvSpPr/>
          <p:nvPr/>
        </p:nvSpPr>
        <p:spPr>
          <a:xfrm>
            <a:off x="7827264" y="3200400"/>
            <a:ext cx="3456432" cy="2880360"/>
          </a:xfrm>
          <a:prstGeom prst="roundRect">
            <a:avLst>
              <a:gd name="adj" fmla="val 2857"/>
            </a:avLst>
          </a:prstGeom>
          <a:solidFill>
            <a:srgbClr val="F2F8F4"/>
          </a:solidFill>
          <a:ln w="12700">
            <a:solidFill>
              <a:srgbClr val="D3E6DA"/>
            </a:solidFill>
            <a:prstDash val="solid"/>
          </a:ln>
          <a:effectLst>
            <a:outerShdw sx="100000" sy="100000" kx="0" ky="0" algn="bl" rotWithShape="0" blurRad="101600" dist="25400" dir="5400000">
              <a:srgbClr val="9CB3A4">
                <a:alpha val="28000"/>
              </a:srgbClr>
            </a:outerShdw>
          </a:effectLst>
        </p:spPr>
      </p:sp>
      <p:sp>
        <p:nvSpPr>
          <p:cNvPr id="29" name="Shape 27"/>
          <p:cNvSpPr/>
          <p:nvPr/>
        </p:nvSpPr>
        <p:spPr>
          <a:xfrm>
            <a:off x="8028432" y="3401568"/>
            <a:ext cx="457200" cy="457200"/>
          </a:xfrm>
          <a:prstGeom prst="ellipse">
            <a:avLst/>
          </a:prstGeom>
          <a:solidFill>
            <a:srgbClr val="E6F3EA"/>
          </a:solidFill>
          <a:ln w="12700">
            <a:solidFill>
              <a:srgbClr val="D3E6DA"/>
            </a:solidFill>
            <a:prstDash val="solid"/>
          </a:ln>
        </p:spPr>
      </p:sp>
      <p:sp>
        <p:nvSpPr>
          <p:cNvPr id="30" name="Text 28"/>
          <p:cNvSpPr txBox="1"/>
          <p:nvPr/>
        </p:nvSpPr>
        <p:spPr>
          <a:xfrm>
            <a:off x="8028432" y="3383280"/>
            <a:ext cx="457200" cy="457200"/>
          </a:xfrm>
          <a:prstGeom prst="rect">
            <a:avLst/>
          </a:prstGeom>
          <a:noFill/>
          <a:ln/>
        </p:spPr>
        <p:txBody>
          <a:bodyPr wrap="square" lIns="0" tIns="0" rIns="0" bIns="0" rtlCol="0" anchor="ctr"/>
          <a:lstStyle/>
          <a:p>
            <a:pPr algn="ctr" indent="0" marL="0">
              <a:buNone/>
            </a:pPr>
            <a:r>
              <a:rPr lang="en-US" sz="2000" b="1" dirty="0">
                <a:solidFill>
                  <a:srgbClr val="168A46"/>
                </a:solidFill>
                <a:latin typeface="Calibri" pitchFamily="34" charset="0"/>
                <a:ea typeface="Calibri" pitchFamily="34" charset="-122"/>
                <a:cs typeface="Calibri" pitchFamily="34" charset="-120"/>
              </a:rPr>
              <a:t>✦</a:t>
            </a:r>
            <a:endParaRPr lang="en-US" sz="2000" dirty="0"/>
          </a:p>
        </p:txBody>
      </p:sp>
      <p:sp>
        <p:nvSpPr>
          <p:cNvPr id="31" name="Text 29"/>
          <p:cNvSpPr txBox="1"/>
          <p:nvPr/>
        </p:nvSpPr>
        <p:spPr>
          <a:xfrm>
            <a:off x="8604504" y="3383280"/>
            <a:ext cx="2542032" cy="502920"/>
          </a:xfrm>
          <a:prstGeom prst="rect">
            <a:avLst/>
          </a:prstGeom>
          <a:noFill/>
          <a:ln/>
        </p:spPr>
        <p:txBody>
          <a:bodyPr wrap="square" lIns="0" tIns="0" rIns="0" bIns="0" rtlCol="0" anchor="ctr"/>
          <a:lstStyle/>
          <a:p>
            <a:pPr indent="0" marL="0">
              <a:lnSpc>
                <a:spcPct val="105000"/>
              </a:lnSpc>
              <a:buNone/>
            </a:pPr>
            <a:r>
              <a:rPr lang="en-US" sz="1200" b="1" dirty="0">
                <a:solidFill>
                  <a:srgbClr val="142018"/>
                </a:solidFill>
                <a:latin typeface="Calibri" pitchFamily="34" charset="0"/>
                <a:ea typeface="Calibri" pitchFamily="34" charset="-122"/>
                <a:cs typeface="Calibri" pitchFamily="34" charset="-120"/>
              </a:rPr>
              <a:t>Main innovation</a:t>
            </a:r>
            <a:endParaRPr lang="en-US" sz="1200" dirty="0"/>
          </a:p>
        </p:txBody>
      </p:sp>
      <p:sp>
        <p:nvSpPr>
          <p:cNvPr id="32" name="Text 30"/>
          <p:cNvSpPr txBox="1"/>
          <p:nvPr/>
        </p:nvSpPr>
        <p:spPr>
          <a:xfrm>
            <a:off x="8046720" y="4023360"/>
            <a:ext cx="3017520" cy="1874520"/>
          </a:xfrm>
          <a:prstGeom prst="rect">
            <a:avLst/>
          </a:prstGeom>
          <a:noFill/>
          <a:ln/>
        </p:spPr>
        <p:txBody>
          <a:bodyPr wrap="square" lIns="0" tIns="0" rIns="0" bIns="0" rtlCol="0" anchor="ctr"/>
          <a:lstStyle/>
          <a:p>
            <a:pPr indent="0" marL="0">
              <a:lnSpc>
                <a:spcPct val="118000"/>
              </a:lnSpc>
              <a:buNone/>
            </a:pPr>
            <a:r>
              <a:rPr lang="en-US" sz="1130" dirty="0">
                <a:solidFill>
                  <a:srgbClr val="34433B"/>
                </a:solidFill>
                <a:latin typeface="Calibri" pitchFamily="34" charset="0"/>
                <a:ea typeface="Calibri" pitchFamily="34" charset="-122"/>
                <a:cs typeface="Calibri" pitchFamily="34" charset="-120"/>
              </a:rPr>
              <a:t>Jurisdiction-aware, location-based routing designed for Mysuru’s changing 2026 structure: geographic intelligence + authority intelligence + issue intelligence, combined.</a:t>
            </a:r>
            <a:endParaRPr lang="en-US" sz="1130" dirty="0"/>
          </a:p>
        </p:txBody>
      </p:sp>
      <p:sp>
        <p:nvSpPr>
          <p:cNvPr id="33" name="Text 31"/>
          <p:cNvSpPr txBox="1"/>
          <p:nvPr/>
        </p:nvSpPr>
        <p:spPr>
          <a:xfrm>
            <a:off x="11368735" y="6400800"/>
            <a:ext cx="548640" cy="274320"/>
          </a:xfrm>
          <a:prstGeom prst="rect">
            <a:avLst/>
          </a:prstGeom>
          <a:noFill/>
          <a:ln/>
        </p:spPr>
        <p:txBody>
          <a:bodyPr wrap="square" lIns="0" tIns="0" rIns="0" bIns="0" rtlCol="0" anchor="ctr"/>
          <a:lstStyle/>
          <a:p>
            <a:pPr algn="r" indent="0" marL="0">
              <a:buNone/>
            </a:pPr>
            <a:r>
              <a:rPr lang="en-US" sz="1000" dirty="0">
                <a:solidFill>
                  <a:srgbClr val="6C7D71"/>
                </a:solidFill>
                <a:latin typeface="Calibri" pitchFamily="34" charset="0"/>
                <a:ea typeface="Calibri" pitchFamily="34" charset="-122"/>
                <a:cs typeface="Calibri" pitchFamily="34" charset="-120"/>
              </a:rPr>
              <a:t>05</a:t>
            </a:r>
            <a:endParaRPr lang="en-US" sz="1000" dirty="0"/>
          </a:p>
        </p:txBody>
      </p:sp>
      <p:sp>
        <p:nvSpPr>
          <p:cNvPr id="34" name="Text 32"/>
          <p:cNvSpPr txBox="1"/>
          <p:nvPr/>
        </p:nvSpPr>
        <p:spPr>
          <a:xfrm>
            <a:off x="548640" y="6400800"/>
            <a:ext cx="3657600" cy="274320"/>
          </a:xfrm>
          <a:prstGeom prst="rect">
            <a:avLst/>
          </a:prstGeom>
          <a:noFill/>
          <a:ln/>
        </p:spPr>
        <p:txBody>
          <a:bodyPr wrap="square" lIns="0" tIns="0" rIns="0" bIns="0" rtlCol="0" anchor="ctr"/>
          <a:lstStyle/>
          <a:p>
            <a:pPr indent="0" marL="0">
              <a:buNone/>
            </a:pPr>
            <a:r>
              <a:rPr lang="en-US" sz="900" spc="200" kern="0" dirty="0">
                <a:solidFill>
                  <a:srgbClr val="6C7D71"/>
                </a:solidFill>
                <a:latin typeface="Calibri" pitchFamily="34" charset="0"/>
                <a:ea typeface="Calibri" pitchFamily="34" charset="-122"/>
                <a:cs typeface="Calibri" pitchFamily="34" charset="-120"/>
              </a:rPr>
              <a:t>SAMAGRA MYSURU</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9966960" y="-2011680"/>
            <a:ext cx="4937760" cy="4937760"/>
          </a:xfrm>
          <a:prstGeom prst="ellipse">
            <a:avLst/>
          </a:prstGeom>
          <a:solidFill>
            <a:srgbClr val="F2F8F4">
              <a:alpha val="75000"/>
            </a:srgbClr>
          </a:solidFill>
          <a:ln/>
        </p:spPr>
      </p:sp>
      <p:sp>
        <p:nvSpPr>
          <p:cNvPr id="3" name="Text 1"/>
          <p:cNvSpPr txBox="1"/>
          <p:nvPr/>
        </p:nvSpPr>
        <p:spPr>
          <a:xfrm>
            <a:off x="548640" y="384048"/>
            <a:ext cx="9601200" cy="320040"/>
          </a:xfrm>
          <a:prstGeom prst="rect">
            <a:avLst/>
          </a:prstGeom>
          <a:noFill/>
          <a:ln/>
        </p:spPr>
        <p:txBody>
          <a:bodyPr wrap="square" lIns="0" tIns="0" rIns="0" bIns="0" rtlCol="0" anchor="ctr"/>
          <a:lstStyle/>
          <a:p>
            <a:pPr indent="0" marL="0">
              <a:buNone/>
            </a:pPr>
            <a:r>
              <a:rPr lang="en-US" sz="1250" b="1" spc="250" kern="0" dirty="0">
                <a:solidFill>
                  <a:srgbClr val="168A46"/>
                </a:solidFill>
                <a:latin typeface="Calibri" pitchFamily="34" charset="0"/>
                <a:ea typeface="Calibri" pitchFamily="34" charset="-122"/>
                <a:cs typeface="Calibri" pitchFamily="34" charset="-120"/>
              </a:rPr>
              <a:t>HOW IT WORKS</a:t>
            </a:r>
            <a:endParaRPr lang="en-US" sz="1250" dirty="0"/>
          </a:p>
        </p:txBody>
      </p:sp>
      <p:sp>
        <p:nvSpPr>
          <p:cNvPr id="4" name="Text 2"/>
          <p:cNvSpPr txBox="1"/>
          <p:nvPr/>
        </p:nvSpPr>
        <p:spPr>
          <a:xfrm>
            <a:off x="548640" y="658368"/>
            <a:ext cx="8229600" cy="685800"/>
          </a:xfrm>
          <a:prstGeom prst="rect">
            <a:avLst/>
          </a:prstGeom>
          <a:noFill/>
          <a:ln/>
        </p:spPr>
        <p:txBody>
          <a:bodyPr wrap="square" lIns="0" tIns="0" rIns="0" bIns="0" rtlCol="0" anchor="ctr"/>
          <a:lstStyle/>
          <a:p>
            <a:pPr indent="0" marL="0">
              <a:buNone/>
            </a:pPr>
            <a:r>
              <a:rPr lang="en-US" sz="2600" b="1" dirty="0">
                <a:solidFill>
                  <a:srgbClr val="142018"/>
                </a:solidFill>
                <a:latin typeface="Calibri" pitchFamily="34" charset="0"/>
                <a:ea typeface="Calibri" pitchFamily="34" charset="-122"/>
                <a:cs typeface="Calibri" pitchFamily="34" charset="-120"/>
              </a:rPr>
              <a:t>System architecture — six major layers</a:t>
            </a:r>
            <a:endParaRPr lang="en-US" sz="2600" dirty="0"/>
          </a:p>
        </p:txBody>
      </p:sp>
      <p:sp>
        <p:nvSpPr>
          <p:cNvPr id="5" name="Shape 3"/>
          <p:cNvSpPr/>
          <p:nvPr/>
        </p:nvSpPr>
        <p:spPr>
          <a:xfrm>
            <a:off x="4041648" y="1417320"/>
            <a:ext cx="4114800" cy="438912"/>
          </a:xfrm>
          <a:prstGeom prst="roundRect">
            <a:avLst>
              <a:gd name="adj" fmla="val 18750"/>
            </a:avLst>
          </a:prstGeom>
          <a:solidFill>
            <a:srgbClr val="F2F8F4"/>
          </a:solidFill>
          <a:ln w="12700">
            <a:solidFill>
              <a:srgbClr val="D3E6DA"/>
            </a:solidFill>
            <a:prstDash val="solid"/>
          </a:ln>
        </p:spPr>
      </p:sp>
      <p:sp>
        <p:nvSpPr>
          <p:cNvPr id="6" name="Text 4"/>
          <p:cNvSpPr txBox="1"/>
          <p:nvPr/>
        </p:nvSpPr>
        <p:spPr>
          <a:xfrm>
            <a:off x="4224528" y="1417320"/>
            <a:ext cx="2377440" cy="438912"/>
          </a:xfrm>
          <a:prstGeom prst="rect">
            <a:avLst/>
          </a:prstGeom>
          <a:noFill/>
          <a:ln/>
        </p:spPr>
        <p:txBody>
          <a:bodyPr wrap="square" lIns="0" tIns="0" rIns="0" bIns="0" rtlCol="0" anchor="ctr"/>
          <a:lstStyle/>
          <a:p>
            <a:pPr indent="0" marL="0">
              <a:buNone/>
            </a:pPr>
            <a:r>
              <a:rPr lang="en-US" sz="1150" b="1" dirty="0">
                <a:solidFill>
                  <a:srgbClr val="142018"/>
                </a:solidFill>
                <a:latin typeface="Calibri" pitchFamily="34" charset="0"/>
                <a:ea typeface="Calibri" pitchFamily="34" charset="-122"/>
                <a:cs typeface="Calibri" pitchFamily="34" charset="-120"/>
              </a:rPr>
              <a:t>👤  CITIZEN / USER</a:t>
            </a:r>
            <a:endParaRPr lang="en-US" sz="1150" dirty="0"/>
          </a:p>
        </p:txBody>
      </p:sp>
      <p:sp>
        <p:nvSpPr>
          <p:cNvPr id="7" name="Text 5"/>
          <p:cNvSpPr txBox="1"/>
          <p:nvPr/>
        </p:nvSpPr>
        <p:spPr>
          <a:xfrm>
            <a:off x="6190488" y="1417320"/>
            <a:ext cx="2834640" cy="438912"/>
          </a:xfrm>
          <a:prstGeom prst="rect">
            <a:avLst/>
          </a:prstGeom>
          <a:noFill/>
          <a:ln/>
        </p:spPr>
        <p:txBody>
          <a:bodyPr wrap="square" lIns="0" tIns="0" rIns="0" bIns="0" rtlCol="0" anchor="ctr"/>
          <a:lstStyle/>
          <a:p>
            <a:pPr algn="r" indent="0" marL="0">
              <a:buNone/>
            </a:pPr>
            <a:r>
              <a:rPr lang="en-US" sz="930" dirty="0">
                <a:solidFill>
                  <a:srgbClr val="6C7D71"/>
                </a:solidFill>
                <a:latin typeface="Calibri" pitchFamily="34" charset="0"/>
                <a:ea typeface="Calibri" pitchFamily="34" charset="-122"/>
                <a:cs typeface="Calibri" pitchFamily="34" charset="-120"/>
              </a:rPr>
              <a:t>Complaint + Photo + Location</a:t>
            </a:r>
            <a:endParaRPr lang="en-US" sz="930" dirty="0"/>
          </a:p>
        </p:txBody>
      </p:sp>
      <p:sp>
        <p:nvSpPr>
          <p:cNvPr id="8" name="Shape 6"/>
          <p:cNvSpPr/>
          <p:nvPr/>
        </p:nvSpPr>
        <p:spPr>
          <a:xfrm>
            <a:off x="6016752" y="1883664"/>
            <a:ext cx="164592" cy="137160"/>
          </a:xfrm>
          <a:prstGeom prst="downArrow">
            <a:avLst/>
          </a:prstGeom>
          <a:solidFill>
            <a:srgbClr val="168A46"/>
          </a:solidFill>
          <a:ln/>
        </p:spPr>
      </p:sp>
      <p:sp>
        <p:nvSpPr>
          <p:cNvPr id="9" name="Shape 7"/>
          <p:cNvSpPr/>
          <p:nvPr/>
        </p:nvSpPr>
        <p:spPr>
          <a:xfrm>
            <a:off x="4041648" y="2075688"/>
            <a:ext cx="4114800" cy="438912"/>
          </a:xfrm>
          <a:prstGeom prst="roundRect">
            <a:avLst>
              <a:gd name="adj" fmla="val 18750"/>
            </a:avLst>
          </a:prstGeom>
          <a:solidFill>
            <a:srgbClr val="F2F8F4"/>
          </a:solidFill>
          <a:ln w="12700">
            <a:solidFill>
              <a:srgbClr val="D3E6DA"/>
            </a:solidFill>
            <a:prstDash val="solid"/>
          </a:ln>
        </p:spPr>
      </p:sp>
      <p:sp>
        <p:nvSpPr>
          <p:cNvPr id="10" name="Text 8"/>
          <p:cNvSpPr txBox="1"/>
          <p:nvPr/>
        </p:nvSpPr>
        <p:spPr>
          <a:xfrm>
            <a:off x="4224528" y="2075688"/>
            <a:ext cx="2377440" cy="438912"/>
          </a:xfrm>
          <a:prstGeom prst="rect">
            <a:avLst/>
          </a:prstGeom>
          <a:noFill/>
          <a:ln/>
        </p:spPr>
        <p:txBody>
          <a:bodyPr wrap="square" lIns="0" tIns="0" rIns="0" bIns="0" rtlCol="0" anchor="ctr"/>
          <a:lstStyle/>
          <a:p>
            <a:pPr indent="0" marL="0">
              <a:buNone/>
            </a:pPr>
            <a:r>
              <a:rPr lang="en-US" sz="1150" b="1" dirty="0">
                <a:solidFill>
                  <a:srgbClr val="142018"/>
                </a:solidFill>
                <a:latin typeface="Calibri" pitchFamily="34" charset="0"/>
                <a:ea typeface="Calibri" pitchFamily="34" charset="-122"/>
                <a:cs typeface="Calibri" pitchFamily="34" charset="-120"/>
              </a:rPr>
              <a:t>📱  FRONTEND / UI</a:t>
            </a:r>
            <a:endParaRPr lang="en-US" sz="1150" dirty="0"/>
          </a:p>
        </p:txBody>
      </p:sp>
      <p:sp>
        <p:nvSpPr>
          <p:cNvPr id="11" name="Text 9"/>
          <p:cNvSpPr txBox="1"/>
          <p:nvPr/>
        </p:nvSpPr>
        <p:spPr>
          <a:xfrm>
            <a:off x="6190488" y="2075688"/>
            <a:ext cx="2834640" cy="438912"/>
          </a:xfrm>
          <a:prstGeom prst="rect">
            <a:avLst/>
          </a:prstGeom>
          <a:noFill/>
          <a:ln/>
        </p:spPr>
        <p:txBody>
          <a:bodyPr wrap="square" lIns="0" tIns="0" rIns="0" bIns="0" rtlCol="0" anchor="ctr"/>
          <a:lstStyle/>
          <a:p>
            <a:pPr algn="r" indent="0" marL="0">
              <a:buNone/>
            </a:pPr>
            <a:r>
              <a:rPr lang="en-US" sz="930" dirty="0">
                <a:solidFill>
                  <a:srgbClr val="6C7D71"/>
                </a:solidFill>
                <a:latin typeface="Calibri" pitchFamily="34" charset="0"/>
                <a:ea typeface="Calibri" pitchFamily="34" charset="-122"/>
                <a:cs typeface="Calibri" pitchFamily="34" charset="-120"/>
              </a:rPr>
              <a:t>Complaint form • Location • Dashboard</a:t>
            </a:r>
            <a:endParaRPr lang="en-US" sz="930" dirty="0"/>
          </a:p>
        </p:txBody>
      </p:sp>
      <p:sp>
        <p:nvSpPr>
          <p:cNvPr id="12" name="Shape 10"/>
          <p:cNvSpPr/>
          <p:nvPr/>
        </p:nvSpPr>
        <p:spPr>
          <a:xfrm>
            <a:off x="6016752" y="2542032"/>
            <a:ext cx="164592" cy="137160"/>
          </a:xfrm>
          <a:prstGeom prst="downArrow">
            <a:avLst/>
          </a:prstGeom>
          <a:solidFill>
            <a:srgbClr val="168A46"/>
          </a:solidFill>
          <a:ln/>
        </p:spPr>
      </p:sp>
      <p:sp>
        <p:nvSpPr>
          <p:cNvPr id="13" name="Shape 11"/>
          <p:cNvSpPr/>
          <p:nvPr/>
        </p:nvSpPr>
        <p:spPr>
          <a:xfrm>
            <a:off x="4041648" y="2734056"/>
            <a:ext cx="4114800" cy="438912"/>
          </a:xfrm>
          <a:prstGeom prst="roundRect">
            <a:avLst>
              <a:gd name="adj" fmla="val 18750"/>
            </a:avLst>
          </a:prstGeom>
          <a:solidFill>
            <a:srgbClr val="F2F8F4"/>
          </a:solidFill>
          <a:ln w="12700">
            <a:solidFill>
              <a:srgbClr val="D3E6DA"/>
            </a:solidFill>
            <a:prstDash val="solid"/>
          </a:ln>
        </p:spPr>
      </p:sp>
      <p:sp>
        <p:nvSpPr>
          <p:cNvPr id="14" name="Text 12"/>
          <p:cNvSpPr txBox="1"/>
          <p:nvPr/>
        </p:nvSpPr>
        <p:spPr>
          <a:xfrm>
            <a:off x="4224528" y="2734056"/>
            <a:ext cx="2377440" cy="438912"/>
          </a:xfrm>
          <a:prstGeom prst="rect">
            <a:avLst/>
          </a:prstGeom>
          <a:noFill/>
          <a:ln/>
        </p:spPr>
        <p:txBody>
          <a:bodyPr wrap="square" lIns="0" tIns="0" rIns="0" bIns="0" rtlCol="0" anchor="ctr"/>
          <a:lstStyle/>
          <a:p>
            <a:pPr indent="0" marL="0">
              <a:buNone/>
            </a:pPr>
            <a:r>
              <a:rPr lang="en-US" sz="1150" b="1" dirty="0">
                <a:solidFill>
                  <a:srgbClr val="142018"/>
                </a:solidFill>
                <a:latin typeface="Calibri" pitchFamily="34" charset="0"/>
                <a:ea typeface="Calibri" pitchFamily="34" charset="-122"/>
                <a:cs typeface="Calibri" pitchFamily="34" charset="-120"/>
              </a:rPr>
              <a:t>⚙️  BACKEND / API</a:t>
            </a:r>
            <a:endParaRPr lang="en-US" sz="1150" dirty="0"/>
          </a:p>
        </p:txBody>
      </p:sp>
      <p:sp>
        <p:nvSpPr>
          <p:cNvPr id="15" name="Text 13"/>
          <p:cNvSpPr txBox="1"/>
          <p:nvPr/>
        </p:nvSpPr>
        <p:spPr>
          <a:xfrm>
            <a:off x="6190488" y="2734056"/>
            <a:ext cx="2834640" cy="438912"/>
          </a:xfrm>
          <a:prstGeom prst="rect">
            <a:avLst/>
          </a:prstGeom>
          <a:noFill/>
          <a:ln/>
        </p:spPr>
        <p:txBody>
          <a:bodyPr wrap="square" lIns="0" tIns="0" rIns="0" bIns="0" rtlCol="0" anchor="ctr"/>
          <a:lstStyle/>
          <a:p>
            <a:pPr algn="r" indent="0" marL="0">
              <a:buNone/>
            </a:pPr>
            <a:r>
              <a:rPr lang="en-US" sz="930" dirty="0">
                <a:solidFill>
                  <a:srgbClr val="6C7D71"/>
                </a:solidFill>
                <a:latin typeface="Calibri" pitchFamily="34" charset="0"/>
                <a:ea typeface="Calibri" pitchFamily="34" charset="-122"/>
                <a:cs typeface="Calibri" pitchFamily="34" charset="-120"/>
              </a:rPr>
              <a:t>Complaint processing • Routing logic</a:t>
            </a:r>
            <a:endParaRPr lang="en-US" sz="930" dirty="0"/>
          </a:p>
        </p:txBody>
      </p:sp>
      <p:sp>
        <p:nvSpPr>
          <p:cNvPr id="16" name="Shape 14"/>
          <p:cNvSpPr/>
          <p:nvPr/>
        </p:nvSpPr>
        <p:spPr>
          <a:xfrm>
            <a:off x="6016752" y="3200400"/>
            <a:ext cx="164592" cy="137160"/>
          </a:xfrm>
          <a:prstGeom prst="downArrow">
            <a:avLst/>
          </a:prstGeom>
          <a:solidFill>
            <a:srgbClr val="168A46"/>
          </a:solidFill>
          <a:ln/>
        </p:spPr>
      </p:sp>
      <p:sp>
        <p:nvSpPr>
          <p:cNvPr id="17" name="Shape 15"/>
          <p:cNvSpPr/>
          <p:nvPr/>
        </p:nvSpPr>
        <p:spPr>
          <a:xfrm>
            <a:off x="4750308" y="3310128"/>
            <a:ext cx="2697480" cy="0"/>
          </a:xfrm>
          <a:prstGeom prst="line">
            <a:avLst/>
          </a:prstGeom>
          <a:noFill/>
          <a:ln w="15875">
            <a:solidFill>
              <a:srgbClr val="168A46"/>
            </a:solidFill>
            <a:prstDash val="solid"/>
          </a:ln>
        </p:spPr>
      </p:sp>
      <p:sp>
        <p:nvSpPr>
          <p:cNvPr id="18" name="Shape 16"/>
          <p:cNvSpPr/>
          <p:nvPr/>
        </p:nvSpPr>
        <p:spPr>
          <a:xfrm>
            <a:off x="4750308" y="3310128"/>
            <a:ext cx="0" cy="82296"/>
          </a:xfrm>
          <a:prstGeom prst="line">
            <a:avLst/>
          </a:prstGeom>
          <a:noFill/>
          <a:ln w="15875">
            <a:solidFill>
              <a:srgbClr val="168A46"/>
            </a:solidFill>
            <a:prstDash val="solid"/>
          </a:ln>
        </p:spPr>
      </p:sp>
      <p:sp>
        <p:nvSpPr>
          <p:cNvPr id="19" name="Shape 17"/>
          <p:cNvSpPr/>
          <p:nvPr/>
        </p:nvSpPr>
        <p:spPr>
          <a:xfrm>
            <a:off x="7447788" y="3310128"/>
            <a:ext cx="0" cy="82296"/>
          </a:xfrm>
          <a:prstGeom prst="line">
            <a:avLst/>
          </a:prstGeom>
          <a:noFill/>
          <a:ln w="15875">
            <a:solidFill>
              <a:srgbClr val="168A46"/>
            </a:solidFill>
            <a:prstDash val="solid"/>
          </a:ln>
        </p:spPr>
      </p:sp>
      <p:sp>
        <p:nvSpPr>
          <p:cNvPr id="20" name="Shape 18"/>
          <p:cNvSpPr/>
          <p:nvPr/>
        </p:nvSpPr>
        <p:spPr>
          <a:xfrm>
            <a:off x="3584448" y="3392424"/>
            <a:ext cx="2331720" cy="868680"/>
          </a:xfrm>
          <a:prstGeom prst="roundRect">
            <a:avLst>
              <a:gd name="adj" fmla="val 9474"/>
            </a:avLst>
          </a:prstGeom>
          <a:solidFill>
            <a:srgbClr val="E6F3EA"/>
          </a:solidFill>
          <a:ln w="12700">
            <a:solidFill>
              <a:srgbClr val="D3E6DA"/>
            </a:solidFill>
            <a:prstDash val="solid"/>
          </a:ln>
          <a:effectLst>
            <a:outerShdw sx="100000" sy="100000" kx="0" ky="0" algn="bl" rotWithShape="0" blurRad="101600" dist="25400" dir="5400000">
              <a:srgbClr val="9CB3A4">
                <a:alpha val="28000"/>
              </a:srgbClr>
            </a:outerShdw>
          </a:effectLst>
        </p:spPr>
      </p:sp>
      <p:sp>
        <p:nvSpPr>
          <p:cNvPr id="21" name="Text 19"/>
          <p:cNvSpPr txBox="1"/>
          <p:nvPr/>
        </p:nvSpPr>
        <p:spPr>
          <a:xfrm>
            <a:off x="3730752" y="3465576"/>
            <a:ext cx="2057400" cy="237744"/>
          </a:xfrm>
          <a:prstGeom prst="rect">
            <a:avLst/>
          </a:prstGeom>
          <a:noFill/>
          <a:ln/>
        </p:spPr>
        <p:txBody>
          <a:bodyPr wrap="square" lIns="0" tIns="0" rIns="0" bIns="0" rtlCol="0" anchor="ctr"/>
          <a:lstStyle/>
          <a:p>
            <a:pPr indent="0" marL="0">
              <a:buNone/>
            </a:pPr>
            <a:r>
              <a:rPr lang="en-US" sz="1080" b="1" dirty="0">
                <a:solidFill>
                  <a:srgbClr val="0F6334"/>
                </a:solidFill>
                <a:latin typeface="Calibri" pitchFamily="34" charset="0"/>
                <a:ea typeface="Calibri" pitchFamily="34" charset="-122"/>
                <a:cs typeface="Calibri" pitchFamily="34" charset="-120"/>
              </a:rPr>
              <a:t>🗺️  GEO DATA / GIS</a:t>
            </a:r>
            <a:endParaRPr lang="en-US" sz="1080" dirty="0"/>
          </a:p>
        </p:txBody>
      </p:sp>
      <p:sp>
        <p:nvSpPr>
          <p:cNvPr id="22" name="Text 20"/>
          <p:cNvSpPr txBox="1"/>
          <p:nvPr/>
        </p:nvSpPr>
        <p:spPr>
          <a:xfrm>
            <a:off x="3730752" y="3730752"/>
            <a:ext cx="2057400" cy="502920"/>
          </a:xfrm>
          <a:prstGeom prst="rect">
            <a:avLst/>
          </a:prstGeom>
          <a:noFill/>
          <a:ln/>
        </p:spPr>
        <p:txBody>
          <a:bodyPr wrap="square" lIns="0" tIns="0" rIns="0" bIns="0" rtlCol="0" anchor="ctr"/>
          <a:lstStyle/>
          <a:p>
            <a:pPr indent="0" marL="0">
              <a:lnSpc>
                <a:spcPct val="115000"/>
              </a:lnSpc>
              <a:buNone/>
            </a:pPr>
            <a:r>
              <a:rPr lang="en-US" sz="910" dirty="0">
                <a:solidFill>
                  <a:srgbClr val="34433B"/>
                </a:solidFill>
                <a:latin typeface="Calibri" pitchFamily="34" charset="0"/>
                <a:ea typeface="Calibri" pitchFamily="34" charset="-122"/>
                <a:cs typeface="Calibri" pitchFamily="34" charset="-120"/>
              </a:rPr>
              <a:t>GeoJSON boundaries • Ward boundaries</a:t>
            </a:r>
            <a:endParaRPr lang="en-US" sz="910" dirty="0"/>
          </a:p>
          <a:p>
            <a:pPr indent="0" marL="0">
              <a:lnSpc>
                <a:spcPct val="115000"/>
              </a:lnSpc>
              <a:buNone/>
            </a:pPr>
            <a:r>
              <a:rPr lang="en-US" sz="910" dirty="0">
                <a:solidFill>
                  <a:srgbClr val="34433B"/>
                </a:solidFill>
                <a:latin typeface="Calibri" pitchFamily="34" charset="0"/>
                <a:ea typeface="Calibri" pitchFamily="34" charset="-122"/>
                <a:cs typeface="Calibri" pitchFamily="34" charset="-120"/>
              </a:rPr>
              <a:t>Location → Jurisdiction</a:t>
            </a:r>
            <a:endParaRPr lang="en-US" sz="910" dirty="0"/>
          </a:p>
        </p:txBody>
      </p:sp>
      <p:sp>
        <p:nvSpPr>
          <p:cNvPr id="23" name="Shape 21"/>
          <p:cNvSpPr/>
          <p:nvPr/>
        </p:nvSpPr>
        <p:spPr>
          <a:xfrm>
            <a:off x="6281928" y="3392424"/>
            <a:ext cx="2331720" cy="868680"/>
          </a:xfrm>
          <a:prstGeom prst="roundRect">
            <a:avLst>
              <a:gd name="adj" fmla="val 9474"/>
            </a:avLst>
          </a:prstGeom>
          <a:solidFill>
            <a:srgbClr val="E6F3EA"/>
          </a:solidFill>
          <a:ln w="12700">
            <a:solidFill>
              <a:srgbClr val="D3E6DA"/>
            </a:solidFill>
            <a:prstDash val="solid"/>
          </a:ln>
          <a:effectLst>
            <a:outerShdw sx="100000" sy="100000" kx="0" ky="0" algn="bl" rotWithShape="0" blurRad="101600" dist="25400" dir="5400000">
              <a:srgbClr val="9CB3A4">
                <a:alpha val="28000"/>
              </a:srgbClr>
            </a:outerShdw>
          </a:effectLst>
        </p:spPr>
      </p:sp>
      <p:sp>
        <p:nvSpPr>
          <p:cNvPr id="24" name="Text 22"/>
          <p:cNvSpPr txBox="1"/>
          <p:nvPr/>
        </p:nvSpPr>
        <p:spPr>
          <a:xfrm>
            <a:off x="6428232" y="3465576"/>
            <a:ext cx="2057400" cy="237744"/>
          </a:xfrm>
          <a:prstGeom prst="rect">
            <a:avLst/>
          </a:prstGeom>
          <a:noFill/>
          <a:ln/>
        </p:spPr>
        <p:txBody>
          <a:bodyPr wrap="square" lIns="0" tIns="0" rIns="0" bIns="0" rtlCol="0" anchor="ctr"/>
          <a:lstStyle/>
          <a:p>
            <a:pPr indent="0" marL="0">
              <a:buNone/>
            </a:pPr>
            <a:r>
              <a:rPr lang="en-US" sz="1080" b="1" dirty="0">
                <a:solidFill>
                  <a:srgbClr val="0F6334"/>
                </a:solidFill>
                <a:latin typeface="Calibri" pitchFamily="34" charset="0"/>
                <a:ea typeface="Calibri" pitchFamily="34" charset="-122"/>
                <a:cs typeface="Calibri" pitchFamily="34" charset="-120"/>
              </a:rPr>
              <a:t>🗄️  MYSQL DATABASE</a:t>
            </a:r>
            <a:endParaRPr lang="en-US" sz="1080" dirty="0"/>
          </a:p>
        </p:txBody>
      </p:sp>
      <p:sp>
        <p:nvSpPr>
          <p:cNvPr id="25" name="Text 23"/>
          <p:cNvSpPr txBox="1"/>
          <p:nvPr/>
        </p:nvSpPr>
        <p:spPr>
          <a:xfrm>
            <a:off x="6428232" y="3730752"/>
            <a:ext cx="2057400" cy="502920"/>
          </a:xfrm>
          <a:prstGeom prst="rect">
            <a:avLst/>
          </a:prstGeom>
          <a:noFill/>
          <a:ln/>
        </p:spPr>
        <p:txBody>
          <a:bodyPr wrap="square" lIns="0" tIns="0" rIns="0" bIns="0" rtlCol="0" anchor="ctr"/>
          <a:lstStyle/>
          <a:p>
            <a:pPr indent="0" marL="0">
              <a:lnSpc>
                <a:spcPct val="115000"/>
              </a:lnSpc>
              <a:buNone/>
            </a:pPr>
            <a:r>
              <a:rPr lang="en-US" sz="910" dirty="0">
                <a:solidFill>
                  <a:srgbClr val="34433B"/>
                </a:solidFill>
                <a:latin typeface="Calibri" pitchFamily="34" charset="0"/>
                <a:ea typeface="Calibri" pitchFamily="34" charset="-122"/>
                <a:cs typeface="Calibri" pitchFamily="34" charset="-120"/>
              </a:rPr>
              <a:t>Authorities • Wards • Localities</a:t>
            </a:r>
            <a:endParaRPr lang="en-US" sz="910" dirty="0"/>
          </a:p>
          <a:p>
            <a:pPr indent="0" marL="0">
              <a:lnSpc>
                <a:spcPct val="115000"/>
              </a:lnSpc>
              <a:buNone/>
            </a:pPr>
            <a:r>
              <a:rPr lang="en-US" sz="910" dirty="0">
                <a:solidFill>
                  <a:srgbClr val="34433B"/>
                </a:solidFill>
                <a:latin typeface="Calibri" pitchFamily="34" charset="0"/>
                <a:ea typeface="Calibri" pitchFamily="34" charset="-122"/>
                <a:cs typeface="Calibri" pitchFamily="34" charset="-120"/>
              </a:rPr>
              <a:t>Issue Categories • Routing Rules</a:t>
            </a:r>
            <a:endParaRPr lang="en-US" sz="910" dirty="0"/>
          </a:p>
        </p:txBody>
      </p:sp>
      <p:sp>
        <p:nvSpPr>
          <p:cNvPr id="26" name="Shape 24"/>
          <p:cNvSpPr/>
          <p:nvPr/>
        </p:nvSpPr>
        <p:spPr>
          <a:xfrm>
            <a:off x="4750308" y="4261104"/>
            <a:ext cx="0" cy="118872"/>
          </a:xfrm>
          <a:prstGeom prst="line">
            <a:avLst/>
          </a:prstGeom>
          <a:noFill/>
          <a:ln w="15875">
            <a:solidFill>
              <a:srgbClr val="168A46"/>
            </a:solidFill>
            <a:prstDash val="solid"/>
          </a:ln>
        </p:spPr>
      </p:sp>
      <p:sp>
        <p:nvSpPr>
          <p:cNvPr id="27" name="Shape 25"/>
          <p:cNvSpPr/>
          <p:nvPr/>
        </p:nvSpPr>
        <p:spPr>
          <a:xfrm>
            <a:off x="7447788" y="4261104"/>
            <a:ext cx="0" cy="118872"/>
          </a:xfrm>
          <a:prstGeom prst="line">
            <a:avLst/>
          </a:prstGeom>
          <a:noFill/>
          <a:ln w="15875">
            <a:solidFill>
              <a:srgbClr val="168A46"/>
            </a:solidFill>
            <a:prstDash val="solid"/>
          </a:ln>
        </p:spPr>
      </p:sp>
      <p:sp>
        <p:nvSpPr>
          <p:cNvPr id="28" name="Shape 26"/>
          <p:cNvSpPr/>
          <p:nvPr/>
        </p:nvSpPr>
        <p:spPr>
          <a:xfrm>
            <a:off x="4750308" y="4379976"/>
            <a:ext cx="2697480" cy="0"/>
          </a:xfrm>
          <a:prstGeom prst="line">
            <a:avLst/>
          </a:prstGeom>
          <a:noFill/>
          <a:ln w="15875">
            <a:solidFill>
              <a:srgbClr val="168A46"/>
            </a:solidFill>
            <a:prstDash val="solid"/>
          </a:ln>
        </p:spPr>
      </p:sp>
      <p:sp>
        <p:nvSpPr>
          <p:cNvPr id="29" name="Shape 27"/>
          <p:cNvSpPr/>
          <p:nvPr/>
        </p:nvSpPr>
        <p:spPr>
          <a:xfrm>
            <a:off x="6099048" y="4379976"/>
            <a:ext cx="0" cy="91440"/>
          </a:xfrm>
          <a:prstGeom prst="line">
            <a:avLst/>
          </a:prstGeom>
          <a:noFill/>
          <a:ln w="15875">
            <a:solidFill>
              <a:srgbClr val="168A46"/>
            </a:solidFill>
            <a:prstDash val="solid"/>
          </a:ln>
        </p:spPr>
      </p:sp>
      <p:sp>
        <p:nvSpPr>
          <p:cNvPr id="30" name="Shape 28"/>
          <p:cNvSpPr/>
          <p:nvPr/>
        </p:nvSpPr>
        <p:spPr>
          <a:xfrm>
            <a:off x="6016752" y="4471416"/>
            <a:ext cx="164592" cy="137160"/>
          </a:xfrm>
          <a:prstGeom prst="downArrow">
            <a:avLst/>
          </a:prstGeom>
          <a:solidFill>
            <a:srgbClr val="168A46"/>
          </a:solidFill>
          <a:ln/>
        </p:spPr>
      </p:sp>
      <p:sp>
        <p:nvSpPr>
          <p:cNvPr id="31" name="Shape 29"/>
          <p:cNvSpPr/>
          <p:nvPr/>
        </p:nvSpPr>
        <p:spPr>
          <a:xfrm>
            <a:off x="4041648" y="4663440"/>
            <a:ext cx="4114800" cy="457200"/>
          </a:xfrm>
          <a:prstGeom prst="roundRect">
            <a:avLst>
              <a:gd name="adj" fmla="val 18000"/>
            </a:avLst>
          </a:prstGeom>
          <a:solidFill>
            <a:srgbClr val="E6F3EA"/>
          </a:solidFill>
          <a:ln w="12700">
            <a:solidFill>
              <a:srgbClr val="168A46"/>
            </a:solidFill>
            <a:prstDash val="solid"/>
          </a:ln>
          <a:effectLst>
            <a:outerShdw sx="100000" sy="100000" kx="0" ky="0" algn="bl" rotWithShape="0" blurRad="101600" dist="25400" dir="5400000">
              <a:srgbClr val="9CB3A4">
                <a:alpha val="28000"/>
              </a:srgbClr>
            </a:outerShdw>
          </a:effectLst>
        </p:spPr>
      </p:sp>
      <p:sp>
        <p:nvSpPr>
          <p:cNvPr id="32" name="Text 30"/>
          <p:cNvSpPr txBox="1"/>
          <p:nvPr/>
        </p:nvSpPr>
        <p:spPr>
          <a:xfrm>
            <a:off x="4178808" y="4663440"/>
            <a:ext cx="3840480" cy="457200"/>
          </a:xfrm>
          <a:prstGeom prst="rect">
            <a:avLst/>
          </a:prstGeom>
          <a:noFill/>
          <a:ln/>
        </p:spPr>
        <p:txBody>
          <a:bodyPr wrap="square" lIns="0" tIns="0" rIns="0" bIns="0" rtlCol="0" anchor="ctr"/>
          <a:lstStyle/>
          <a:p>
            <a:pPr indent="0" marL="0">
              <a:buNone/>
            </a:pPr>
            <a:r>
              <a:rPr lang="en-US" sz="1100" b="1" dirty="0">
                <a:solidFill>
                  <a:srgbClr val="0F6334"/>
                </a:solidFill>
                <a:latin typeface="Calibri" pitchFamily="34" charset="0"/>
                <a:ea typeface="Calibri" pitchFamily="34" charset="-122"/>
                <a:cs typeface="Calibri" pitchFamily="34" charset="-120"/>
              </a:rPr>
              <a:t>🎯  ROUTING ENGINE — WHERE + WHAT → WHO</a:t>
            </a:r>
            <a:endParaRPr lang="en-US" sz="1100" dirty="0"/>
          </a:p>
        </p:txBody>
      </p:sp>
      <p:sp>
        <p:nvSpPr>
          <p:cNvPr id="33" name="Shape 31"/>
          <p:cNvSpPr/>
          <p:nvPr/>
        </p:nvSpPr>
        <p:spPr>
          <a:xfrm>
            <a:off x="6016752" y="5148072"/>
            <a:ext cx="164592" cy="118872"/>
          </a:xfrm>
          <a:prstGeom prst="downArrow">
            <a:avLst/>
          </a:prstGeom>
          <a:solidFill>
            <a:srgbClr val="168A46"/>
          </a:solidFill>
          <a:ln/>
        </p:spPr>
      </p:sp>
      <p:sp>
        <p:nvSpPr>
          <p:cNvPr id="34" name="Shape 32"/>
          <p:cNvSpPr/>
          <p:nvPr/>
        </p:nvSpPr>
        <p:spPr>
          <a:xfrm>
            <a:off x="4041648" y="5321808"/>
            <a:ext cx="4114800" cy="402336"/>
          </a:xfrm>
          <a:prstGeom prst="roundRect">
            <a:avLst>
              <a:gd name="adj" fmla="val 20455"/>
            </a:avLst>
          </a:prstGeom>
          <a:solidFill>
            <a:srgbClr val="F2F8F4"/>
          </a:solidFill>
          <a:ln w="12700">
            <a:solidFill>
              <a:srgbClr val="D3E6DA"/>
            </a:solidFill>
            <a:prstDash val="solid"/>
          </a:ln>
        </p:spPr>
      </p:sp>
      <p:sp>
        <p:nvSpPr>
          <p:cNvPr id="35" name="Text 33"/>
          <p:cNvSpPr txBox="1"/>
          <p:nvPr/>
        </p:nvSpPr>
        <p:spPr>
          <a:xfrm>
            <a:off x="4178808" y="5321808"/>
            <a:ext cx="3840480" cy="402336"/>
          </a:xfrm>
          <a:prstGeom prst="rect">
            <a:avLst/>
          </a:prstGeom>
          <a:noFill/>
          <a:ln/>
        </p:spPr>
        <p:txBody>
          <a:bodyPr wrap="square" lIns="0" tIns="0" rIns="0" bIns="0" rtlCol="0" anchor="ctr"/>
          <a:lstStyle/>
          <a:p>
            <a:pPr indent="0" marL="0">
              <a:buNone/>
            </a:pPr>
            <a:r>
              <a:rPr lang="en-US" sz="1000" b="1" dirty="0">
                <a:solidFill>
                  <a:srgbClr val="142018"/>
                </a:solidFill>
                <a:latin typeface="Calibri" pitchFamily="34" charset="0"/>
                <a:ea typeface="Calibri" pitchFamily="34" charset="-122"/>
                <a:cs typeface="Calibri" pitchFamily="34" charset="-120"/>
              </a:rPr>
              <a:t>🏢  AUTHORITY / DEPARTMENT  →  📊  OFFICER DASHBOARD</a:t>
            </a:r>
            <a:endParaRPr lang="en-US" sz="1000" dirty="0"/>
          </a:p>
        </p:txBody>
      </p:sp>
      <p:sp>
        <p:nvSpPr>
          <p:cNvPr id="36" name="Text 34"/>
          <p:cNvSpPr txBox="1"/>
          <p:nvPr/>
        </p:nvSpPr>
        <p:spPr>
          <a:xfrm>
            <a:off x="548640" y="5907024"/>
            <a:ext cx="11091672" cy="365760"/>
          </a:xfrm>
          <a:prstGeom prst="rect">
            <a:avLst/>
          </a:prstGeom>
          <a:noFill/>
          <a:ln/>
        </p:spPr>
        <p:txBody>
          <a:bodyPr wrap="square" lIns="0" tIns="0" rIns="0" bIns="0" rtlCol="0" anchor="ctr"/>
          <a:lstStyle/>
          <a:p>
            <a:pPr algn="ctr" indent="0" marL="0">
              <a:buNone/>
            </a:pPr>
            <a:r>
              <a:rPr lang="en-US" sz="1050" i="1" dirty="0">
                <a:solidFill>
                  <a:srgbClr val="6C7D71"/>
                </a:solidFill>
                <a:latin typeface="Calibri" pitchFamily="34" charset="0"/>
                <a:ea typeface="Calibri" pitchFamily="34" charset="-122"/>
                <a:cs typeface="Calibri" pitchFamily="34" charset="-120"/>
              </a:rPr>
              <a:t>“Our architecture combines geographic jurisdiction data with issue-based routing rules to determine the appropriate current authority and department for every civic complaint.”</a:t>
            </a:r>
            <a:endParaRPr lang="en-US" sz="1050" dirty="0"/>
          </a:p>
        </p:txBody>
      </p:sp>
      <p:sp>
        <p:nvSpPr>
          <p:cNvPr id="37" name="Text 35"/>
          <p:cNvSpPr txBox="1"/>
          <p:nvPr/>
        </p:nvSpPr>
        <p:spPr>
          <a:xfrm>
            <a:off x="11368735" y="6400800"/>
            <a:ext cx="548640" cy="274320"/>
          </a:xfrm>
          <a:prstGeom prst="rect">
            <a:avLst/>
          </a:prstGeom>
          <a:noFill/>
          <a:ln/>
        </p:spPr>
        <p:txBody>
          <a:bodyPr wrap="square" lIns="0" tIns="0" rIns="0" bIns="0" rtlCol="0" anchor="ctr"/>
          <a:lstStyle/>
          <a:p>
            <a:pPr algn="r" indent="0" marL="0">
              <a:buNone/>
            </a:pPr>
            <a:r>
              <a:rPr lang="en-US" sz="1000" dirty="0">
                <a:solidFill>
                  <a:srgbClr val="6C7D71"/>
                </a:solidFill>
                <a:latin typeface="Calibri" pitchFamily="34" charset="0"/>
                <a:ea typeface="Calibri" pitchFamily="34" charset="-122"/>
                <a:cs typeface="Calibri" pitchFamily="34" charset="-120"/>
              </a:rPr>
              <a:t>06</a:t>
            </a:r>
            <a:endParaRPr lang="en-US" sz="1000" dirty="0"/>
          </a:p>
        </p:txBody>
      </p:sp>
      <p:sp>
        <p:nvSpPr>
          <p:cNvPr id="38" name="Text 36"/>
          <p:cNvSpPr txBox="1"/>
          <p:nvPr/>
        </p:nvSpPr>
        <p:spPr>
          <a:xfrm>
            <a:off x="548640" y="6400800"/>
            <a:ext cx="3657600" cy="274320"/>
          </a:xfrm>
          <a:prstGeom prst="rect">
            <a:avLst/>
          </a:prstGeom>
          <a:noFill/>
          <a:ln/>
        </p:spPr>
        <p:txBody>
          <a:bodyPr wrap="square" lIns="0" tIns="0" rIns="0" bIns="0" rtlCol="0" anchor="ctr"/>
          <a:lstStyle/>
          <a:p>
            <a:pPr indent="0" marL="0">
              <a:buNone/>
            </a:pPr>
            <a:r>
              <a:rPr lang="en-US" sz="900" spc="200" kern="0" dirty="0">
                <a:solidFill>
                  <a:srgbClr val="6C7D71"/>
                </a:solidFill>
                <a:latin typeface="Calibri" pitchFamily="34" charset="0"/>
                <a:ea typeface="Calibri" pitchFamily="34" charset="-122"/>
                <a:cs typeface="Calibri" pitchFamily="34" charset="-120"/>
              </a:rPr>
              <a:t>SAMAGRA MYSURU</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2194560" y="5394960"/>
            <a:ext cx="4206240" cy="4206240"/>
          </a:xfrm>
          <a:prstGeom prst="ellipse">
            <a:avLst/>
          </a:prstGeom>
          <a:solidFill>
            <a:srgbClr val="F2F8F4">
              <a:alpha val="75000"/>
            </a:srgbClr>
          </a:solidFill>
          <a:ln/>
        </p:spPr>
      </p:sp>
      <p:sp>
        <p:nvSpPr>
          <p:cNvPr id="3" name="Text 1"/>
          <p:cNvSpPr txBox="1"/>
          <p:nvPr/>
        </p:nvSpPr>
        <p:spPr>
          <a:xfrm>
            <a:off x="548640" y="384048"/>
            <a:ext cx="9601200" cy="320040"/>
          </a:xfrm>
          <a:prstGeom prst="rect">
            <a:avLst/>
          </a:prstGeom>
          <a:noFill/>
          <a:ln/>
        </p:spPr>
        <p:txBody>
          <a:bodyPr wrap="square" lIns="0" tIns="0" rIns="0" bIns="0" rtlCol="0" anchor="ctr"/>
          <a:lstStyle/>
          <a:p>
            <a:pPr indent="0" marL="0">
              <a:buNone/>
            </a:pPr>
            <a:r>
              <a:rPr lang="en-US" sz="1250" b="1" spc="250" kern="0" dirty="0">
                <a:solidFill>
                  <a:srgbClr val="168A46"/>
                </a:solidFill>
                <a:latin typeface="Calibri" pitchFamily="34" charset="0"/>
                <a:ea typeface="Calibri" pitchFamily="34" charset="-122"/>
                <a:cs typeface="Calibri" pitchFamily="34" charset="-120"/>
              </a:rPr>
              <a:t>WORKFLOW</a:t>
            </a:r>
            <a:endParaRPr lang="en-US" sz="1250" dirty="0"/>
          </a:p>
        </p:txBody>
      </p:sp>
      <p:sp>
        <p:nvSpPr>
          <p:cNvPr id="4" name="Text 2"/>
          <p:cNvSpPr txBox="1"/>
          <p:nvPr/>
        </p:nvSpPr>
        <p:spPr>
          <a:xfrm>
            <a:off x="548640" y="658368"/>
            <a:ext cx="8229600" cy="685800"/>
          </a:xfrm>
          <a:prstGeom prst="rect">
            <a:avLst/>
          </a:prstGeom>
          <a:noFill/>
          <a:ln/>
        </p:spPr>
        <p:txBody>
          <a:bodyPr wrap="square" lIns="0" tIns="0" rIns="0" bIns="0" rtlCol="0" anchor="ctr"/>
          <a:lstStyle/>
          <a:p>
            <a:pPr indent="0" marL="0">
              <a:buNone/>
            </a:pPr>
            <a:r>
              <a:rPr lang="en-US" sz="2600" b="1" dirty="0">
                <a:solidFill>
                  <a:srgbClr val="142018"/>
                </a:solidFill>
                <a:latin typeface="Calibri" pitchFamily="34" charset="0"/>
                <a:ea typeface="Calibri" pitchFamily="34" charset="-122"/>
                <a:cs typeface="Calibri" pitchFamily="34" charset="-120"/>
              </a:rPr>
              <a:t>End-to-end complaint workflow</a:t>
            </a:r>
            <a:endParaRPr lang="en-US" sz="2600" dirty="0"/>
          </a:p>
        </p:txBody>
      </p:sp>
      <p:sp>
        <p:nvSpPr>
          <p:cNvPr id="5" name="Shape 3"/>
          <p:cNvSpPr/>
          <p:nvPr/>
        </p:nvSpPr>
        <p:spPr>
          <a:xfrm>
            <a:off x="4041648" y="1280160"/>
            <a:ext cx="4114800" cy="310896"/>
          </a:xfrm>
          <a:prstGeom prst="roundRect">
            <a:avLst>
              <a:gd name="adj" fmla="val 26471"/>
            </a:avLst>
          </a:prstGeom>
          <a:solidFill>
            <a:srgbClr val="F2F8F4"/>
          </a:solidFill>
          <a:ln w="12700">
            <a:solidFill>
              <a:srgbClr val="D3E6DA"/>
            </a:solidFill>
            <a:prstDash val="solid"/>
          </a:ln>
        </p:spPr>
      </p:sp>
      <p:sp>
        <p:nvSpPr>
          <p:cNvPr id="6" name="Text 4"/>
          <p:cNvSpPr txBox="1"/>
          <p:nvPr/>
        </p:nvSpPr>
        <p:spPr>
          <a:xfrm>
            <a:off x="4041648" y="1280160"/>
            <a:ext cx="4114800" cy="310896"/>
          </a:xfrm>
          <a:prstGeom prst="rect">
            <a:avLst/>
          </a:prstGeom>
          <a:noFill/>
          <a:ln/>
        </p:spPr>
        <p:txBody>
          <a:bodyPr wrap="square" lIns="0" tIns="0" rIns="0" bIns="0" rtlCol="0" anchor="ctr"/>
          <a:lstStyle/>
          <a:p>
            <a:pPr algn="ctr" indent="0" marL="0">
              <a:buNone/>
            </a:pPr>
            <a:r>
              <a:rPr lang="en-US" sz="1100" b="1" dirty="0">
                <a:solidFill>
                  <a:srgbClr val="142018"/>
                </a:solidFill>
                <a:latin typeface="Calibri" pitchFamily="34" charset="0"/>
                <a:ea typeface="Calibri" pitchFamily="34" charset="-122"/>
                <a:cs typeface="Calibri" pitchFamily="34" charset="-120"/>
              </a:rPr>
              <a:t>👤  CITIZEN</a:t>
            </a:r>
            <a:endParaRPr lang="en-US" sz="1100" dirty="0"/>
          </a:p>
        </p:txBody>
      </p:sp>
      <p:sp>
        <p:nvSpPr>
          <p:cNvPr id="7" name="Shape 5"/>
          <p:cNvSpPr/>
          <p:nvPr/>
        </p:nvSpPr>
        <p:spPr>
          <a:xfrm>
            <a:off x="6016752" y="1609344"/>
            <a:ext cx="164592" cy="91440"/>
          </a:xfrm>
          <a:prstGeom prst="downArrow">
            <a:avLst/>
          </a:prstGeom>
          <a:solidFill>
            <a:srgbClr val="168A46"/>
          </a:solidFill>
          <a:ln/>
        </p:spPr>
      </p:sp>
      <p:sp>
        <p:nvSpPr>
          <p:cNvPr id="8" name="Shape 6"/>
          <p:cNvSpPr/>
          <p:nvPr/>
        </p:nvSpPr>
        <p:spPr>
          <a:xfrm>
            <a:off x="4041648" y="1728216"/>
            <a:ext cx="4114800" cy="310896"/>
          </a:xfrm>
          <a:prstGeom prst="roundRect">
            <a:avLst>
              <a:gd name="adj" fmla="val 26471"/>
            </a:avLst>
          </a:prstGeom>
          <a:solidFill>
            <a:srgbClr val="F2F8F4"/>
          </a:solidFill>
          <a:ln w="12700">
            <a:solidFill>
              <a:srgbClr val="D3E6DA"/>
            </a:solidFill>
            <a:prstDash val="solid"/>
          </a:ln>
        </p:spPr>
      </p:sp>
      <p:sp>
        <p:nvSpPr>
          <p:cNvPr id="9" name="Text 7"/>
          <p:cNvSpPr txBox="1"/>
          <p:nvPr/>
        </p:nvSpPr>
        <p:spPr>
          <a:xfrm>
            <a:off x="4041648" y="1728216"/>
            <a:ext cx="4114800" cy="310896"/>
          </a:xfrm>
          <a:prstGeom prst="rect">
            <a:avLst/>
          </a:prstGeom>
          <a:noFill/>
          <a:ln/>
        </p:spPr>
        <p:txBody>
          <a:bodyPr wrap="square" lIns="0" tIns="0" rIns="0" bIns="0" rtlCol="0" anchor="ctr"/>
          <a:lstStyle/>
          <a:p>
            <a:pPr algn="ctr" indent="0" marL="0">
              <a:buNone/>
            </a:pPr>
            <a:r>
              <a:rPr lang="en-US" sz="1100" b="1" dirty="0">
                <a:solidFill>
                  <a:srgbClr val="142018"/>
                </a:solidFill>
                <a:latin typeface="Calibri" pitchFamily="34" charset="0"/>
                <a:ea typeface="Calibri" pitchFamily="34" charset="-122"/>
                <a:cs typeface="Calibri" pitchFamily="34" charset="-120"/>
              </a:rPr>
              <a:t>📱  Submit Civic Complaint</a:t>
            </a:r>
            <a:endParaRPr lang="en-US" sz="1100" dirty="0"/>
          </a:p>
        </p:txBody>
      </p:sp>
      <p:sp>
        <p:nvSpPr>
          <p:cNvPr id="10" name="Shape 8"/>
          <p:cNvSpPr/>
          <p:nvPr/>
        </p:nvSpPr>
        <p:spPr>
          <a:xfrm>
            <a:off x="6016752" y="2057400"/>
            <a:ext cx="164592" cy="91440"/>
          </a:xfrm>
          <a:prstGeom prst="downArrow">
            <a:avLst/>
          </a:prstGeom>
          <a:solidFill>
            <a:srgbClr val="168A46"/>
          </a:solidFill>
          <a:ln/>
        </p:spPr>
      </p:sp>
      <p:sp>
        <p:nvSpPr>
          <p:cNvPr id="11" name="Shape 9"/>
          <p:cNvSpPr/>
          <p:nvPr/>
        </p:nvSpPr>
        <p:spPr>
          <a:xfrm>
            <a:off x="4750308" y="2093976"/>
            <a:ext cx="2697480" cy="0"/>
          </a:xfrm>
          <a:prstGeom prst="line">
            <a:avLst/>
          </a:prstGeom>
          <a:noFill/>
          <a:ln w="15875">
            <a:solidFill>
              <a:srgbClr val="168A46"/>
            </a:solidFill>
            <a:prstDash val="solid"/>
          </a:ln>
        </p:spPr>
      </p:sp>
      <p:sp>
        <p:nvSpPr>
          <p:cNvPr id="12" name="Shape 10"/>
          <p:cNvSpPr/>
          <p:nvPr/>
        </p:nvSpPr>
        <p:spPr>
          <a:xfrm>
            <a:off x="4750308" y="2093976"/>
            <a:ext cx="0" cy="82296"/>
          </a:xfrm>
          <a:prstGeom prst="line">
            <a:avLst/>
          </a:prstGeom>
          <a:noFill/>
          <a:ln w="15875">
            <a:solidFill>
              <a:srgbClr val="168A46"/>
            </a:solidFill>
            <a:prstDash val="solid"/>
          </a:ln>
        </p:spPr>
      </p:sp>
      <p:sp>
        <p:nvSpPr>
          <p:cNvPr id="13" name="Shape 11"/>
          <p:cNvSpPr/>
          <p:nvPr/>
        </p:nvSpPr>
        <p:spPr>
          <a:xfrm>
            <a:off x="7447788" y="2093976"/>
            <a:ext cx="0" cy="82296"/>
          </a:xfrm>
          <a:prstGeom prst="line">
            <a:avLst/>
          </a:prstGeom>
          <a:noFill/>
          <a:ln w="15875">
            <a:solidFill>
              <a:srgbClr val="168A46"/>
            </a:solidFill>
            <a:prstDash val="solid"/>
          </a:ln>
        </p:spPr>
      </p:sp>
      <p:sp>
        <p:nvSpPr>
          <p:cNvPr id="14" name="Shape 12"/>
          <p:cNvSpPr/>
          <p:nvPr/>
        </p:nvSpPr>
        <p:spPr>
          <a:xfrm>
            <a:off x="3584448" y="2176272"/>
            <a:ext cx="2331720" cy="402336"/>
          </a:xfrm>
          <a:prstGeom prst="roundRect">
            <a:avLst>
              <a:gd name="adj" fmla="val 20455"/>
            </a:avLst>
          </a:prstGeom>
          <a:solidFill>
            <a:srgbClr val="E6F3EA"/>
          </a:solidFill>
          <a:ln w="12700">
            <a:solidFill>
              <a:srgbClr val="D3E6DA"/>
            </a:solidFill>
            <a:prstDash val="solid"/>
          </a:ln>
          <a:effectLst>
            <a:outerShdw sx="100000" sy="100000" kx="0" ky="0" algn="bl" rotWithShape="0" blurRad="101600" dist="25400" dir="5400000">
              <a:srgbClr val="9CB3A4">
                <a:alpha val="28000"/>
              </a:srgbClr>
            </a:outerShdw>
          </a:effectLst>
        </p:spPr>
      </p:sp>
      <p:sp>
        <p:nvSpPr>
          <p:cNvPr id="15" name="Text 13"/>
          <p:cNvSpPr txBox="1"/>
          <p:nvPr/>
        </p:nvSpPr>
        <p:spPr>
          <a:xfrm>
            <a:off x="3584448" y="2176272"/>
            <a:ext cx="2331720" cy="402336"/>
          </a:xfrm>
          <a:prstGeom prst="rect">
            <a:avLst/>
          </a:prstGeom>
          <a:noFill/>
          <a:ln/>
        </p:spPr>
        <p:txBody>
          <a:bodyPr wrap="square" lIns="0" tIns="0" rIns="0" bIns="0" rtlCol="0" anchor="ctr"/>
          <a:lstStyle/>
          <a:p>
            <a:pPr algn="ctr" indent="0" marL="0">
              <a:buNone/>
            </a:pPr>
            <a:r>
              <a:rPr lang="en-US" sz="1050" b="1" dirty="0">
                <a:solidFill>
                  <a:srgbClr val="0F6334"/>
                </a:solidFill>
                <a:latin typeface="Calibri" pitchFamily="34" charset="0"/>
                <a:ea typeface="Calibri" pitchFamily="34" charset="-122"/>
                <a:cs typeface="Calibri" pitchFamily="34" charset="-120"/>
              </a:rPr>
              <a:t>📸  Photo</a:t>
            </a:r>
            <a:endParaRPr lang="en-US" sz="1050" dirty="0"/>
          </a:p>
        </p:txBody>
      </p:sp>
      <p:sp>
        <p:nvSpPr>
          <p:cNvPr id="16" name="Shape 14"/>
          <p:cNvSpPr/>
          <p:nvPr/>
        </p:nvSpPr>
        <p:spPr>
          <a:xfrm>
            <a:off x="6281928" y="2176272"/>
            <a:ext cx="2331720" cy="402336"/>
          </a:xfrm>
          <a:prstGeom prst="roundRect">
            <a:avLst>
              <a:gd name="adj" fmla="val 20455"/>
            </a:avLst>
          </a:prstGeom>
          <a:solidFill>
            <a:srgbClr val="E6F3EA"/>
          </a:solidFill>
          <a:ln w="12700">
            <a:solidFill>
              <a:srgbClr val="D3E6DA"/>
            </a:solidFill>
            <a:prstDash val="solid"/>
          </a:ln>
          <a:effectLst>
            <a:outerShdw sx="100000" sy="100000" kx="0" ky="0" algn="bl" rotWithShape="0" blurRad="101600" dist="25400" dir="5400000">
              <a:srgbClr val="9CB3A4">
                <a:alpha val="28000"/>
              </a:srgbClr>
            </a:outerShdw>
          </a:effectLst>
        </p:spPr>
      </p:sp>
      <p:sp>
        <p:nvSpPr>
          <p:cNvPr id="17" name="Text 15"/>
          <p:cNvSpPr txBox="1"/>
          <p:nvPr/>
        </p:nvSpPr>
        <p:spPr>
          <a:xfrm>
            <a:off x="6281928" y="2176272"/>
            <a:ext cx="2331720" cy="402336"/>
          </a:xfrm>
          <a:prstGeom prst="rect">
            <a:avLst/>
          </a:prstGeom>
          <a:noFill/>
          <a:ln/>
        </p:spPr>
        <p:txBody>
          <a:bodyPr wrap="square" lIns="0" tIns="0" rIns="0" bIns="0" rtlCol="0" anchor="ctr"/>
          <a:lstStyle/>
          <a:p>
            <a:pPr algn="ctr" indent="0" marL="0">
              <a:buNone/>
            </a:pPr>
            <a:r>
              <a:rPr lang="en-US" sz="1050" b="1" dirty="0">
                <a:solidFill>
                  <a:srgbClr val="0F6334"/>
                </a:solidFill>
                <a:latin typeface="Calibri" pitchFamily="34" charset="0"/>
                <a:ea typeface="Calibri" pitchFamily="34" charset="-122"/>
                <a:cs typeface="Calibri" pitchFamily="34" charset="-120"/>
              </a:rPr>
              <a:t>📝  Issue (e.g. “Garbage”)</a:t>
            </a:r>
            <a:endParaRPr lang="en-US" sz="1050" dirty="0"/>
          </a:p>
        </p:txBody>
      </p:sp>
      <p:sp>
        <p:nvSpPr>
          <p:cNvPr id="18" name="Shape 16"/>
          <p:cNvSpPr/>
          <p:nvPr/>
        </p:nvSpPr>
        <p:spPr>
          <a:xfrm>
            <a:off x="4750308" y="2578608"/>
            <a:ext cx="0" cy="91440"/>
          </a:xfrm>
          <a:prstGeom prst="line">
            <a:avLst/>
          </a:prstGeom>
          <a:noFill/>
          <a:ln w="15875">
            <a:solidFill>
              <a:srgbClr val="168A46"/>
            </a:solidFill>
            <a:prstDash val="solid"/>
          </a:ln>
        </p:spPr>
      </p:sp>
      <p:sp>
        <p:nvSpPr>
          <p:cNvPr id="19" name="Shape 17"/>
          <p:cNvSpPr/>
          <p:nvPr/>
        </p:nvSpPr>
        <p:spPr>
          <a:xfrm>
            <a:off x="7447788" y="2578608"/>
            <a:ext cx="0" cy="91440"/>
          </a:xfrm>
          <a:prstGeom prst="line">
            <a:avLst/>
          </a:prstGeom>
          <a:noFill/>
          <a:ln w="15875">
            <a:solidFill>
              <a:srgbClr val="168A46"/>
            </a:solidFill>
            <a:prstDash val="solid"/>
          </a:ln>
        </p:spPr>
      </p:sp>
      <p:sp>
        <p:nvSpPr>
          <p:cNvPr id="20" name="Shape 18"/>
          <p:cNvSpPr/>
          <p:nvPr/>
        </p:nvSpPr>
        <p:spPr>
          <a:xfrm>
            <a:off x="4750308" y="2670048"/>
            <a:ext cx="2697480" cy="0"/>
          </a:xfrm>
          <a:prstGeom prst="line">
            <a:avLst/>
          </a:prstGeom>
          <a:noFill/>
          <a:ln w="15875">
            <a:solidFill>
              <a:srgbClr val="168A46"/>
            </a:solidFill>
            <a:prstDash val="solid"/>
          </a:ln>
        </p:spPr>
      </p:sp>
      <p:sp>
        <p:nvSpPr>
          <p:cNvPr id="21" name="Shape 19"/>
          <p:cNvSpPr/>
          <p:nvPr/>
        </p:nvSpPr>
        <p:spPr>
          <a:xfrm>
            <a:off x="6099048" y="2670048"/>
            <a:ext cx="0" cy="64008"/>
          </a:xfrm>
          <a:prstGeom prst="line">
            <a:avLst/>
          </a:prstGeom>
          <a:noFill/>
          <a:ln w="15875">
            <a:solidFill>
              <a:srgbClr val="168A46"/>
            </a:solidFill>
            <a:prstDash val="solid"/>
          </a:ln>
        </p:spPr>
      </p:sp>
      <p:sp>
        <p:nvSpPr>
          <p:cNvPr id="22" name="Shape 20"/>
          <p:cNvSpPr/>
          <p:nvPr/>
        </p:nvSpPr>
        <p:spPr>
          <a:xfrm>
            <a:off x="6016752" y="2734056"/>
            <a:ext cx="164592" cy="91440"/>
          </a:xfrm>
          <a:prstGeom prst="downArrow">
            <a:avLst/>
          </a:prstGeom>
          <a:solidFill>
            <a:srgbClr val="168A46"/>
          </a:solidFill>
          <a:ln/>
        </p:spPr>
      </p:sp>
      <p:sp>
        <p:nvSpPr>
          <p:cNvPr id="23" name="Shape 21"/>
          <p:cNvSpPr/>
          <p:nvPr/>
        </p:nvSpPr>
        <p:spPr>
          <a:xfrm>
            <a:off x="4041648" y="2871216"/>
            <a:ext cx="4114800" cy="310896"/>
          </a:xfrm>
          <a:prstGeom prst="roundRect">
            <a:avLst>
              <a:gd name="adj" fmla="val 26471"/>
            </a:avLst>
          </a:prstGeom>
          <a:solidFill>
            <a:srgbClr val="F2F8F4"/>
          </a:solidFill>
          <a:ln w="12700">
            <a:solidFill>
              <a:srgbClr val="D3E6DA"/>
            </a:solidFill>
            <a:prstDash val="solid"/>
          </a:ln>
        </p:spPr>
      </p:sp>
      <p:sp>
        <p:nvSpPr>
          <p:cNvPr id="24" name="Text 22"/>
          <p:cNvSpPr txBox="1"/>
          <p:nvPr/>
        </p:nvSpPr>
        <p:spPr>
          <a:xfrm>
            <a:off x="4041648" y="2871216"/>
            <a:ext cx="4114800" cy="310896"/>
          </a:xfrm>
          <a:prstGeom prst="rect">
            <a:avLst/>
          </a:prstGeom>
          <a:noFill/>
          <a:ln/>
        </p:spPr>
        <p:txBody>
          <a:bodyPr wrap="square" lIns="0" tIns="0" rIns="0" bIns="0" rtlCol="0" anchor="ctr"/>
          <a:lstStyle/>
          <a:p>
            <a:pPr algn="ctr" indent="0" marL="0">
              <a:buNone/>
            </a:pPr>
            <a:r>
              <a:rPr lang="en-US" sz="1100" b="1" dirty="0">
                <a:solidFill>
                  <a:srgbClr val="142018"/>
                </a:solidFill>
                <a:latin typeface="Calibri" pitchFamily="34" charset="0"/>
                <a:ea typeface="Calibri" pitchFamily="34" charset="-122"/>
                <a:cs typeface="Calibri" pitchFamily="34" charset="-120"/>
              </a:rPr>
              <a:t>📍  Location (Latitude + Longitude)</a:t>
            </a:r>
            <a:endParaRPr lang="en-US" sz="1100" dirty="0"/>
          </a:p>
        </p:txBody>
      </p:sp>
      <p:sp>
        <p:nvSpPr>
          <p:cNvPr id="25" name="Shape 23"/>
          <p:cNvSpPr/>
          <p:nvPr/>
        </p:nvSpPr>
        <p:spPr>
          <a:xfrm>
            <a:off x="6016752" y="3200400"/>
            <a:ext cx="164592" cy="91440"/>
          </a:xfrm>
          <a:prstGeom prst="downArrow">
            <a:avLst/>
          </a:prstGeom>
          <a:solidFill>
            <a:srgbClr val="168A46"/>
          </a:solidFill>
          <a:ln/>
        </p:spPr>
      </p:sp>
      <p:sp>
        <p:nvSpPr>
          <p:cNvPr id="26" name="Shape 24"/>
          <p:cNvSpPr/>
          <p:nvPr/>
        </p:nvSpPr>
        <p:spPr>
          <a:xfrm>
            <a:off x="4041648" y="3319272"/>
            <a:ext cx="4114800" cy="310896"/>
          </a:xfrm>
          <a:prstGeom prst="roundRect">
            <a:avLst>
              <a:gd name="adj" fmla="val 26471"/>
            </a:avLst>
          </a:prstGeom>
          <a:solidFill>
            <a:srgbClr val="F2F8F4"/>
          </a:solidFill>
          <a:ln w="12700">
            <a:solidFill>
              <a:srgbClr val="D3E6DA"/>
            </a:solidFill>
            <a:prstDash val="solid"/>
          </a:ln>
        </p:spPr>
      </p:sp>
      <p:sp>
        <p:nvSpPr>
          <p:cNvPr id="27" name="Text 25"/>
          <p:cNvSpPr txBox="1"/>
          <p:nvPr/>
        </p:nvSpPr>
        <p:spPr>
          <a:xfrm>
            <a:off x="4041648" y="3319272"/>
            <a:ext cx="4114800" cy="310896"/>
          </a:xfrm>
          <a:prstGeom prst="rect">
            <a:avLst/>
          </a:prstGeom>
          <a:noFill/>
          <a:ln/>
        </p:spPr>
        <p:txBody>
          <a:bodyPr wrap="square" lIns="0" tIns="0" rIns="0" bIns="0" rtlCol="0" anchor="ctr"/>
          <a:lstStyle/>
          <a:p>
            <a:pPr algn="ctr" indent="0" marL="0">
              <a:buNone/>
            </a:pPr>
            <a:r>
              <a:rPr lang="en-US" sz="1100" b="1" dirty="0">
                <a:solidFill>
                  <a:srgbClr val="142018"/>
                </a:solidFill>
                <a:latin typeface="Calibri" pitchFamily="34" charset="0"/>
                <a:ea typeface="Calibri" pitchFamily="34" charset="-122"/>
                <a:cs typeface="Calibri" pitchFamily="34" charset="-120"/>
              </a:rPr>
              <a:t>⚙️  BACKEND</a:t>
            </a:r>
            <a:endParaRPr lang="en-US" sz="1100" dirty="0"/>
          </a:p>
        </p:txBody>
      </p:sp>
      <p:sp>
        <p:nvSpPr>
          <p:cNvPr id="28" name="Shape 26"/>
          <p:cNvSpPr/>
          <p:nvPr/>
        </p:nvSpPr>
        <p:spPr>
          <a:xfrm>
            <a:off x="6016752" y="3648456"/>
            <a:ext cx="164592" cy="91440"/>
          </a:xfrm>
          <a:prstGeom prst="downArrow">
            <a:avLst/>
          </a:prstGeom>
          <a:solidFill>
            <a:srgbClr val="168A46"/>
          </a:solidFill>
          <a:ln/>
        </p:spPr>
      </p:sp>
      <p:sp>
        <p:nvSpPr>
          <p:cNvPr id="29" name="Shape 27"/>
          <p:cNvSpPr/>
          <p:nvPr/>
        </p:nvSpPr>
        <p:spPr>
          <a:xfrm>
            <a:off x="4750308" y="3685032"/>
            <a:ext cx="2697480" cy="0"/>
          </a:xfrm>
          <a:prstGeom prst="line">
            <a:avLst/>
          </a:prstGeom>
          <a:noFill/>
          <a:ln w="15875">
            <a:solidFill>
              <a:srgbClr val="168A46"/>
            </a:solidFill>
            <a:prstDash val="solid"/>
          </a:ln>
        </p:spPr>
      </p:sp>
      <p:sp>
        <p:nvSpPr>
          <p:cNvPr id="30" name="Shape 28"/>
          <p:cNvSpPr/>
          <p:nvPr/>
        </p:nvSpPr>
        <p:spPr>
          <a:xfrm>
            <a:off x="4750308" y="3685032"/>
            <a:ext cx="0" cy="82296"/>
          </a:xfrm>
          <a:prstGeom prst="line">
            <a:avLst/>
          </a:prstGeom>
          <a:noFill/>
          <a:ln w="15875">
            <a:solidFill>
              <a:srgbClr val="168A46"/>
            </a:solidFill>
            <a:prstDash val="solid"/>
          </a:ln>
        </p:spPr>
      </p:sp>
      <p:sp>
        <p:nvSpPr>
          <p:cNvPr id="31" name="Shape 29"/>
          <p:cNvSpPr/>
          <p:nvPr/>
        </p:nvSpPr>
        <p:spPr>
          <a:xfrm>
            <a:off x="7447788" y="3685032"/>
            <a:ext cx="0" cy="82296"/>
          </a:xfrm>
          <a:prstGeom prst="line">
            <a:avLst/>
          </a:prstGeom>
          <a:noFill/>
          <a:ln w="15875">
            <a:solidFill>
              <a:srgbClr val="168A46"/>
            </a:solidFill>
            <a:prstDash val="solid"/>
          </a:ln>
        </p:spPr>
      </p:sp>
      <p:sp>
        <p:nvSpPr>
          <p:cNvPr id="32" name="Shape 30"/>
          <p:cNvSpPr/>
          <p:nvPr/>
        </p:nvSpPr>
        <p:spPr>
          <a:xfrm>
            <a:off x="3584448" y="3767328"/>
            <a:ext cx="2331720" cy="548640"/>
          </a:xfrm>
          <a:prstGeom prst="roundRect">
            <a:avLst>
              <a:gd name="adj" fmla="val 15000"/>
            </a:avLst>
          </a:prstGeom>
          <a:solidFill>
            <a:srgbClr val="E6F3EA"/>
          </a:solidFill>
          <a:ln w="12700">
            <a:solidFill>
              <a:srgbClr val="D3E6DA"/>
            </a:solidFill>
            <a:prstDash val="solid"/>
          </a:ln>
          <a:effectLst>
            <a:outerShdw sx="100000" sy="100000" kx="0" ky="0" algn="bl" rotWithShape="0" blurRad="101600" dist="25400" dir="5400000">
              <a:srgbClr val="9CB3A4">
                <a:alpha val="28000"/>
              </a:srgbClr>
            </a:outerShdw>
          </a:effectLst>
        </p:spPr>
      </p:sp>
      <p:sp>
        <p:nvSpPr>
          <p:cNvPr id="33" name="Text 31"/>
          <p:cNvSpPr txBox="1"/>
          <p:nvPr/>
        </p:nvSpPr>
        <p:spPr>
          <a:xfrm>
            <a:off x="3712464" y="3822192"/>
            <a:ext cx="2075688" cy="219456"/>
          </a:xfrm>
          <a:prstGeom prst="rect">
            <a:avLst/>
          </a:prstGeom>
          <a:noFill/>
          <a:ln/>
        </p:spPr>
        <p:txBody>
          <a:bodyPr wrap="square" lIns="0" tIns="0" rIns="0" bIns="0" rtlCol="0" anchor="ctr"/>
          <a:lstStyle/>
          <a:p>
            <a:pPr indent="0" marL="0">
              <a:buNone/>
            </a:pPr>
            <a:r>
              <a:rPr lang="en-US" sz="980" b="1" dirty="0">
                <a:solidFill>
                  <a:srgbClr val="0F6334"/>
                </a:solidFill>
                <a:latin typeface="Calibri" pitchFamily="34" charset="0"/>
                <a:ea typeface="Calibri" pitchFamily="34" charset="-122"/>
                <a:cs typeface="Calibri" pitchFamily="34" charset="-120"/>
              </a:rPr>
              <a:t>🗺️  Location processing</a:t>
            </a:r>
            <a:endParaRPr lang="en-US" sz="980" dirty="0"/>
          </a:p>
        </p:txBody>
      </p:sp>
      <p:sp>
        <p:nvSpPr>
          <p:cNvPr id="34" name="Text 32"/>
          <p:cNvSpPr txBox="1"/>
          <p:nvPr/>
        </p:nvSpPr>
        <p:spPr>
          <a:xfrm>
            <a:off x="3712464" y="4041648"/>
            <a:ext cx="2075688" cy="256032"/>
          </a:xfrm>
          <a:prstGeom prst="rect">
            <a:avLst/>
          </a:prstGeom>
          <a:noFill/>
          <a:ln/>
        </p:spPr>
        <p:txBody>
          <a:bodyPr wrap="square" lIns="0" tIns="0" rIns="0" bIns="0" rtlCol="0" anchor="ctr"/>
          <a:lstStyle/>
          <a:p>
            <a:pPr indent="0" marL="0">
              <a:buNone/>
            </a:pPr>
            <a:r>
              <a:rPr lang="en-US" sz="880" dirty="0">
                <a:solidFill>
                  <a:srgbClr val="34433B"/>
                </a:solidFill>
                <a:latin typeface="Calibri" pitchFamily="34" charset="0"/>
                <a:ea typeface="Calibri" pitchFamily="34" charset="-122"/>
                <a:cs typeface="Calibri" pitchFamily="34" charset="-120"/>
              </a:rPr>
              <a:t>→ Jurisdiction / Ward / Locality</a:t>
            </a:r>
            <a:endParaRPr lang="en-US" sz="880" dirty="0"/>
          </a:p>
        </p:txBody>
      </p:sp>
      <p:sp>
        <p:nvSpPr>
          <p:cNvPr id="35" name="Shape 33"/>
          <p:cNvSpPr/>
          <p:nvPr/>
        </p:nvSpPr>
        <p:spPr>
          <a:xfrm>
            <a:off x="6281928" y="3767328"/>
            <a:ext cx="2331720" cy="548640"/>
          </a:xfrm>
          <a:prstGeom prst="roundRect">
            <a:avLst>
              <a:gd name="adj" fmla="val 15000"/>
            </a:avLst>
          </a:prstGeom>
          <a:solidFill>
            <a:srgbClr val="E6F3EA"/>
          </a:solidFill>
          <a:ln w="12700">
            <a:solidFill>
              <a:srgbClr val="D3E6DA"/>
            </a:solidFill>
            <a:prstDash val="solid"/>
          </a:ln>
          <a:effectLst>
            <a:outerShdw sx="100000" sy="100000" kx="0" ky="0" algn="bl" rotWithShape="0" blurRad="101600" dist="25400" dir="5400000">
              <a:srgbClr val="9CB3A4">
                <a:alpha val="28000"/>
              </a:srgbClr>
            </a:outerShdw>
          </a:effectLst>
        </p:spPr>
      </p:sp>
      <p:sp>
        <p:nvSpPr>
          <p:cNvPr id="36" name="Text 34"/>
          <p:cNvSpPr txBox="1"/>
          <p:nvPr/>
        </p:nvSpPr>
        <p:spPr>
          <a:xfrm>
            <a:off x="6409944" y="3822192"/>
            <a:ext cx="2075688" cy="219456"/>
          </a:xfrm>
          <a:prstGeom prst="rect">
            <a:avLst/>
          </a:prstGeom>
          <a:noFill/>
          <a:ln/>
        </p:spPr>
        <p:txBody>
          <a:bodyPr wrap="square" lIns="0" tIns="0" rIns="0" bIns="0" rtlCol="0" anchor="ctr"/>
          <a:lstStyle/>
          <a:p>
            <a:pPr indent="0" marL="0">
              <a:buNone/>
            </a:pPr>
            <a:r>
              <a:rPr lang="en-US" sz="980" b="1" dirty="0">
                <a:solidFill>
                  <a:srgbClr val="0F6334"/>
                </a:solidFill>
                <a:latin typeface="Calibri" pitchFamily="34" charset="0"/>
                <a:ea typeface="Calibri" pitchFamily="34" charset="-122"/>
                <a:cs typeface="Calibri" pitchFamily="34" charset="-120"/>
              </a:rPr>
              <a:t>🏷️  Issue type processing</a:t>
            </a:r>
            <a:endParaRPr lang="en-US" sz="980" dirty="0"/>
          </a:p>
        </p:txBody>
      </p:sp>
      <p:sp>
        <p:nvSpPr>
          <p:cNvPr id="37" name="Text 35"/>
          <p:cNvSpPr txBox="1"/>
          <p:nvPr/>
        </p:nvSpPr>
        <p:spPr>
          <a:xfrm>
            <a:off x="6409944" y="4041648"/>
            <a:ext cx="2075688" cy="256032"/>
          </a:xfrm>
          <a:prstGeom prst="rect">
            <a:avLst/>
          </a:prstGeom>
          <a:noFill/>
          <a:ln/>
        </p:spPr>
        <p:txBody>
          <a:bodyPr wrap="square" lIns="0" tIns="0" rIns="0" bIns="0" rtlCol="0" anchor="ctr"/>
          <a:lstStyle/>
          <a:p>
            <a:pPr indent="0" marL="0">
              <a:buNone/>
            </a:pPr>
            <a:r>
              <a:rPr lang="en-US" sz="880" dirty="0">
                <a:solidFill>
                  <a:srgbClr val="34433B"/>
                </a:solidFill>
                <a:latin typeface="Calibri" pitchFamily="34" charset="0"/>
                <a:ea typeface="Calibri" pitchFamily="34" charset="-122"/>
                <a:cs typeface="Calibri" pitchFamily="34" charset="-120"/>
              </a:rPr>
              <a:t>→ Department mapping</a:t>
            </a:r>
            <a:endParaRPr lang="en-US" sz="880" dirty="0"/>
          </a:p>
        </p:txBody>
      </p:sp>
      <p:sp>
        <p:nvSpPr>
          <p:cNvPr id="38" name="Shape 36"/>
          <p:cNvSpPr/>
          <p:nvPr/>
        </p:nvSpPr>
        <p:spPr>
          <a:xfrm>
            <a:off x="4750308" y="4315968"/>
            <a:ext cx="0" cy="91440"/>
          </a:xfrm>
          <a:prstGeom prst="line">
            <a:avLst/>
          </a:prstGeom>
          <a:noFill/>
          <a:ln w="15875">
            <a:solidFill>
              <a:srgbClr val="168A46"/>
            </a:solidFill>
            <a:prstDash val="solid"/>
          </a:ln>
        </p:spPr>
      </p:sp>
      <p:sp>
        <p:nvSpPr>
          <p:cNvPr id="39" name="Shape 37"/>
          <p:cNvSpPr/>
          <p:nvPr/>
        </p:nvSpPr>
        <p:spPr>
          <a:xfrm>
            <a:off x="7447788" y="4315968"/>
            <a:ext cx="0" cy="91440"/>
          </a:xfrm>
          <a:prstGeom prst="line">
            <a:avLst/>
          </a:prstGeom>
          <a:noFill/>
          <a:ln w="15875">
            <a:solidFill>
              <a:srgbClr val="168A46"/>
            </a:solidFill>
            <a:prstDash val="solid"/>
          </a:ln>
        </p:spPr>
      </p:sp>
      <p:sp>
        <p:nvSpPr>
          <p:cNvPr id="40" name="Shape 38"/>
          <p:cNvSpPr/>
          <p:nvPr/>
        </p:nvSpPr>
        <p:spPr>
          <a:xfrm>
            <a:off x="4750308" y="4407408"/>
            <a:ext cx="2697480" cy="0"/>
          </a:xfrm>
          <a:prstGeom prst="line">
            <a:avLst/>
          </a:prstGeom>
          <a:noFill/>
          <a:ln w="15875">
            <a:solidFill>
              <a:srgbClr val="168A46"/>
            </a:solidFill>
            <a:prstDash val="solid"/>
          </a:ln>
        </p:spPr>
      </p:sp>
      <p:sp>
        <p:nvSpPr>
          <p:cNvPr id="41" name="Shape 39"/>
          <p:cNvSpPr/>
          <p:nvPr/>
        </p:nvSpPr>
        <p:spPr>
          <a:xfrm>
            <a:off x="6099048" y="4407408"/>
            <a:ext cx="0" cy="64008"/>
          </a:xfrm>
          <a:prstGeom prst="line">
            <a:avLst/>
          </a:prstGeom>
          <a:noFill/>
          <a:ln w="15875">
            <a:solidFill>
              <a:srgbClr val="168A46"/>
            </a:solidFill>
            <a:prstDash val="solid"/>
          </a:ln>
        </p:spPr>
      </p:sp>
      <p:sp>
        <p:nvSpPr>
          <p:cNvPr id="42" name="Shape 40"/>
          <p:cNvSpPr/>
          <p:nvPr/>
        </p:nvSpPr>
        <p:spPr>
          <a:xfrm>
            <a:off x="6016752" y="4471416"/>
            <a:ext cx="164592" cy="91440"/>
          </a:xfrm>
          <a:prstGeom prst="downArrow">
            <a:avLst/>
          </a:prstGeom>
          <a:solidFill>
            <a:srgbClr val="168A46"/>
          </a:solidFill>
          <a:ln/>
        </p:spPr>
      </p:sp>
      <p:sp>
        <p:nvSpPr>
          <p:cNvPr id="43" name="Shape 41"/>
          <p:cNvSpPr/>
          <p:nvPr/>
        </p:nvSpPr>
        <p:spPr>
          <a:xfrm>
            <a:off x="4041648" y="4608576"/>
            <a:ext cx="4114800" cy="310896"/>
          </a:xfrm>
          <a:prstGeom prst="roundRect">
            <a:avLst>
              <a:gd name="adj" fmla="val 26471"/>
            </a:avLst>
          </a:prstGeom>
          <a:solidFill>
            <a:srgbClr val="E6F3EA"/>
          </a:solidFill>
          <a:ln w="12700">
            <a:solidFill>
              <a:srgbClr val="D3E6DA"/>
            </a:solidFill>
            <a:prstDash val="solid"/>
          </a:ln>
        </p:spPr>
      </p:sp>
      <p:sp>
        <p:nvSpPr>
          <p:cNvPr id="44" name="Text 42"/>
          <p:cNvSpPr txBox="1"/>
          <p:nvPr/>
        </p:nvSpPr>
        <p:spPr>
          <a:xfrm>
            <a:off x="4041648" y="4608576"/>
            <a:ext cx="4114800" cy="310896"/>
          </a:xfrm>
          <a:prstGeom prst="rect">
            <a:avLst/>
          </a:prstGeom>
          <a:noFill/>
          <a:ln/>
        </p:spPr>
        <p:txBody>
          <a:bodyPr wrap="square" lIns="0" tIns="0" rIns="0" bIns="0" rtlCol="0" anchor="ctr"/>
          <a:lstStyle/>
          <a:p>
            <a:pPr algn="ctr" indent="0" marL="0">
              <a:buNone/>
            </a:pPr>
            <a:r>
              <a:rPr lang="en-US" sz="1050" b="1" dirty="0">
                <a:solidFill>
                  <a:srgbClr val="142018"/>
                </a:solidFill>
                <a:latin typeface="Calibri" pitchFamily="34" charset="0"/>
                <a:ea typeface="Calibri" pitchFamily="34" charset="-122"/>
                <a:cs typeface="Calibri" pitchFamily="34" charset="-120"/>
              </a:rPr>
              <a:t>🗄️  MYSQL DB</a:t>
            </a:r>
            <a:endParaRPr lang="en-US" sz="1050" dirty="0"/>
          </a:p>
        </p:txBody>
      </p:sp>
      <p:sp>
        <p:nvSpPr>
          <p:cNvPr id="45" name="Shape 43"/>
          <p:cNvSpPr/>
          <p:nvPr/>
        </p:nvSpPr>
        <p:spPr>
          <a:xfrm>
            <a:off x="6016752" y="4937760"/>
            <a:ext cx="164592" cy="91440"/>
          </a:xfrm>
          <a:prstGeom prst="downArrow">
            <a:avLst/>
          </a:prstGeom>
          <a:solidFill>
            <a:srgbClr val="168A46"/>
          </a:solidFill>
          <a:ln/>
        </p:spPr>
      </p:sp>
      <p:sp>
        <p:nvSpPr>
          <p:cNvPr id="46" name="Shape 44"/>
          <p:cNvSpPr/>
          <p:nvPr/>
        </p:nvSpPr>
        <p:spPr>
          <a:xfrm>
            <a:off x="4041648" y="5056632"/>
            <a:ext cx="4114800" cy="310896"/>
          </a:xfrm>
          <a:prstGeom prst="roundRect">
            <a:avLst>
              <a:gd name="adj" fmla="val 26471"/>
            </a:avLst>
          </a:prstGeom>
          <a:solidFill>
            <a:srgbClr val="E6F3EA"/>
          </a:solidFill>
          <a:ln w="12700">
            <a:solidFill>
              <a:srgbClr val="168A46"/>
            </a:solidFill>
            <a:prstDash val="solid"/>
          </a:ln>
        </p:spPr>
      </p:sp>
      <p:sp>
        <p:nvSpPr>
          <p:cNvPr id="47" name="Text 45"/>
          <p:cNvSpPr txBox="1"/>
          <p:nvPr/>
        </p:nvSpPr>
        <p:spPr>
          <a:xfrm>
            <a:off x="4041648" y="5056632"/>
            <a:ext cx="4114800" cy="310896"/>
          </a:xfrm>
          <a:prstGeom prst="rect">
            <a:avLst/>
          </a:prstGeom>
          <a:noFill/>
          <a:ln/>
        </p:spPr>
        <p:txBody>
          <a:bodyPr wrap="square" lIns="0" tIns="0" rIns="0" bIns="0" rtlCol="0" anchor="ctr"/>
          <a:lstStyle/>
          <a:p>
            <a:pPr algn="ctr" indent="0" marL="0">
              <a:buNone/>
            </a:pPr>
            <a:r>
              <a:rPr lang="en-US" sz="1050" b="1" dirty="0">
                <a:solidFill>
                  <a:srgbClr val="0F6334"/>
                </a:solidFill>
                <a:latin typeface="Calibri" pitchFamily="34" charset="0"/>
                <a:ea typeface="Calibri" pitchFamily="34" charset="-122"/>
                <a:cs typeface="Calibri" pitchFamily="34" charset="-120"/>
              </a:rPr>
              <a:t>🎯  ROUTING ENGINE</a:t>
            </a:r>
            <a:endParaRPr lang="en-US" sz="1050" dirty="0"/>
          </a:p>
        </p:txBody>
      </p:sp>
      <p:sp>
        <p:nvSpPr>
          <p:cNvPr id="48" name="Shape 46"/>
          <p:cNvSpPr/>
          <p:nvPr/>
        </p:nvSpPr>
        <p:spPr>
          <a:xfrm>
            <a:off x="6016752" y="5385816"/>
            <a:ext cx="164592" cy="91440"/>
          </a:xfrm>
          <a:prstGeom prst="downArrow">
            <a:avLst/>
          </a:prstGeom>
          <a:solidFill>
            <a:srgbClr val="168A46"/>
          </a:solidFill>
          <a:ln/>
        </p:spPr>
      </p:sp>
      <p:sp>
        <p:nvSpPr>
          <p:cNvPr id="49" name="Shape 47"/>
          <p:cNvSpPr/>
          <p:nvPr/>
        </p:nvSpPr>
        <p:spPr>
          <a:xfrm>
            <a:off x="4041648" y="5504688"/>
            <a:ext cx="4114800" cy="310896"/>
          </a:xfrm>
          <a:prstGeom prst="roundRect">
            <a:avLst>
              <a:gd name="adj" fmla="val 26471"/>
            </a:avLst>
          </a:prstGeom>
          <a:solidFill>
            <a:srgbClr val="E6F3EA"/>
          </a:solidFill>
          <a:ln w="12700">
            <a:solidFill>
              <a:srgbClr val="D3E6DA"/>
            </a:solidFill>
            <a:prstDash val="solid"/>
          </a:ln>
        </p:spPr>
      </p:sp>
      <p:sp>
        <p:nvSpPr>
          <p:cNvPr id="50" name="Text 48"/>
          <p:cNvSpPr txBox="1"/>
          <p:nvPr/>
        </p:nvSpPr>
        <p:spPr>
          <a:xfrm>
            <a:off x="4041648" y="5504688"/>
            <a:ext cx="4114800" cy="310896"/>
          </a:xfrm>
          <a:prstGeom prst="rect">
            <a:avLst/>
          </a:prstGeom>
          <a:noFill/>
          <a:ln/>
        </p:spPr>
        <p:txBody>
          <a:bodyPr wrap="square" lIns="0" tIns="0" rIns="0" bIns="0" rtlCol="0" anchor="ctr"/>
          <a:lstStyle/>
          <a:p>
            <a:pPr algn="ctr" indent="0" marL="0">
              <a:buNone/>
            </a:pPr>
            <a:r>
              <a:rPr lang="en-US" sz="1050" b="1" dirty="0">
                <a:solidFill>
                  <a:srgbClr val="142018"/>
                </a:solidFill>
                <a:latin typeface="Calibri" pitchFamily="34" charset="0"/>
                <a:ea typeface="Calibri" pitchFamily="34" charset="-122"/>
                <a:cs typeface="Calibri" pitchFamily="34" charset="-120"/>
              </a:rPr>
              <a:t>🏢  Responsible Authority + Department</a:t>
            </a:r>
            <a:endParaRPr lang="en-US" sz="1050" dirty="0"/>
          </a:p>
        </p:txBody>
      </p:sp>
      <p:sp>
        <p:nvSpPr>
          <p:cNvPr id="51" name="Shape 49"/>
          <p:cNvSpPr/>
          <p:nvPr/>
        </p:nvSpPr>
        <p:spPr>
          <a:xfrm>
            <a:off x="6016752" y="5833872"/>
            <a:ext cx="164592" cy="91440"/>
          </a:xfrm>
          <a:prstGeom prst="downArrow">
            <a:avLst/>
          </a:prstGeom>
          <a:solidFill>
            <a:srgbClr val="168A46"/>
          </a:solidFill>
          <a:ln/>
        </p:spPr>
      </p:sp>
      <p:sp>
        <p:nvSpPr>
          <p:cNvPr id="52" name="Shape 50"/>
          <p:cNvSpPr/>
          <p:nvPr/>
        </p:nvSpPr>
        <p:spPr>
          <a:xfrm>
            <a:off x="4041648" y="5952744"/>
            <a:ext cx="4114800" cy="310896"/>
          </a:xfrm>
          <a:prstGeom prst="roundRect">
            <a:avLst>
              <a:gd name="adj" fmla="val 26471"/>
            </a:avLst>
          </a:prstGeom>
          <a:solidFill>
            <a:srgbClr val="F2F8F4"/>
          </a:solidFill>
          <a:ln w="12700">
            <a:solidFill>
              <a:srgbClr val="D3E6DA"/>
            </a:solidFill>
            <a:prstDash val="solid"/>
          </a:ln>
        </p:spPr>
      </p:sp>
      <p:sp>
        <p:nvSpPr>
          <p:cNvPr id="53" name="Text 51"/>
          <p:cNvSpPr txBox="1"/>
          <p:nvPr/>
        </p:nvSpPr>
        <p:spPr>
          <a:xfrm>
            <a:off x="4041648" y="5952744"/>
            <a:ext cx="4114800" cy="310896"/>
          </a:xfrm>
          <a:prstGeom prst="rect">
            <a:avLst/>
          </a:prstGeom>
          <a:noFill/>
          <a:ln/>
        </p:spPr>
        <p:txBody>
          <a:bodyPr wrap="square" lIns="0" tIns="0" rIns="0" bIns="0" rtlCol="0" anchor="ctr"/>
          <a:lstStyle/>
          <a:p>
            <a:pPr algn="ctr" indent="0" marL="0">
              <a:buNone/>
            </a:pPr>
            <a:r>
              <a:rPr lang="en-US" sz="1050" b="1" dirty="0">
                <a:solidFill>
                  <a:srgbClr val="142018"/>
                </a:solidFill>
                <a:latin typeface="Calibri" pitchFamily="34" charset="0"/>
                <a:ea typeface="Calibri" pitchFamily="34" charset="-122"/>
                <a:cs typeface="Calibri" pitchFamily="34" charset="-120"/>
              </a:rPr>
              <a:t>📊  Dashboard  →  👨‍💼  Officer / Authority</a:t>
            </a:r>
            <a:endParaRPr lang="en-US" sz="1050" dirty="0"/>
          </a:p>
        </p:txBody>
      </p:sp>
      <p:sp>
        <p:nvSpPr>
          <p:cNvPr id="54" name="Text 52"/>
          <p:cNvSpPr txBox="1"/>
          <p:nvPr/>
        </p:nvSpPr>
        <p:spPr>
          <a:xfrm>
            <a:off x="11368735" y="6400800"/>
            <a:ext cx="548640" cy="274320"/>
          </a:xfrm>
          <a:prstGeom prst="rect">
            <a:avLst/>
          </a:prstGeom>
          <a:noFill/>
          <a:ln/>
        </p:spPr>
        <p:txBody>
          <a:bodyPr wrap="square" lIns="0" tIns="0" rIns="0" bIns="0" rtlCol="0" anchor="ctr"/>
          <a:lstStyle/>
          <a:p>
            <a:pPr algn="r" indent="0" marL="0">
              <a:buNone/>
            </a:pPr>
            <a:r>
              <a:rPr lang="en-US" sz="1000" dirty="0">
                <a:solidFill>
                  <a:srgbClr val="6C7D71"/>
                </a:solidFill>
                <a:latin typeface="Calibri" pitchFamily="34" charset="0"/>
                <a:ea typeface="Calibri" pitchFamily="34" charset="-122"/>
                <a:cs typeface="Calibri" pitchFamily="34" charset="-120"/>
              </a:rPr>
              <a:t>07</a:t>
            </a:r>
            <a:endParaRPr lang="en-US" sz="1000" dirty="0"/>
          </a:p>
        </p:txBody>
      </p:sp>
      <p:sp>
        <p:nvSpPr>
          <p:cNvPr id="55" name="Text 53"/>
          <p:cNvSpPr txBox="1"/>
          <p:nvPr/>
        </p:nvSpPr>
        <p:spPr>
          <a:xfrm>
            <a:off x="548640" y="6400800"/>
            <a:ext cx="3657600" cy="274320"/>
          </a:xfrm>
          <a:prstGeom prst="rect">
            <a:avLst/>
          </a:prstGeom>
          <a:noFill/>
          <a:ln/>
        </p:spPr>
        <p:txBody>
          <a:bodyPr wrap="square" lIns="0" tIns="0" rIns="0" bIns="0" rtlCol="0" anchor="ctr"/>
          <a:lstStyle/>
          <a:p>
            <a:pPr indent="0" marL="0">
              <a:buNone/>
            </a:pPr>
            <a:r>
              <a:rPr lang="en-US" sz="900" spc="200" kern="0" dirty="0">
                <a:solidFill>
                  <a:srgbClr val="6C7D71"/>
                </a:solidFill>
                <a:latin typeface="Calibri" pitchFamily="34" charset="0"/>
                <a:ea typeface="Calibri" pitchFamily="34" charset="-122"/>
                <a:cs typeface="Calibri" pitchFamily="34" charset="-120"/>
              </a:rPr>
              <a:t>SAMAGRA MYSURU</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9966960" y="-2011680"/>
            <a:ext cx="4937760" cy="4937760"/>
          </a:xfrm>
          <a:prstGeom prst="ellipse">
            <a:avLst/>
          </a:prstGeom>
          <a:solidFill>
            <a:srgbClr val="F2F8F4">
              <a:alpha val="75000"/>
            </a:srgbClr>
          </a:solidFill>
          <a:ln/>
        </p:spPr>
      </p:sp>
      <p:sp>
        <p:nvSpPr>
          <p:cNvPr id="3" name="Text 1"/>
          <p:cNvSpPr txBox="1"/>
          <p:nvPr/>
        </p:nvSpPr>
        <p:spPr>
          <a:xfrm>
            <a:off x="548640" y="384048"/>
            <a:ext cx="9601200" cy="320040"/>
          </a:xfrm>
          <a:prstGeom prst="rect">
            <a:avLst/>
          </a:prstGeom>
          <a:noFill/>
          <a:ln/>
        </p:spPr>
        <p:txBody>
          <a:bodyPr wrap="square" lIns="0" tIns="0" rIns="0" bIns="0" rtlCol="0" anchor="ctr"/>
          <a:lstStyle/>
          <a:p>
            <a:pPr indent="0" marL="0">
              <a:buNone/>
            </a:pPr>
            <a:r>
              <a:rPr lang="en-US" sz="1250" b="1" spc="250" kern="0" dirty="0">
                <a:solidFill>
                  <a:srgbClr val="168A46"/>
                </a:solidFill>
                <a:latin typeface="Calibri" pitchFamily="34" charset="0"/>
                <a:ea typeface="Calibri" pitchFamily="34" charset="-122"/>
                <a:cs typeface="Calibri" pitchFamily="34" charset="-120"/>
              </a:rPr>
              <a:t>KEY FEATURES • BUSINESS MODEL • MARKET OPPORTUNITY</a:t>
            </a:r>
            <a:endParaRPr lang="en-US" sz="1250" dirty="0"/>
          </a:p>
        </p:txBody>
      </p:sp>
      <p:sp>
        <p:nvSpPr>
          <p:cNvPr id="4" name="Text 2"/>
          <p:cNvSpPr txBox="1"/>
          <p:nvPr/>
        </p:nvSpPr>
        <p:spPr>
          <a:xfrm>
            <a:off x="548640" y="658368"/>
            <a:ext cx="10058400" cy="685800"/>
          </a:xfrm>
          <a:prstGeom prst="rect">
            <a:avLst/>
          </a:prstGeom>
          <a:noFill/>
          <a:ln/>
        </p:spPr>
        <p:txBody>
          <a:bodyPr wrap="square" lIns="0" tIns="0" rIns="0" bIns="0" rtlCol="0" anchor="ctr"/>
          <a:lstStyle/>
          <a:p>
            <a:pPr indent="0" marL="0">
              <a:buNone/>
            </a:pPr>
            <a:r>
              <a:rPr lang="en-US" sz="2200" b="1" dirty="0">
                <a:solidFill>
                  <a:srgbClr val="142018"/>
                </a:solidFill>
                <a:latin typeface="Calibri" pitchFamily="34" charset="0"/>
                <a:ea typeface="Calibri" pitchFamily="34" charset="-122"/>
                <a:cs typeface="Calibri" pitchFamily="34" charset="-120"/>
              </a:rPr>
              <a:t>Key features, business model &amp; market opportunity</a:t>
            </a:r>
            <a:endParaRPr lang="en-US" sz="2200" dirty="0"/>
          </a:p>
        </p:txBody>
      </p:sp>
      <p:sp>
        <p:nvSpPr>
          <p:cNvPr id="5" name="Shape 3"/>
          <p:cNvSpPr/>
          <p:nvPr/>
        </p:nvSpPr>
        <p:spPr>
          <a:xfrm>
            <a:off x="548640" y="1417320"/>
            <a:ext cx="3529584" cy="4297680"/>
          </a:xfrm>
          <a:prstGeom prst="roundRect">
            <a:avLst>
              <a:gd name="adj" fmla="val 2332"/>
            </a:avLst>
          </a:prstGeom>
          <a:solidFill>
            <a:srgbClr val="F2F8F4"/>
          </a:solidFill>
          <a:ln w="12700">
            <a:solidFill>
              <a:srgbClr val="D3E6DA"/>
            </a:solidFill>
            <a:prstDash val="solid"/>
          </a:ln>
          <a:effectLst>
            <a:outerShdw sx="100000" sy="100000" kx="0" ky="0" algn="bl" rotWithShape="0" blurRad="101600" dist="25400" dir="5400000">
              <a:srgbClr val="9CB3A4">
                <a:alpha val="28000"/>
              </a:srgbClr>
            </a:outerShdw>
          </a:effectLst>
        </p:spPr>
      </p:sp>
      <p:sp>
        <p:nvSpPr>
          <p:cNvPr id="6" name="Shape 4"/>
          <p:cNvSpPr/>
          <p:nvPr/>
        </p:nvSpPr>
        <p:spPr>
          <a:xfrm>
            <a:off x="548640" y="1417320"/>
            <a:ext cx="3529584" cy="502920"/>
          </a:xfrm>
          <a:prstGeom prst="roundRect">
            <a:avLst>
              <a:gd name="adj" fmla="val 16364"/>
            </a:avLst>
          </a:prstGeom>
          <a:solidFill>
            <a:srgbClr val="E6F3EA"/>
          </a:solidFill>
          <a:ln w="12700">
            <a:solidFill>
              <a:srgbClr val="D3E6DA"/>
            </a:solidFill>
            <a:prstDash val="solid"/>
          </a:ln>
        </p:spPr>
      </p:sp>
      <p:sp>
        <p:nvSpPr>
          <p:cNvPr id="7" name="Text 5"/>
          <p:cNvSpPr txBox="1"/>
          <p:nvPr/>
        </p:nvSpPr>
        <p:spPr>
          <a:xfrm>
            <a:off x="731520" y="1417320"/>
            <a:ext cx="3163824" cy="502920"/>
          </a:xfrm>
          <a:prstGeom prst="rect">
            <a:avLst/>
          </a:prstGeom>
          <a:noFill/>
          <a:ln/>
        </p:spPr>
        <p:txBody>
          <a:bodyPr wrap="square" lIns="0" tIns="0" rIns="0" bIns="0" rtlCol="0" anchor="ctr"/>
          <a:lstStyle/>
          <a:p>
            <a:pPr indent="0" marL="0">
              <a:buNone/>
            </a:pPr>
            <a:r>
              <a:rPr lang="en-US" sz="1250" b="1" dirty="0">
                <a:solidFill>
                  <a:srgbClr val="0F6334"/>
                </a:solidFill>
                <a:latin typeface="Calibri" pitchFamily="34" charset="0"/>
                <a:ea typeface="Calibri" pitchFamily="34" charset="-122"/>
                <a:cs typeface="Calibri" pitchFamily="34" charset="-120"/>
              </a:rPr>
              <a:t>🔑  Key Features</a:t>
            </a:r>
            <a:endParaRPr lang="en-US" sz="1250" dirty="0"/>
          </a:p>
        </p:txBody>
      </p:sp>
      <p:sp>
        <p:nvSpPr>
          <p:cNvPr id="8" name="Shape 6"/>
          <p:cNvSpPr/>
          <p:nvPr/>
        </p:nvSpPr>
        <p:spPr>
          <a:xfrm>
            <a:off x="749808" y="2130552"/>
            <a:ext cx="73152" cy="73152"/>
          </a:xfrm>
          <a:prstGeom prst="ellipse">
            <a:avLst/>
          </a:prstGeom>
          <a:solidFill>
            <a:srgbClr val="168A46"/>
          </a:solidFill>
          <a:ln/>
        </p:spPr>
      </p:sp>
      <p:sp>
        <p:nvSpPr>
          <p:cNvPr id="9" name="Text 7"/>
          <p:cNvSpPr txBox="1"/>
          <p:nvPr/>
        </p:nvSpPr>
        <p:spPr>
          <a:xfrm>
            <a:off x="914400" y="2020824"/>
            <a:ext cx="2980944" cy="502920"/>
          </a:xfrm>
          <a:prstGeom prst="rect">
            <a:avLst/>
          </a:prstGeom>
          <a:noFill/>
          <a:ln/>
        </p:spPr>
        <p:txBody>
          <a:bodyPr wrap="square" lIns="0" tIns="0" rIns="0" bIns="0" rtlCol="0" anchor="ctr"/>
          <a:lstStyle/>
          <a:p>
            <a:pPr indent="0" marL="0">
              <a:lnSpc>
                <a:spcPct val="108000"/>
              </a:lnSpc>
              <a:buNone/>
            </a:pPr>
            <a:r>
              <a:rPr lang="en-US" sz="1000" b="1" dirty="0">
                <a:solidFill>
                  <a:srgbClr val="142018"/>
                </a:solidFill>
                <a:latin typeface="Calibri" pitchFamily="34" charset="0"/>
                <a:ea typeface="Calibri" pitchFamily="34" charset="-122"/>
                <a:cs typeface="Calibri" pitchFamily="34" charset="-120"/>
              </a:rPr>
              <a:t>Location-based routing  </a:t>
            </a:r>
            <a:pPr indent="0" marL="0">
              <a:lnSpc>
                <a:spcPct val="108000"/>
              </a:lnSpc>
              <a:buNone/>
            </a:pPr>
            <a:r>
              <a:rPr lang="en-US" sz="1000" dirty="0">
                <a:solidFill>
                  <a:srgbClr val="34433B"/>
                </a:solidFill>
                <a:latin typeface="Calibri" pitchFamily="34" charset="0"/>
                <a:ea typeface="Calibri" pitchFamily="34" charset="-122"/>
                <a:cs typeface="Calibri" pitchFamily="34" charset="-120"/>
              </a:rPr>
              <a:t>Uses complaint location to identify the relevant jurisdiction.</a:t>
            </a:r>
            <a:endParaRPr lang="en-US" sz="1000" dirty="0"/>
          </a:p>
        </p:txBody>
      </p:sp>
      <p:sp>
        <p:nvSpPr>
          <p:cNvPr id="10" name="Shape 8"/>
          <p:cNvSpPr/>
          <p:nvPr/>
        </p:nvSpPr>
        <p:spPr>
          <a:xfrm>
            <a:off x="749808" y="2679192"/>
            <a:ext cx="73152" cy="73152"/>
          </a:xfrm>
          <a:prstGeom prst="ellipse">
            <a:avLst/>
          </a:prstGeom>
          <a:solidFill>
            <a:srgbClr val="168A46"/>
          </a:solidFill>
          <a:ln/>
        </p:spPr>
      </p:sp>
      <p:sp>
        <p:nvSpPr>
          <p:cNvPr id="11" name="Text 9"/>
          <p:cNvSpPr txBox="1"/>
          <p:nvPr/>
        </p:nvSpPr>
        <p:spPr>
          <a:xfrm>
            <a:off x="914400" y="2569464"/>
            <a:ext cx="2980944" cy="502920"/>
          </a:xfrm>
          <a:prstGeom prst="rect">
            <a:avLst/>
          </a:prstGeom>
          <a:noFill/>
          <a:ln/>
        </p:spPr>
        <p:txBody>
          <a:bodyPr wrap="square" lIns="0" tIns="0" rIns="0" bIns="0" rtlCol="0" anchor="ctr"/>
          <a:lstStyle/>
          <a:p>
            <a:pPr indent="0" marL="0">
              <a:lnSpc>
                <a:spcPct val="108000"/>
              </a:lnSpc>
              <a:buNone/>
            </a:pPr>
            <a:r>
              <a:rPr lang="en-US" sz="1000" b="1" dirty="0">
                <a:solidFill>
                  <a:srgbClr val="142018"/>
                </a:solidFill>
                <a:latin typeface="Calibri" pitchFamily="34" charset="0"/>
                <a:ea typeface="Calibri" pitchFamily="34" charset="-122"/>
                <a:cs typeface="Calibri" pitchFamily="34" charset="-120"/>
              </a:rPr>
              <a:t>Automatic authority &amp; department mapping  </a:t>
            </a:r>
            <a:pPr indent="0" marL="0">
              <a:lnSpc>
                <a:spcPct val="108000"/>
              </a:lnSpc>
              <a:buNone/>
            </a:pPr>
            <a:r>
              <a:rPr lang="en-US" sz="1000" dirty="0">
                <a:solidFill>
                  <a:srgbClr val="34433B"/>
                </a:solidFill>
                <a:latin typeface="Calibri" pitchFamily="34" charset="0"/>
                <a:ea typeface="Calibri" pitchFamily="34" charset="-122"/>
                <a:cs typeface="Calibri" pitchFamily="34" charset="-120"/>
              </a:rPr>
              <a:t>Routes each issue to the appropriate responsible body.</a:t>
            </a:r>
            <a:endParaRPr lang="en-US" sz="1000" dirty="0"/>
          </a:p>
        </p:txBody>
      </p:sp>
      <p:sp>
        <p:nvSpPr>
          <p:cNvPr id="12" name="Shape 10"/>
          <p:cNvSpPr/>
          <p:nvPr/>
        </p:nvSpPr>
        <p:spPr>
          <a:xfrm>
            <a:off x="749808" y="3227832"/>
            <a:ext cx="73152" cy="73152"/>
          </a:xfrm>
          <a:prstGeom prst="ellipse">
            <a:avLst/>
          </a:prstGeom>
          <a:solidFill>
            <a:srgbClr val="168A46"/>
          </a:solidFill>
          <a:ln/>
        </p:spPr>
      </p:sp>
      <p:sp>
        <p:nvSpPr>
          <p:cNvPr id="13" name="Text 11"/>
          <p:cNvSpPr txBox="1"/>
          <p:nvPr/>
        </p:nvSpPr>
        <p:spPr>
          <a:xfrm>
            <a:off x="914400" y="3118104"/>
            <a:ext cx="2980944" cy="502920"/>
          </a:xfrm>
          <a:prstGeom prst="rect">
            <a:avLst/>
          </a:prstGeom>
          <a:noFill/>
          <a:ln/>
        </p:spPr>
        <p:txBody>
          <a:bodyPr wrap="square" lIns="0" tIns="0" rIns="0" bIns="0" rtlCol="0" anchor="ctr"/>
          <a:lstStyle/>
          <a:p>
            <a:pPr indent="0" marL="0">
              <a:lnSpc>
                <a:spcPct val="108000"/>
              </a:lnSpc>
              <a:buNone/>
            </a:pPr>
            <a:r>
              <a:rPr lang="en-US" sz="1000" b="1" dirty="0">
                <a:solidFill>
                  <a:srgbClr val="142018"/>
                </a:solidFill>
                <a:latin typeface="Calibri" pitchFamily="34" charset="0"/>
                <a:ea typeface="Calibri" pitchFamily="34" charset="-122"/>
                <a:cs typeface="Calibri" pitchFamily="34" charset="-120"/>
              </a:rPr>
              <a:t>2026 jurisdiction-aware database  </a:t>
            </a:r>
            <a:pPr indent="0" marL="0">
              <a:lnSpc>
                <a:spcPct val="108000"/>
              </a:lnSpc>
              <a:buNone/>
            </a:pPr>
            <a:r>
              <a:rPr lang="en-US" sz="1000" dirty="0">
                <a:solidFill>
                  <a:srgbClr val="34433B"/>
                </a:solidFill>
                <a:latin typeface="Calibri" pitchFamily="34" charset="0"/>
                <a:ea typeface="Calibri" pitchFamily="34" charset="-122"/>
                <a:cs typeface="Calibri" pitchFamily="34" charset="-120"/>
              </a:rPr>
              <a:t>Accounts for Mysuru’s changing administrative boundaries.</a:t>
            </a:r>
            <a:endParaRPr lang="en-US" sz="1000" dirty="0"/>
          </a:p>
        </p:txBody>
      </p:sp>
      <p:sp>
        <p:nvSpPr>
          <p:cNvPr id="14" name="Shape 12"/>
          <p:cNvSpPr/>
          <p:nvPr/>
        </p:nvSpPr>
        <p:spPr>
          <a:xfrm>
            <a:off x="749808" y="3776472"/>
            <a:ext cx="73152" cy="73152"/>
          </a:xfrm>
          <a:prstGeom prst="ellipse">
            <a:avLst/>
          </a:prstGeom>
          <a:solidFill>
            <a:srgbClr val="168A46"/>
          </a:solidFill>
          <a:ln/>
        </p:spPr>
      </p:sp>
      <p:sp>
        <p:nvSpPr>
          <p:cNvPr id="15" name="Text 13"/>
          <p:cNvSpPr txBox="1"/>
          <p:nvPr/>
        </p:nvSpPr>
        <p:spPr>
          <a:xfrm>
            <a:off x="914400" y="3666744"/>
            <a:ext cx="2980944" cy="502920"/>
          </a:xfrm>
          <a:prstGeom prst="rect">
            <a:avLst/>
          </a:prstGeom>
          <a:noFill/>
          <a:ln/>
        </p:spPr>
        <p:txBody>
          <a:bodyPr wrap="square" lIns="0" tIns="0" rIns="0" bIns="0" rtlCol="0" anchor="ctr"/>
          <a:lstStyle/>
          <a:p>
            <a:pPr indent="0" marL="0">
              <a:lnSpc>
                <a:spcPct val="108000"/>
              </a:lnSpc>
              <a:buNone/>
            </a:pPr>
            <a:r>
              <a:rPr lang="en-US" sz="1000" b="1" dirty="0">
                <a:solidFill>
                  <a:srgbClr val="142018"/>
                </a:solidFill>
                <a:latin typeface="Calibri" pitchFamily="34" charset="0"/>
                <a:ea typeface="Calibri" pitchFamily="34" charset="-122"/>
                <a:cs typeface="Calibri" pitchFamily="34" charset="-120"/>
              </a:rPr>
              <a:t>Issue-based routing  </a:t>
            </a:r>
            <a:pPr indent="0" marL="0">
              <a:lnSpc>
                <a:spcPct val="108000"/>
              </a:lnSpc>
              <a:buNone/>
            </a:pPr>
            <a:r>
              <a:rPr lang="en-US" sz="1000" dirty="0">
                <a:solidFill>
                  <a:srgbClr val="34433B"/>
                </a:solidFill>
                <a:latin typeface="Calibri" pitchFamily="34" charset="0"/>
                <a:ea typeface="Calibri" pitchFamily="34" charset="-122"/>
                <a:cs typeface="Calibri" pitchFamily="34" charset="-120"/>
              </a:rPr>
              <a:t>Maps issues like waste, roads, drainage to relevant departments.</a:t>
            </a:r>
            <a:endParaRPr lang="en-US" sz="1000" dirty="0"/>
          </a:p>
        </p:txBody>
      </p:sp>
      <p:sp>
        <p:nvSpPr>
          <p:cNvPr id="16" name="Shape 14"/>
          <p:cNvSpPr/>
          <p:nvPr/>
        </p:nvSpPr>
        <p:spPr>
          <a:xfrm>
            <a:off x="749808" y="4325112"/>
            <a:ext cx="73152" cy="73152"/>
          </a:xfrm>
          <a:prstGeom prst="ellipse">
            <a:avLst/>
          </a:prstGeom>
          <a:solidFill>
            <a:srgbClr val="168A46"/>
          </a:solidFill>
          <a:ln/>
        </p:spPr>
      </p:sp>
      <p:sp>
        <p:nvSpPr>
          <p:cNvPr id="17" name="Text 15"/>
          <p:cNvSpPr txBox="1"/>
          <p:nvPr/>
        </p:nvSpPr>
        <p:spPr>
          <a:xfrm>
            <a:off x="914400" y="4215384"/>
            <a:ext cx="2980944" cy="502920"/>
          </a:xfrm>
          <a:prstGeom prst="rect">
            <a:avLst/>
          </a:prstGeom>
          <a:noFill/>
          <a:ln/>
        </p:spPr>
        <p:txBody>
          <a:bodyPr wrap="square" lIns="0" tIns="0" rIns="0" bIns="0" rtlCol="0" anchor="ctr"/>
          <a:lstStyle/>
          <a:p>
            <a:pPr indent="0" marL="0">
              <a:lnSpc>
                <a:spcPct val="108000"/>
              </a:lnSpc>
              <a:buNone/>
            </a:pPr>
            <a:r>
              <a:rPr lang="en-US" sz="1000" b="1" dirty="0">
                <a:solidFill>
                  <a:srgbClr val="142018"/>
                </a:solidFill>
                <a:latin typeface="Calibri" pitchFamily="34" charset="0"/>
                <a:ea typeface="Calibri" pitchFamily="34" charset="-122"/>
                <a:cs typeface="Calibri" pitchFamily="34" charset="-120"/>
              </a:rPr>
              <a:t>Officer dashboard &amp; analytics  </a:t>
            </a:r>
            <a:pPr indent="0" marL="0">
              <a:lnSpc>
                <a:spcPct val="108000"/>
              </a:lnSpc>
              <a:buNone/>
            </a:pPr>
            <a:r>
              <a:rPr lang="en-US" sz="1000" dirty="0">
                <a:solidFill>
                  <a:srgbClr val="34433B"/>
                </a:solidFill>
                <a:latin typeface="Calibri" pitchFamily="34" charset="0"/>
                <a:ea typeface="Calibri" pitchFamily="34" charset="-122"/>
                <a:cs typeface="Calibri" pitchFamily="34" charset="-120"/>
              </a:rPr>
              <a:t>View complaints by authority, jurisdiction and issue category.</a:t>
            </a:r>
            <a:endParaRPr lang="en-US" sz="1000" dirty="0"/>
          </a:p>
        </p:txBody>
      </p:sp>
      <p:sp>
        <p:nvSpPr>
          <p:cNvPr id="18" name="Shape 16"/>
          <p:cNvSpPr/>
          <p:nvPr/>
        </p:nvSpPr>
        <p:spPr>
          <a:xfrm>
            <a:off x="749808" y="4873752"/>
            <a:ext cx="73152" cy="73152"/>
          </a:xfrm>
          <a:prstGeom prst="ellipse">
            <a:avLst/>
          </a:prstGeom>
          <a:solidFill>
            <a:srgbClr val="168A46"/>
          </a:solidFill>
          <a:ln/>
        </p:spPr>
      </p:sp>
      <p:sp>
        <p:nvSpPr>
          <p:cNvPr id="19" name="Text 17"/>
          <p:cNvSpPr txBox="1"/>
          <p:nvPr/>
        </p:nvSpPr>
        <p:spPr>
          <a:xfrm>
            <a:off x="914400" y="4764024"/>
            <a:ext cx="2980944" cy="502920"/>
          </a:xfrm>
          <a:prstGeom prst="rect">
            <a:avLst/>
          </a:prstGeom>
          <a:noFill/>
          <a:ln/>
        </p:spPr>
        <p:txBody>
          <a:bodyPr wrap="square" lIns="0" tIns="0" rIns="0" bIns="0" rtlCol="0" anchor="ctr"/>
          <a:lstStyle/>
          <a:p>
            <a:pPr indent="0" marL="0">
              <a:lnSpc>
                <a:spcPct val="108000"/>
              </a:lnSpc>
              <a:buNone/>
            </a:pPr>
            <a:r>
              <a:rPr lang="en-US" sz="1000" b="1" dirty="0">
                <a:solidFill>
                  <a:srgbClr val="142018"/>
                </a:solidFill>
                <a:latin typeface="Calibri" pitchFamily="34" charset="0"/>
                <a:ea typeface="Calibri" pitchFamily="34" charset="-122"/>
                <a:cs typeface="Calibri" pitchFamily="34" charset="-120"/>
              </a:rPr>
              <a:t>Scalable architecture  </a:t>
            </a:r>
            <a:pPr indent="0" marL="0">
              <a:lnSpc>
                <a:spcPct val="108000"/>
              </a:lnSpc>
              <a:buNone/>
            </a:pPr>
            <a:r>
              <a:rPr lang="en-US" sz="1000" dirty="0">
                <a:solidFill>
                  <a:srgbClr val="34433B"/>
                </a:solidFill>
                <a:latin typeface="Calibri" pitchFamily="34" charset="0"/>
                <a:ea typeface="Calibri" pitchFamily="34" charset="-122"/>
                <a:cs typeface="Calibri" pitchFamily="34" charset="-120"/>
              </a:rPr>
              <a:t>Can integrate with existing apps and expand to other cities.</a:t>
            </a:r>
            <a:endParaRPr lang="en-US" sz="1000" dirty="0"/>
          </a:p>
        </p:txBody>
      </p:sp>
      <p:sp>
        <p:nvSpPr>
          <p:cNvPr id="20" name="Shape 18"/>
          <p:cNvSpPr/>
          <p:nvPr/>
        </p:nvSpPr>
        <p:spPr>
          <a:xfrm>
            <a:off x="4279392" y="1417320"/>
            <a:ext cx="3529584" cy="4297680"/>
          </a:xfrm>
          <a:prstGeom prst="roundRect">
            <a:avLst>
              <a:gd name="adj" fmla="val 2332"/>
            </a:avLst>
          </a:prstGeom>
          <a:solidFill>
            <a:srgbClr val="F2F8F4"/>
          </a:solidFill>
          <a:ln w="12700">
            <a:solidFill>
              <a:srgbClr val="D3E6DA"/>
            </a:solidFill>
            <a:prstDash val="solid"/>
          </a:ln>
          <a:effectLst>
            <a:outerShdw sx="100000" sy="100000" kx="0" ky="0" algn="bl" rotWithShape="0" blurRad="101600" dist="25400" dir="5400000">
              <a:srgbClr val="9CB3A4">
                <a:alpha val="28000"/>
              </a:srgbClr>
            </a:outerShdw>
          </a:effectLst>
        </p:spPr>
      </p:sp>
      <p:sp>
        <p:nvSpPr>
          <p:cNvPr id="21" name="Shape 19"/>
          <p:cNvSpPr/>
          <p:nvPr/>
        </p:nvSpPr>
        <p:spPr>
          <a:xfrm>
            <a:off x="4279392" y="1417320"/>
            <a:ext cx="3529584" cy="502920"/>
          </a:xfrm>
          <a:prstGeom prst="roundRect">
            <a:avLst>
              <a:gd name="adj" fmla="val 16364"/>
            </a:avLst>
          </a:prstGeom>
          <a:solidFill>
            <a:srgbClr val="E6F3EA"/>
          </a:solidFill>
          <a:ln w="12700">
            <a:solidFill>
              <a:srgbClr val="D3E6DA"/>
            </a:solidFill>
            <a:prstDash val="solid"/>
          </a:ln>
        </p:spPr>
      </p:sp>
      <p:sp>
        <p:nvSpPr>
          <p:cNvPr id="22" name="Text 20"/>
          <p:cNvSpPr txBox="1"/>
          <p:nvPr/>
        </p:nvSpPr>
        <p:spPr>
          <a:xfrm>
            <a:off x="4462272" y="1417320"/>
            <a:ext cx="3163824" cy="502920"/>
          </a:xfrm>
          <a:prstGeom prst="rect">
            <a:avLst/>
          </a:prstGeom>
          <a:noFill/>
          <a:ln/>
        </p:spPr>
        <p:txBody>
          <a:bodyPr wrap="square" lIns="0" tIns="0" rIns="0" bIns="0" rtlCol="0" anchor="ctr"/>
          <a:lstStyle/>
          <a:p>
            <a:pPr indent="0" marL="0">
              <a:buNone/>
            </a:pPr>
            <a:r>
              <a:rPr lang="en-US" sz="1250" b="1" dirty="0">
                <a:solidFill>
                  <a:srgbClr val="0F6334"/>
                </a:solidFill>
                <a:latin typeface="Calibri" pitchFamily="34" charset="0"/>
                <a:ea typeface="Calibri" pitchFamily="34" charset="-122"/>
                <a:cs typeface="Calibri" pitchFamily="34" charset="-120"/>
              </a:rPr>
              <a:t>💼  Business Model</a:t>
            </a:r>
            <a:endParaRPr lang="en-US" sz="1250" dirty="0"/>
          </a:p>
        </p:txBody>
      </p:sp>
      <p:sp>
        <p:nvSpPr>
          <p:cNvPr id="23" name="Text 21"/>
          <p:cNvSpPr txBox="1"/>
          <p:nvPr/>
        </p:nvSpPr>
        <p:spPr>
          <a:xfrm>
            <a:off x="4462272" y="2075688"/>
            <a:ext cx="3163824" cy="256032"/>
          </a:xfrm>
          <a:prstGeom prst="rect">
            <a:avLst/>
          </a:prstGeom>
          <a:noFill/>
          <a:ln/>
        </p:spPr>
        <p:txBody>
          <a:bodyPr wrap="square" lIns="0" tIns="0" rIns="0" bIns="0" rtlCol="0" anchor="ctr"/>
          <a:lstStyle/>
          <a:p>
            <a:pPr indent="0" marL="0">
              <a:buNone/>
            </a:pPr>
            <a:r>
              <a:rPr lang="en-US" sz="1030" b="1" i="1" dirty="0">
                <a:solidFill>
                  <a:srgbClr val="6C7D71"/>
                </a:solidFill>
                <a:latin typeface="Calibri" pitchFamily="34" charset="0"/>
                <a:ea typeface="Calibri" pitchFamily="34" charset="-122"/>
                <a:cs typeface="Calibri" pitchFamily="34" charset="-120"/>
              </a:rPr>
              <a:t>B2G / SaaS for Local Governments</a:t>
            </a:r>
            <a:endParaRPr lang="en-US" sz="1030" dirty="0"/>
          </a:p>
        </p:txBody>
      </p:sp>
      <p:sp>
        <p:nvSpPr>
          <p:cNvPr id="24" name="Shape 22"/>
          <p:cNvSpPr/>
          <p:nvPr/>
        </p:nvSpPr>
        <p:spPr>
          <a:xfrm>
            <a:off x="4480560" y="2423160"/>
            <a:ext cx="73152" cy="73152"/>
          </a:xfrm>
          <a:prstGeom prst="ellipse">
            <a:avLst/>
          </a:prstGeom>
          <a:solidFill>
            <a:srgbClr val="168A46"/>
          </a:solidFill>
          <a:ln/>
        </p:spPr>
      </p:sp>
      <p:sp>
        <p:nvSpPr>
          <p:cNvPr id="25" name="Text 23"/>
          <p:cNvSpPr txBox="1"/>
          <p:nvPr/>
        </p:nvSpPr>
        <p:spPr>
          <a:xfrm>
            <a:off x="4645152" y="2313432"/>
            <a:ext cx="2980944" cy="612648"/>
          </a:xfrm>
          <a:prstGeom prst="rect">
            <a:avLst/>
          </a:prstGeom>
          <a:noFill/>
          <a:ln/>
        </p:spPr>
        <p:txBody>
          <a:bodyPr wrap="square" lIns="0" tIns="0" rIns="0" bIns="0" rtlCol="0" anchor="ctr"/>
          <a:lstStyle/>
          <a:p>
            <a:pPr indent="0" marL="0">
              <a:lnSpc>
                <a:spcPct val="108000"/>
              </a:lnSpc>
              <a:buNone/>
            </a:pPr>
            <a:r>
              <a:rPr lang="en-US" sz="1000" b="1" dirty="0">
                <a:solidFill>
                  <a:srgbClr val="142018"/>
                </a:solidFill>
                <a:latin typeface="Calibri" pitchFamily="34" charset="0"/>
                <a:ea typeface="Calibri" pitchFamily="34" charset="-122"/>
                <a:cs typeface="Calibri" pitchFamily="34" charset="-120"/>
              </a:rPr>
              <a:t>License the platform  </a:t>
            </a:r>
            <a:pPr indent="0" marL="0">
              <a:lnSpc>
                <a:spcPct val="108000"/>
              </a:lnSpc>
              <a:buNone/>
            </a:pPr>
            <a:r>
              <a:rPr lang="en-US" sz="1000" dirty="0">
                <a:solidFill>
                  <a:srgbClr val="34433B"/>
                </a:solidFill>
                <a:latin typeface="Calibri" pitchFamily="34" charset="0"/>
                <a:ea typeface="Calibri" pitchFamily="34" charset="-122"/>
                <a:cs typeface="Calibri" pitchFamily="34" charset="-120"/>
              </a:rPr>
              <a:t>to municipal corporations, urban local bodies &amp; local govt departments.</a:t>
            </a:r>
            <a:endParaRPr lang="en-US" sz="1000" dirty="0"/>
          </a:p>
        </p:txBody>
      </p:sp>
      <p:sp>
        <p:nvSpPr>
          <p:cNvPr id="26" name="Shape 24"/>
          <p:cNvSpPr/>
          <p:nvPr/>
        </p:nvSpPr>
        <p:spPr>
          <a:xfrm>
            <a:off x="4480560" y="3081528"/>
            <a:ext cx="73152" cy="73152"/>
          </a:xfrm>
          <a:prstGeom prst="ellipse">
            <a:avLst/>
          </a:prstGeom>
          <a:solidFill>
            <a:srgbClr val="168A46"/>
          </a:solidFill>
          <a:ln/>
        </p:spPr>
      </p:sp>
      <p:sp>
        <p:nvSpPr>
          <p:cNvPr id="27" name="Text 25"/>
          <p:cNvSpPr txBox="1"/>
          <p:nvPr/>
        </p:nvSpPr>
        <p:spPr>
          <a:xfrm>
            <a:off x="4645152" y="2971800"/>
            <a:ext cx="2980944" cy="612648"/>
          </a:xfrm>
          <a:prstGeom prst="rect">
            <a:avLst/>
          </a:prstGeom>
          <a:noFill/>
          <a:ln/>
        </p:spPr>
        <p:txBody>
          <a:bodyPr wrap="square" lIns="0" tIns="0" rIns="0" bIns="0" rtlCol="0" anchor="ctr"/>
          <a:lstStyle/>
          <a:p>
            <a:pPr indent="0" marL="0">
              <a:lnSpc>
                <a:spcPct val="108000"/>
              </a:lnSpc>
              <a:buNone/>
            </a:pPr>
            <a:r>
              <a:rPr lang="en-US" sz="1000" b="1" dirty="0">
                <a:solidFill>
                  <a:srgbClr val="142018"/>
                </a:solidFill>
                <a:latin typeface="Calibri" pitchFamily="34" charset="0"/>
                <a:ea typeface="Calibri" pitchFamily="34" charset="-122"/>
                <a:cs typeface="Calibri" pitchFamily="34" charset="-120"/>
              </a:rPr>
              <a:t>Subscription SaaS  </a:t>
            </a:r>
            <a:pPr indent="0" marL="0">
              <a:lnSpc>
                <a:spcPct val="108000"/>
              </a:lnSpc>
              <a:buNone/>
            </a:pPr>
            <a:r>
              <a:rPr lang="en-US" sz="1000" dirty="0">
                <a:solidFill>
                  <a:srgbClr val="34433B"/>
                </a:solidFill>
                <a:latin typeface="Calibri" pitchFamily="34" charset="0"/>
                <a:ea typeface="Calibri" pitchFamily="34" charset="-122"/>
                <a:cs typeface="Calibri" pitchFamily="34" charset="-120"/>
              </a:rPr>
              <a:t>annual/subscription-based, for routing, dashboards and database management.</a:t>
            </a:r>
            <a:endParaRPr lang="en-US" sz="1000" dirty="0"/>
          </a:p>
        </p:txBody>
      </p:sp>
      <p:sp>
        <p:nvSpPr>
          <p:cNvPr id="28" name="Shape 26"/>
          <p:cNvSpPr/>
          <p:nvPr/>
        </p:nvSpPr>
        <p:spPr>
          <a:xfrm>
            <a:off x="4480560" y="3739896"/>
            <a:ext cx="73152" cy="73152"/>
          </a:xfrm>
          <a:prstGeom prst="ellipse">
            <a:avLst/>
          </a:prstGeom>
          <a:solidFill>
            <a:srgbClr val="168A46"/>
          </a:solidFill>
          <a:ln/>
        </p:spPr>
      </p:sp>
      <p:sp>
        <p:nvSpPr>
          <p:cNvPr id="29" name="Text 27"/>
          <p:cNvSpPr txBox="1"/>
          <p:nvPr/>
        </p:nvSpPr>
        <p:spPr>
          <a:xfrm>
            <a:off x="4645152" y="3630168"/>
            <a:ext cx="2980944" cy="612648"/>
          </a:xfrm>
          <a:prstGeom prst="rect">
            <a:avLst/>
          </a:prstGeom>
          <a:noFill/>
          <a:ln/>
        </p:spPr>
        <p:txBody>
          <a:bodyPr wrap="square" lIns="0" tIns="0" rIns="0" bIns="0" rtlCol="0" anchor="ctr"/>
          <a:lstStyle/>
          <a:p>
            <a:pPr indent="0" marL="0">
              <a:lnSpc>
                <a:spcPct val="108000"/>
              </a:lnSpc>
              <a:buNone/>
            </a:pPr>
            <a:r>
              <a:rPr lang="en-US" sz="1000" b="1" dirty="0">
                <a:solidFill>
                  <a:srgbClr val="142018"/>
                </a:solidFill>
                <a:latin typeface="Calibri" pitchFamily="34" charset="0"/>
                <a:ea typeface="Calibri" pitchFamily="34" charset="-122"/>
                <a:cs typeface="Calibri" pitchFamily="34" charset="-120"/>
              </a:rPr>
              <a:t>Implementation fees  </a:t>
            </a:r>
            <a:pPr indent="0" marL="0">
              <a:lnSpc>
                <a:spcPct val="108000"/>
              </a:lnSpc>
              <a:buNone/>
            </a:pPr>
            <a:r>
              <a:rPr lang="en-US" sz="1000" dirty="0">
                <a:solidFill>
                  <a:srgbClr val="34433B"/>
                </a:solidFill>
                <a:latin typeface="Calibri" pitchFamily="34" charset="0"/>
                <a:ea typeface="Calibri" pitchFamily="34" charset="-122"/>
                <a:cs typeface="Calibri" pitchFamily="34" charset="-120"/>
              </a:rPr>
              <a:t>optional fees for integrating with existing government complaint systems.</a:t>
            </a:r>
            <a:endParaRPr lang="en-US" sz="1000" dirty="0"/>
          </a:p>
        </p:txBody>
      </p:sp>
      <p:sp>
        <p:nvSpPr>
          <p:cNvPr id="30" name="Shape 28"/>
          <p:cNvSpPr/>
          <p:nvPr/>
        </p:nvSpPr>
        <p:spPr>
          <a:xfrm>
            <a:off x="4480560" y="4398264"/>
            <a:ext cx="73152" cy="73152"/>
          </a:xfrm>
          <a:prstGeom prst="ellipse">
            <a:avLst/>
          </a:prstGeom>
          <a:solidFill>
            <a:srgbClr val="168A46"/>
          </a:solidFill>
          <a:ln/>
        </p:spPr>
      </p:sp>
      <p:sp>
        <p:nvSpPr>
          <p:cNvPr id="31" name="Text 29"/>
          <p:cNvSpPr txBox="1"/>
          <p:nvPr/>
        </p:nvSpPr>
        <p:spPr>
          <a:xfrm>
            <a:off x="4645152" y="4288536"/>
            <a:ext cx="2980944" cy="612648"/>
          </a:xfrm>
          <a:prstGeom prst="rect">
            <a:avLst/>
          </a:prstGeom>
          <a:noFill/>
          <a:ln/>
        </p:spPr>
        <p:txBody>
          <a:bodyPr wrap="square" lIns="0" tIns="0" rIns="0" bIns="0" rtlCol="0" anchor="ctr"/>
          <a:lstStyle/>
          <a:p>
            <a:pPr indent="0" marL="0">
              <a:lnSpc>
                <a:spcPct val="108000"/>
              </a:lnSpc>
              <a:buNone/>
            </a:pPr>
            <a:r>
              <a:rPr lang="en-US" sz="1000" b="1" dirty="0">
                <a:solidFill>
                  <a:srgbClr val="142018"/>
                </a:solidFill>
                <a:latin typeface="Calibri" pitchFamily="34" charset="0"/>
                <a:ea typeface="Calibri" pitchFamily="34" charset="-122"/>
                <a:cs typeface="Calibri" pitchFamily="34" charset="-120"/>
              </a:rPr>
              <a:t>Maintenance services  </a:t>
            </a:r>
            <a:pPr indent="0" marL="0">
              <a:lnSpc>
                <a:spcPct val="108000"/>
              </a:lnSpc>
              <a:buNone/>
            </a:pPr>
            <a:r>
              <a:rPr lang="en-US" sz="1000" dirty="0">
                <a:solidFill>
                  <a:srgbClr val="34433B"/>
                </a:solidFill>
                <a:latin typeface="Calibri" pitchFamily="34" charset="0"/>
                <a:ea typeface="Calibri" pitchFamily="34" charset="-122"/>
                <a:cs typeface="Calibri" pitchFamily="34" charset="-120"/>
              </a:rPr>
              <a:t>for changing jurisdictions and civic datasets.</a:t>
            </a:r>
            <a:endParaRPr lang="en-US" sz="1000" dirty="0"/>
          </a:p>
        </p:txBody>
      </p:sp>
      <p:sp>
        <p:nvSpPr>
          <p:cNvPr id="32" name="Text 30"/>
          <p:cNvSpPr txBox="1"/>
          <p:nvPr/>
        </p:nvSpPr>
        <p:spPr>
          <a:xfrm>
            <a:off x="4462272" y="5148072"/>
            <a:ext cx="3163824" cy="502920"/>
          </a:xfrm>
          <a:prstGeom prst="rect">
            <a:avLst/>
          </a:prstGeom>
          <a:noFill/>
          <a:ln/>
        </p:spPr>
        <p:txBody>
          <a:bodyPr wrap="square" lIns="0" tIns="0" rIns="0" bIns="0" rtlCol="0" anchor="ctr"/>
          <a:lstStyle/>
          <a:p>
            <a:pPr indent="0" marL="0">
              <a:lnSpc>
                <a:spcPct val="110000"/>
              </a:lnSpc>
              <a:buNone/>
            </a:pPr>
            <a:r>
              <a:rPr lang="en-US" sz="930" i="1" dirty="0">
                <a:solidFill>
                  <a:srgbClr val="0F6334"/>
                </a:solidFill>
                <a:latin typeface="Calibri" pitchFamily="34" charset="0"/>
                <a:ea typeface="Calibri" pitchFamily="34" charset="-122"/>
                <a:cs typeface="Calibri" pitchFamily="34" charset="-120"/>
              </a:rPr>
              <a:t>Revenue: Government contracts + SaaS subscription + implementation/integration services</a:t>
            </a:r>
            <a:endParaRPr lang="en-US" sz="930" dirty="0"/>
          </a:p>
        </p:txBody>
      </p:sp>
      <p:sp>
        <p:nvSpPr>
          <p:cNvPr id="33" name="Shape 31"/>
          <p:cNvSpPr/>
          <p:nvPr/>
        </p:nvSpPr>
        <p:spPr>
          <a:xfrm>
            <a:off x="8010144" y="1417320"/>
            <a:ext cx="3529584" cy="4297680"/>
          </a:xfrm>
          <a:prstGeom prst="roundRect">
            <a:avLst>
              <a:gd name="adj" fmla="val 2332"/>
            </a:avLst>
          </a:prstGeom>
          <a:solidFill>
            <a:srgbClr val="F2F8F4"/>
          </a:solidFill>
          <a:ln w="12700">
            <a:solidFill>
              <a:srgbClr val="D3E6DA"/>
            </a:solidFill>
            <a:prstDash val="solid"/>
          </a:ln>
          <a:effectLst>
            <a:outerShdw sx="100000" sy="100000" kx="0" ky="0" algn="bl" rotWithShape="0" blurRad="101600" dist="25400" dir="5400000">
              <a:srgbClr val="9CB3A4">
                <a:alpha val="28000"/>
              </a:srgbClr>
            </a:outerShdw>
          </a:effectLst>
        </p:spPr>
      </p:sp>
      <p:sp>
        <p:nvSpPr>
          <p:cNvPr id="34" name="Shape 32"/>
          <p:cNvSpPr/>
          <p:nvPr/>
        </p:nvSpPr>
        <p:spPr>
          <a:xfrm>
            <a:off x="8010144" y="1417320"/>
            <a:ext cx="3529584" cy="502920"/>
          </a:xfrm>
          <a:prstGeom prst="roundRect">
            <a:avLst>
              <a:gd name="adj" fmla="val 16364"/>
            </a:avLst>
          </a:prstGeom>
          <a:solidFill>
            <a:srgbClr val="E6F3EA"/>
          </a:solidFill>
          <a:ln w="12700">
            <a:solidFill>
              <a:srgbClr val="D3E6DA"/>
            </a:solidFill>
            <a:prstDash val="solid"/>
          </a:ln>
        </p:spPr>
      </p:sp>
      <p:sp>
        <p:nvSpPr>
          <p:cNvPr id="35" name="Text 33"/>
          <p:cNvSpPr txBox="1"/>
          <p:nvPr/>
        </p:nvSpPr>
        <p:spPr>
          <a:xfrm>
            <a:off x="8193024" y="1417320"/>
            <a:ext cx="3163824" cy="502920"/>
          </a:xfrm>
          <a:prstGeom prst="rect">
            <a:avLst/>
          </a:prstGeom>
          <a:noFill/>
          <a:ln/>
        </p:spPr>
        <p:txBody>
          <a:bodyPr wrap="square" lIns="0" tIns="0" rIns="0" bIns="0" rtlCol="0" anchor="ctr"/>
          <a:lstStyle/>
          <a:p>
            <a:pPr indent="0" marL="0">
              <a:buNone/>
            </a:pPr>
            <a:r>
              <a:rPr lang="en-US" sz="1250" b="1" dirty="0">
                <a:solidFill>
                  <a:srgbClr val="0F6334"/>
                </a:solidFill>
                <a:latin typeface="Calibri" pitchFamily="34" charset="0"/>
                <a:ea typeface="Calibri" pitchFamily="34" charset="-122"/>
                <a:cs typeface="Calibri" pitchFamily="34" charset="-120"/>
              </a:rPr>
              <a:t>🌍  Market Opportunity</a:t>
            </a:r>
            <a:endParaRPr lang="en-US" sz="1250" dirty="0"/>
          </a:p>
        </p:txBody>
      </p:sp>
      <p:sp>
        <p:nvSpPr>
          <p:cNvPr id="36" name="Shape 34"/>
          <p:cNvSpPr/>
          <p:nvPr/>
        </p:nvSpPr>
        <p:spPr>
          <a:xfrm>
            <a:off x="8211312" y="2130552"/>
            <a:ext cx="73152" cy="73152"/>
          </a:xfrm>
          <a:prstGeom prst="ellipse">
            <a:avLst/>
          </a:prstGeom>
          <a:solidFill>
            <a:srgbClr val="168A46"/>
          </a:solidFill>
          <a:ln/>
        </p:spPr>
      </p:sp>
      <p:sp>
        <p:nvSpPr>
          <p:cNvPr id="37" name="Text 35"/>
          <p:cNvSpPr txBox="1"/>
          <p:nvPr/>
        </p:nvSpPr>
        <p:spPr>
          <a:xfrm>
            <a:off x="8375904" y="2020824"/>
            <a:ext cx="2980944" cy="502920"/>
          </a:xfrm>
          <a:prstGeom prst="rect">
            <a:avLst/>
          </a:prstGeom>
          <a:noFill/>
          <a:ln/>
        </p:spPr>
        <p:txBody>
          <a:bodyPr wrap="square" lIns="0" tIns="0" rIns="0" bIns="0" rtlCol="0" anchor="ctr"/>
          <a:lstStyle/>
          <a:p>
            <a:pPr indent="0" marL="0">
              <a:lnSpc>
                <a:spcPct val="108000"/>
              </a:lnSpc>
              <a:buNone/>
            </a:pPr>
            <a:r>
              <a:rPr lang="en-US" sz="1000" b="1" dirty="0">
                <a:solidFill>
                  <a:srgbClr val="142018"/>
                </a:solidFill>
                <a:latin typeface="Calibri" pitchFamily="34" charset="0"/>
                <a:ea typeface="Calibri" pitchFamily="34" charset="-122"/>
                <a:cs typeface="Calibri" pitchFamily="34" charset="-120"/>
              </a:rPr>
              <a:t>Municipal corporations &amp; ULBs  </a:t>
            </a:r>
            <a:pPr indent="0" marL="0">
              <a:lnSpc>
                <a:spcPct val="108000"/>
              </a:lnSpc>
              <a:buNone/>
            </a:pPr>
            <a:r>
              <a:rPr lang="en-US" sz="1000" dirty="0">
                <a:solidFill>
                  <a:srgbClr val="34433B"/>
                </a:solidFill>
                <a:latin typeface="Calibri" pitchFamily="34" charset="0"/>
                <a:ea typeface="Calibri" pitchFamily="34" charset="-122"/>
                <a:cs typeface="Calibri" pitchFamily="34" charset="-120"/>
              </a:rPr>
              <a:t>across India.</a:t>
            </a:r>
            <a:endParaRPr lang="en-US" sz="1000" dirty="0"/>
          </a:p>
        </p:txBody>
      </p:sp>
      <p:sp>
        <p:nvSpPr>
          <p:cNvPr id="38" name="Shape 36"/>
          <p:cNvSpPr/>
          <p:nvPr/>
        </p:nvSpPr>
        <p:spPr>
          <a:xfrm>
            <a:off x="8211312" y="2679192"/>
            <a:ext cx="73152" cy="73152"/>
          </a:xfrm>
          <a:prstGeom prst="ellipse">
            <a:avLst/>
          </a:prstGeom>
          <a:solidFill>
            <a:srgbClr val="168A46"/>
          </a:solidFill>
          <a:ln/>
        </p:spPr>
      </p:sp>
      <p:sp>
        <p:nvSpPr>
          <p:cNvPr id="39" name="Text 37"/>
          <p:cNvSpPr txBox="1"/>
          <p:nvPr/>
        </p:nvSpPr>
        <p:spPr>
          <a:xfrm>
            <a:off x="8375904" y="2569464"/>
            <a:ext cx="2980944" cy="502920"/>
          </a:xfrm>
          <a:prstGeom prst="rect">
            <a:avLst/>
          </a:prstGeom>
          <a:noFill/>
          <a:ln/>
        </p:spPr>
        <p:txBody>
          <a:bodyPr wrap="square" lIns="0" tIns="0" rIns="0" bIns="0" rtlCol="0" anchor="ctr"/>
          <a:lstStyle/>
          <a:p>
            <a:pPr indent="0" marL="0">
              <a:lnSpc>
                <a:spcPct val="108000"/>
              </a:lnSpc>
              <a:buNone/>
            </a:pPr>
            <a:r>
              <a:rPr lang="en-US" sz="1000" b="1" dirty="0">
                <a:solidFill>
                  <a:srgbClr val="142018"/>
                </a:solidFill>
                <a:latin typeface="Calibri" pitchFamily="34" charset="0"/>
                <a:ea typeface="Calibri" pitchFamily="34" charset="-122"/>
                <a:cs typeface="Calibri" pitchFamily="34" charset="-120"/>
              </a:rPr>
              <a:t>Multiple overlapping jurisdictions  </a:t>
            </a:r>
            <a:pPr indent="0" marL="0">
              <a:lnSpc>
                <a:spcPct val="108000"/>
              </a:lnSpc>
              <a:buNone/>
            </a:pPr>
            <a:r>
              <a:rPr lang="en-US" sz="1000" dirty="0">
                <a:solidFill>
                  <a:srgbClr val="34433B"/>
                </a:solidFill>
                <a:latin typeface="Calibri" pitchFamily="34" charset="0"/>
                <a:ea typeface="Calibri" pitchFamily="34" charset="-122"/>
                <a:cs typeface="Calibri" pitchFamily="34" charset="-120"/>
              </a:rPr>
              <a:t>or changing administrative boundaries — a strong use case.</a:t>
            </a:r>
            <a:endParaRPr lang="en-US" sz="1000" dirty="0"/>
          </a:p>
        </p:txBody>
      </p:sp>
      <p:sp>
        <p:nvSpPr>
          <p:cNvPr id="40" name="Shape 38"/>
          <p:cNvSpPr/>
          <p:nvPr/>
        </p:nvSpPr>
        <p:spPr>
          <a:xfrm>
            <a:off x="8211312" y="3227832"/>
            <a:ext cx="73152" cy="73152"/>
          </a:xfrm>
          <a:prstGeom prst="ellipse">
            <a:avLst/>
          </a:prstGeom>
          <a:solidFill>
            <a:srgbClr val="168A46"/>
          </a:solidFill>
          <a:ln/>
        </p:spPr>
      </p:sp>
      <p:sp>
        <p:nvSpPr>
          <p:cNvPr id="41" name="Text 39"/>
          <p:cNvSpPr txBox="1"/>
          <p:nvPr/>
        </p:nvSpPr>
        <p:spPr>
          <a:xfrm>
            <a:off x="8375904" y="3118104"/>
            <a:ext cx="2980944" cy="502920"/>
          </a:xfrm>
          <a:prstGeom prst="rect">
            <a:avLst/>
          </a:prstGeom>
          <a:noFill/>
          <a:ln/>
        </p:spPr>
        <p:txBody>
          <a:bodyPr wrap="square" lIns="0" tIns="0" rIns="0" bIns="0" rtlCol="0" anchor="ctr"/>
          <a:lstStyle/>
          <a:p>
            <a:pPr indent="0" marL="0">
              <a:lnSpc>
                <a:spcPct val="108000"/>
              </a:lnSpc>
              <a:buNone/>
            </a:pPr>
            <a:r>
              <a:rPr lang="en-US" sz="1000" b="1" dirty="0">
                <a:solidFill>
                  <a:srgbClr val="142018"/>
                </a:solidFill>
                <a:latin typeface="Calibri" pitchFamily="34" charset="0"/>
                <a:ea typeface="Calibri" pitchFamily="34" charset="-122"/>
                <a:cs typeface="Calibri" pitchFamily="34" charset="-120"/>
              </a:rPr>
              <a:t>Expand beyond Mysuru  </a:t>
            </a:r>
            <a:pPr indent="0" marL="0">
              <a:lnSpc>
                <a:spcPct val="108000"/>
              </a:lnSpc>
              <a:buNone/>
            </a:pPr>
            <a:r>
              <a:rPr lang="en-US" sz="1000" dirty="0">
                <a:solidFill>
                  <a:srgbClr val="34433B"/>
                </a:solidFill>
                <a:latin typeface="Calibri" pitchFamily="34" charset="0"/>
                <a:ea typeface="Calibri" pitchFamily="34" charset="-122"/>
                <a:cs typeface="Calibri" pitchFamily="34" charset="-120"/>
              </a:rPr>
              <a:t>to waste, roads, drainage, streetlights, water &amp; sanitation.</a:t>
            </a:r>
            <a:endParaRPr lang="en-US" sz="1000" dirty="0"/>
          </a:p>
        </p:txBody>
      </p:sp>
      <p:sp>
        <p:nvSpPr>
          <p:cNvPr id="42" name="Shape 40"/>
          <p:cNvSpPr/>
          <p:nvPr/>
        </p:nvSpPr>
        <p:spPr>
          <a:xfrm>
            <a:off x="8211312" y="3776472"/>
            <a:ext cx="73152" cy="73152"/>
          </a:xfrm>
          <a:prstGeom prst="ellipse">
            <a:avLst/>
          </a:prstGeom>
          <a:solidFill>
            <a:srgbClr val="168A46"/>
          </a:solidFill>
          <a:ln/>
        </p:spPr>
      </p:sp>
      <p:sp>
        <p:nvSpPr>
          <p:cNvPr id="43" name="Text 41"/>
          <p:cNvSpPr txBox="1"/>
          <p:nvPr/>
        </p:nvSpPr>
        <p:spPr>
          <a:xfrm>
            <a:off x="8375904" y="3666744"/>
            <a:ext cx="2980944" cy="502920"/>
          </a:xfrm>
          <a:prstGeom prst="rect">
            <a:avLst/>
          </a:prstGeom>
          <a:noFill/>
          <a:ln/>
        </p:spPr>
        <p:txBody>
          <a:bodyPr wrap="square" lIns="0" tIns="0" rIns="0" bIns="0" rtlCol="0" anchor="ctr"/>
          <a:lstStyle/>
          <a:p>
            <a:pPr indent="0" marL="0">
              <a:lnSpc>
                <a:spcPct val="108000"/>
              </a:lnSpc>
              <a:buNone/>
            </a:pPr>
            <a:r>
              <a:rPr lang="en-US" sz="1000" b="1" dirty="0">
                <a:solidFill>
                  <a:srgbClr val="142018"/>
                </a:solidFill>
                <a:latin typeface="Calibri" pitchFamily="34" charset="0"/>
                <a:ea typeface="Calibri" pitchFamily="34" charset="-122"/>
                <a:cs typeface="Calibri" pitchFamily="34" charset="-120"/>
              </a:rPr>
              <a:t>Same framework, other cities  </a:t>
            </a:r>
            <a:pPr indent="0" marL="0">
              <a:lnSpc>
                <a:spcPct val="108000"/>
              </a:lnSpc>
              <a:buNone/>
            </a:pPr>
            <a:r>
              <a:rPr lang="en-US" sz="1000" dirty="0">
                <a:solidFill>
                  <a:srgbClr val="34433B"/>
                </a:solidFill>
                <a:latin typeface="Calibri" pitchFamily="34" charset="0"/>
                <a:ea typeface="Calibri" pitchFamily="34" charset="-122"/>
                <a:cs typeface="Calibri" pitchFamily="34" charset="-120"/>
              </a:rPr>
              <a:t>adapted by replacing the jurisdiction and authority datasets.</a:t>
            </a:r>
            <a:endParaRPr lang="en-US" sz="1000" dirty="0"/>
          </a:p>
        </p:txBody>
      </p:sp>
      <p:sp>
        <p:nvSpPr>
          <p:cNvPr id="44" name="Shape 42"/>
          <p:cNvSpPr/>
          <p:nvPr/>
        </p:nvSpPr>
        <p:spPr>
          <a:xfrm>
            <a:off x="548640" y="5870448"/>
            <a:ext cx="10991088" cy="530352"/>
          </a:xfrm>
          <a:prstGeom prst="roundRect">
            <a:avLst>
              <a:gd name="adj" fmla="val 15517"/>
            </a:avLst>
          </a:prstGeom>
          <a:solidFill>
            <a:srgbClr val="E6F3EA"/>
          </a:solidFill>
          <a:ln w="12700">
            <a:solidFill>
              <a:srgbClr val="168A46"/>
            </a:solidFill>
            <a:prstDash val="solid"/>
          </a:ln>
          <a:effectLst>
            <a:outerShdw sx="100000" sy="100000" kx="0" ky="0" algn="bl" rotWithShape="0" blurRad="101600" dist="25400" dir="5400000">
              <a:srgbClr val="9CB3A4">
                <a:alpha val="28000"/>
              </a:srgbClr>
            </a:outerShdw>
          </a:effectLst>
        </p:spPr>
      </p:sp>
      <p:sp>
        <p:nvSpPr>
          <p:cNvPr id="45" name="Text 43"/>
          <p:cNvSpPr txBox="1"/>
          <p:nvPr/>
        </p:nvSpPr>
        <p:spPr>
          <a:xfrm>
            <a:off x="822960" y="5870448"/>
            <a:ext cx="10442448" cy="530352"/>
          </a:xfrm>
          <a:prstGeom prst="rect">
            <a:avLst/>
          </a:prstGeom>
          <a:noFill/>
          <a:ln/>
        </p:spPr>
        <p:txBody>
          <a:bodyPr wrap="square" lIns="0" tIns="0" rIns="0" bIns="0" rtlCol="0" anchor="ctr"/>
          <a:lstStyle/>
          <a:p>
            <a:pPr algn="ctr" indent="0" marL="0">
              <a:buNone/>
            </a:pPr>
            <a:r>
              <a:rPr lang="en-US" sz="1200" b="1" i="1" dirty="0">
                <a:solidFill>
                  <a:srgbClr val="0F6334"/>
                </a:solidFill>
                <a:latin typeface="Calibri" pitchFamily="34" charset="0"/>
                <a:ea typeface="Calibri" pitchFamily="34" charset="-122"/>
                <a:cs typeface="Calibri" pitchFamily="34" charset="-120"/>
              </a:rPr>
              <a:t>“We turn a citizen’s location and complaint into an actionable destination for the right government authority.”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10058400" y="4846320"/>
            <a:ext cx="3840480" cy="3840480"/>
          </a:xfrm>
          <a:prstGeom prst="ellipse">
            <a:avLst/>
          </a:prstGeom>
          <a:solidFill>
            <a:srgbClr val="F2F8F4">
              <a:alpha val="75000"/>
            </a:srgbClr>
          </a:solidFill>
          <a:ln/>
        </p:spPr>
      </p:sp>
      <p:sp>
        <p:nvSpPr>
          <p:cNvPr id="3" name="Text 1"/>
          <p:cNvSpPr txBox="1"/>
          <p:nvPr/>
        </p:nvSpPr>
        <p:spPr>
          <a:xfrm>
            <a:off x="548640" y="384048"/>
            <a:ext cx="9601200" cy="320040"/>
          </a:xfrm>
          <a:prstGeom prst="rect">
            <a:avLst/>
          </a:prstGeom>
          <a:noFill/>
          <a:ln/>
        </p:spPr>
        <p:txBody>
          <a:bodyPr wrap="square" lIns="0" tIns="0" rIns="0" bIns="0" rtlCol="0" anchor="ctr"/>
          <a:lstStyle/>
          <a:p>
            <a:pPr indent="0" marL="0">
              <a:buNone/>
            </a:pPr>
            <a:r>
              <a:rPr lang="en-US" sz="1250" b="1" spc="250" kern="0" dirty="0">
                <a:solidFill>
                  <a:srgbClr val="168A46"/>
                </a:solidFill>
                <a:latin typeface="Calibri" pitchFamily="34" charset="0"/>
                <a:ea typeface="Calibri" pitchFamily="34" charset="-122"/>
                <a:cs typeface="Calibri" pitchFamily="34" charset="-120"/>
              </a:rPr>
              <a:t>COMPARED TO EXISTING SOLUTIONS</a:t>
            </a:r>
            <a:endParaRPr lang="en-US" sz="1250" dirty="0"/>
          </a:p>
        </p:txBody>
      </p:sp>
      <p:sp>
        <p:nvSpPr>
          <p:cNvPr id="4" name="Text 2"/>
          <p:cNvSpPr txBox="1"/>
          <p:nvPr/>
        </p:nvSpPr>
        <p:spPr>
          <a:xfrm>
            <a:off x="548640" y="621792"/>
            <a:ext cx="9601200" cy="685800"/>
          </a:xfrm>
          <a:prstGeom prst="rect">
            <a:avLst/>
          </a:prstGeom>
          <a:noFill/>
          <a:ln/>
        </p:spPr>
        <p:txBody>
          <a:bodyPr wrap="square" lIns="0" tIns="0" rIns="0" bIns="0" rtlCol="0" anchor="ctr"/>
          <a:lstStyle/>
          <a:p>
            <a:pPr indent="0" marL="0">
              <a:buNone/>
            </a:pPr>
            <a:r>
              <a:rPr lang="en-US" sz="2400" b="1" dirty="0">
                <a:solidFill>
                  <a:srgbClr val="142018"/>
                </a:solidFill>
                <a:latin typeface="Calibri" pitchFamily="34" charset="0"/>
                <a:ea typeface="Calibri" pitchFamily="34" charset="-122"/>
                <a:cs typeface="Calibri" pitchFamily="34" charset="-120"/>
              </a:rPr>
              <a:t>Traditional systems vs. Samagra Mysuru</a:t>
            </a:r>
            <a:endParaRPr lang="en-US" sz="2400" dirty="0"/>
          </a:p>
        </p:txBody>
      </p:sp>
      <p:sp>
        <p:nvSpPr>
          <p:cNvPr id="5" name="Shape 3"/>
          <p:cNvSpPr/>
          <p:nvPr/>
        </p:nvSpPr>
        <p:spPr>
          <a:xfrm>
            <a:off x="548640" y="1298448"/>
            <a:ext cx="2880360" cy="384048"/>
          </a:xfrm>
          <a:prstGeom prst="rect">
            <a:avLst/>
          </a:prstGeom>
          <a:solidFill>
            <a:srgbClr val="E6F3EA"/>
          </a:solidFill>
          <a:ln w="6350">
            <a:solidFill>
              <a:srgbClr val="D3E6DA"/>
            </a:solidFill>
            <a:prstDash val="solid"/>
          </a:ln>
        </p:spPr>
      </p:sp>
      <p:sp>
        <p:nvSpPr>
          <p:cNvPr id="6" name="Text 4"/>
          <p:cNvSpPr txBox="1"/>
          <p:nvPr/>
        </p:nvSpPr>
        <p:spPr>
          <a:xfrm>
            <a:off x="667512" y="1298448"/>
            <a:ext cx="2642616" cy="384048"/>
          </a:xfrm>
          <a:prstGeom prst="rect">
            <a:avLst/>
          </a:prstGeom>
          <a:noFill/>
          <a:ln/>
        </p:spPr>
        <p:txBody>
          <a:bodyPr wrap="square" lIns="0" tIns="0" rIns="0" bIns="0" rtlCol="0" anchor="ctr"/>
          <a:lstStyle/>
          <a:p>
            <a:pPr indent="0" marL="0">
              <a:buNone/>
            </a:pPr>
            <a:r>
              <a:rPr lang="en-US" sz="1150" b="1" dirty="0">
                <a:solidFill>
                  <a:srgbClr val="142018"/>
                </a:solidFill>
                <a:latin typeface="Calibri" pitchFamily="34" charset="0"/>
                <a:ea typeface="Calibri" pitchFamily="34" charset="-122"/>
                <a:cs typeface="Calibri" pitchFamily="34" charset="-120"/>
              </a:rPr>
              <a:t>Aspect</a:t>
            </a:r>
            <a:endParaRPr lang="en-US" sz="1150" dirty="0"/>
          </a:p>
        </p:txBody>
      </p:sp>
      <p:sp>
        <p:nvSpPr>
          <p:cNvPr id="7" name="Shape 5"/>
          <p:cNvSpPr/>
          <p:nvPr/>
        </p:nvSpPr>
        <p:spPr>
          <a:xfrm>
            <a:off x="3429000" y="1298448"/>
            <a:ext cx="4160520" cy="384048"/>
          </a:xfrm>
          <a:prstGeom prst="rect">
            <a:avLst/>
          </a:prstGeom>
          <a:solidFill>
            <a:srgbClr val="E6F3EA"/>
          </a:solidFill>
          <a:ln w="6350">
            <a:solidFill>
              <a:srgbClr val="D3E6DA"/>
            </a:solidFill>
            <a:prstDash val="solid"/>
          </a:ln>
        </p:spPr>
      </p:sp>
      <p:sp>
        <p:nvSpPr>
          <p:cNvPr id="8" name="Text 6"/>
          <p:cNvSpPr txBox="1"/>
          <p:nvPr/>
        </p:nvSpPr>
        <p:spPr>
          <a:xfrm>
            <a:off x="3547872" y="1298448"/>
            <a:ext cx="3922776" cy="384048"/>
          </a:xfrm>
          <a:prstGeom prst="rect">
            <a:avLst/>
          </a:prstGeom>
          <a:noFill/>
          <a:ln/>
        </p:spPr>
        <p:txBody>
          <a:bodyPr wrap="square" lIns="0" tIns="0" rIns="0" bIns="0" rtlCol="0" anchor="ctr"/>
          <a:lstStyle/>
          <a:p>
            <a:pPr indent="0" marL="0">
              <a:buNone/>
            </a:pPr>
            <a:r>
              <a:rPr lang="en-US" sz="1150" b="1" dirty="0">
                <a:solidFill>
                  <a:srgbClr val="142018"/>
                </a:solidFill>
                <a:latin typeface="Calibri" pitchFamily="34" charset="0"/>
                <a:ea typeface="Calibri" pitchFamily="34" charset="-122"/>
                <a:cs typeface="Calibri" pitchFamily="34" charset="-120"/>
              </a:rPr>
              <a:t>Existing / Traditional Solution</a:t>
            </a:r>
            <a:endParaRPr lang="en-US" sz="1150" dirty="0"/>
          </a:p>
        </p:txBody>
      </p:sp>
      <p:sp>
        <p:nvSpPr>
          <p:cNvPr id="9" name="Shape 7"/>
          <p:cNvSpPr/>
          <p:nvPr/>
        </p:nvSpPr>
        <p:spPr>
          <a:xfrm>
            <a:off x="7589520" y="1298448"/>
            <a:ext cx="4050792" cy="384048"/>
          </a:xfrm>
          <a:prstGeom prst="rect">
            <a:avLst/>
          </a:prstGeom>
          <a:solidFill>
            <a:srgbClr val="E6F3EA"/>
          </a:solidFill>
          <a:ln w="6350">
            <a:solidFill>
              <a:srgbClr val="D3E6DA"/>
            </a:solidFill>
            <a:prstDash val="solid"/>
          </a:ln>
        </p:spPr>
      </p:sp>
      <p:sp>
        <p:nvSpPr>
          <p:cNvPr id="10" name="Text 8"/>
          <p:cNvSpPr txBox="1"/>
          <p:nvPr/>
        </p:nvSpPr>
        <p:spPr>
          <a:xfrm>
            <a:off x="7708392" y="1298448"/>
            <a:ext cx="3813048" cy="384048"/>
          </a:xfrm>
          <a:prstGeom prst="rect">
            <a:avLst/>
          </a:prstGeom>
          <a:noFill/>
          <a:ln/>
        </p:spPr>
        <p:txBody>
          <a:bodyPr wrap="square" lIns="0" tIns="0" rIns="0" bIns="0" rtlCol="0" anchor="ctr"/>
          <a:lstStyle/>
          <a:p>
            <a:pPr indent="0" marL="0">
              <a:buNone/>
            </a:pPr>
            <a:r>
              <a:rPr lang="en-US" sz="1150" b="1" dirty="0">
                <a:solidFill>
                  <a:srgbClr val="0F6334"/>
                </a:solidFill>
                <a:latin typeface="Calibri" pitchFamily="34" charset="0"/>
                <a:ea typeface="Calibri" pitchFamily="34" charset="-122"/>
                <a:cs typeface="Calibri" pitchFamily="34" charset="-120"/>
              </a:rPr>
              <a:t>Samagra Mysuru</a:t>
            </a:r>
            <a:endParaRPr lang="en-US" sz="1150" dirty="0"/>
          </a:p>
        </p:txBody>
      </p:sp>
      <p:sp>
        <p:nvSpPr>
          <p:cNvPr id="11" name="Shape 9"/>
          <p:cNvSpPr/>
          <p:nvPr/>
        </p:nvSpPr>
        <p:spPr>
          <a:xfrm>
            <a:off x="548640" y="1682496"/>
            <a:ext cx="2880360" cy="397764"/>
          </a:xfrm>
          <a:prstGeom prst="rect">
            <a:avLst/>
          </a:prstGeom>
          <a:solidFill>
            <a:srgbClr val="FFFFFF"/>
          </a:solidFill>
          <a:ln w="6350">
            <a:solidFill>
              <a:srgbClr val="D3E6DA"/>
            </a:solidFill>
            <a:prstDash val="solid"/>
          </a:ln>
        </p:spPr>
      </p:sp>
      <p:sp>
        <p:nvSpPr>
          <p:cNvPr id="12" name="Text 10"/>
          <p:cNvSpPr txBox="1"/>
          <p:nvPr/>
        </p:nvSpPr>
        <p:spPr>
          <a:xfrm>
            <a:off x="667512" y="1682496"/>
            <a:ext cx="2660904" cy="397764"/>
          </a:xfrm>
          <a:prstGeom prst="rect">
            <a:avLst/>
          </a:prstGeom>
          <a:noFill/>
          <a:ln/>
        </p:spPr>
        <p:txBody>
          <a:bodyPr wrap="square" lIns="0" tIns="0" rIns="0" bIns="0" rtlCol="0" anchor="ctr"/>
          <a:lstStyle/>
          <a:p>
            <a:pPr indent="0" marL="0">
              <a:lnSpc>
                <a:spcPct val="100000"/>
              </a:lnSpc>
              <a:buNone/>
            </a:pPr>
            <a:r>
              <a:rPr lang="en-US" sz="930" b="1" dirty="0">
                <a:solidFill>
                  <a:srgbClr val="142018"/>
                </a:solidFill>
                <a:latin typeface="Calibri" pitchFamily="34" charset="0"/>
                <a:ea typeface="Calibri" pitchFamily="34" charset="-122"/>
                <a:cs typeface="Calibri" pitchFamily="34" charset="-120"/>
              </a:rPr>
              <a:t>Complaint submission</a:t>
            </a:r>
            <a:endParaRPr lang="en-US" sz="930" dirty="0"/>
          </a:p>
        </p:txBody>
      </p:sp>
      <p:sp>
        <p:nvSpPr>
          <p:cNvPr id="13" name="Shape 11"/>
          <p:cNvSpPr/>
          <p:nvPr/>
        </p:nvSpPr>
        <p:spPr>
          <a:xfrm>
            <a:off x="3429000" y="1682496"/>
            <a:ext cx="4160520" cy="397764"/>
          </a:xfrm>
          <a:prstGeom prst="rect">
            <a:avLst/>
          </a:prstGeom>
          <a:solidFill>
            <a:srgbClr val="FFFFFF"/>
          </a:solidFill>
          <a:ln w="6350">
            <a:solidFill>
              <a:srgbClr val="D3E6DA"/>
            </a:solidFill>
            <a:prstDash val="solid"/>
          </a:ln>
        </p:spPr>
      </p:sp>
      <p:sp>
        <p:nvSpPr>
          <p:cNvPr id="14" name="Text 12"/>
          <p:cNvSpPr txBox="1"/>
          <p:nvPr/>
        </p:nvSpPr>
        <p:spPr>
          <a:xfrm>
            <a:off x="3547872" y="1682496"/>
            <a:ext cx="3941064" cy="397764"/>
          </a:xfrm>
          <a:prstGeom prst="rect">
            <a:avLst/>
          </a:prstGeom>
          <a:noFill/>
          <a:ln/>
        </p:spPr>
        <p:txBody>
          <a:bodyPr wrap="square" lIns="0" tIns="0" rIns="0" bIns="0" rtlCol="0" anchor="ctr"/>
          <a:lstStyle/>
          <a:p>
            <a:pPr indent="0" marL="0">
              <a:lnSpc>
                <a:spcPct val="100000"/>
              </a:lnSpc>
              <a:buNone/>
            </a:pPr>
            <a:r>
              <a:rPr lang="en-US" sz="930" dirty="0">
                <a:solidFill>
                  <a:srgbClr val="34433B"/>
                </a:solidFill>
                <a:latin typeface="Calibri" pitchFamily="34" charset="0"/>
                <a:ea typeface="Calibri" pitchFamily="34" charset="-122"/>
                <a:cs typeface="Calibri" pitchFamily="34" charset="-120"/>
              </a:rPr>
              <a:t>Submitted through available civic channels/apps</a:t>
            </a:r>
            <a:endParaRPr lang="en-US" sz="930" dirty="0"/>
          </a:p>
        </p:txBody>
      </p:sp>
      <p:sp>
        <p:nvSpPr>
          <p:cNvPr id="15" name="Shape 13"/>
          <p:cNvSpPr/>
          <p:nvPr/>
        </p:nvSpPr>
        <p:spPr>
          <a:xfrm>
            <a:off x="7589520" y="1682496"/>
            <a:ext cx="4050792" cy="397764"/>
          </a:xfrm>
          <a:prstGeom prst="rect">
            <a:avLst/>
          </a:prstGeom>
          <a:solidFill>
            <a:srgbClr val="E6F3EA"/>
          </a:solidFill>
          <a:ln w="6350">
            <a:solidFill>
              <a:srgbClr val="D3E6DA"/>
            </a:solidFill>
            <a:prstDash val="solid"/>
          </a:ln>
        </p:spPr>
      </p:sp>
      <p:sp>
        <p:nvSpPr>
          <p:cNvPr id="16" name="Text 14"/>
          <p:cNvSpPr txBox="1"/>
          <p:nvPr/>
        </p:nvSpPr>
        <p:spPr>
          <a:xfrm>
            <a:off x="7708392" y="1682496"/>
            <a:ext cx="3831336" cy="397764"/>
          </a:xfrm>
          <a:prstGeom prst="rect">
            <a:avLst/>
          </a:prstGeom>
          <a:noFill/>
          <a:ln/>
        </p:spPr>
        <p:txBody>
          <a:bodyPr wrap="square" lIns="0" tIns="0" rIns="0" bIns="0" rtlCol="0" anchor="ctr"/>
          <a:lstStyle/>
          <a:p>
            <a:pPr indent="0" marL="0">
              <a:lnSpc>
                <a:spcPct val="100000"/>
              </a:lnSpc>
              <a:buNone/>
            </a:pPr>
            <a:r>
              <a:rPr lang="en-US" sz="930" dirty="0">
                <a:solidFill>
                  <a:srgbClr val="0F6334"/>
                </a:solidFill>
                <a:latin typeface="Calibri" pitchFamily="34" charset="0"/>
                <a:ea typeface="Calibri" pitchFamily="34" charset="-122"/>
                <a:cs typeface="Calibri" pitchFamily="34" charset="-120"/>
              </a:rPr>
              <a:t>Issue + location/photo submitted together</a:t>
            </a:r>
            <a:endParaRPr lang="en-US" sz="930" dirty="0"/>
          </a:p>
        </p:txBody>
      </p:sp>
      <p:sp>
        <p:nvSpPr>
          <p:cNvPr id="17" name="Shape 15"/>
          <p:cNvSpPr/>
          <p:nvPr/>
        </p:nvSpPr>
        <p:spPr>
          <a:xfrm>
            <a:off x="548640" y="2080260"/>
            <a:ext cx="2880360" cy="397764"/>
          </a:xfrm>
          <a:prstGeom prst="rect">
            <a:avLst/>
          </a:prstGeom>
          <a:solidFill>
            <a:srgbClr val="F2F8F4"/>
          </a:solidFill>
          <a:ln w="6350">
            <a:solidFill>
              <a:srgbClr val="D3E6DA"/>
            </a:solidFill>
            <a:prstDash val="solid"/>
          </a:ln>
        </p:spPr>
      </p:sp>
      <p:sp>
        <p:nvSpPr>
          <p:cNvPr id="18" name="Text 16"/>
          <p:cNvSpPr txBox="1"/>
          <p:nvPr/>
        </p:nvSpPr>
        <p:spPr>
          <a:xfrm>
            <a:off x="667512" y="2080260"/>
            <a:ext cx="2660904" cy="397764"/>
          </a:xfrm>
          <a:prstGeom prst="rect">
            <a:avLst/>
          </a:prstGeom>
          <a:noFill/>
          <a:ln/>
        </p:spPr>
        <p:txBody>
          <a:bodyPr wrap="square" lIns="0" tIns="0" rIns="0" bIns="0" rtlCol="0" anchor="ctr"/>
          <a:lstStyle/>
          <a:p>
            <a:pPr indent="0" marL="0">
              <a:lnSpc>
                <a:spcPct val="100000"/>
              </a:lnSpc>
              <a:buNone/>
            </a:pPr>
            <a:r>
              <a:rPr lang="en-US" sz="930" b="1" dirty="0">
                <a:solidFill>
                  <a:srgbClr val="142018"/>
                </a:solidFill>
                <a:latin typeface="Calibri" pitchFamily="34" charset="0"/>
                <a:ea typeface="Calibri" pitchFamily="34" charset="-122"/>
                <a:cs typeface="Calibri" pitchFamily="34" charset="-120"/>
              </a:rPr>
              <a:t>Routing method</a:t>
            </a:r>
            <a:endParaRPr lang="en-US" sz="930" dirty="0"/>
          </a:p>
        </p:txBody>
      </p:sp>
      <p:sp>
        <p:nvSpPr>
          <p:cNvPr id="19" name="Shape 17"/>
          <p:cNvSpPr/>
          <p:nvPr/>
        </p:nvSpPr>
        <p:spPr>
          <a:xfrm>
            <a:off x="3429000" y="2080260"/>
            <a:ext cx="4160520" cy="397764"/>
          </a:xfrm>
          <a:prstGeom prst="rect">
            <a:avLst/>
          </a:prstGeom>
          <a:solidFill>
            <a:srgbClr val="F2F8F4"/>
          </a:solidFill>
          <a:ln w="6350">
            <a:solidFill>
              <a:srgbClr val="D3E6DA"/>
            </a:solidFill>
            <a:prstDash val="solid"/>
          </a:ln>
        </p:spPr>
      </p:sp>
      <p:sp>
        <p:nvSpPr>
          <p:cNvPr id="20" name="Text 18"/>
          <p:cNvSpPr txBox="1"/>
          <p:nvPr/>
        </p:nvSpPr>
        <p:spPr>
          <a:xfrm>
            <a:off x="3547872" y="2080260"/>
            <a:ext cx="3941064" cy="397764"/>
          </a:xfrm>
          <a:prstGeom prst="rect">
            <a:avLst/>
          </a:prstGeom>
          <a:noFill/>
          <a:ln/>
        </p:spPr>
        <p:txBody>
          <a:bodyPr wrap="square" lIns="0" tIns="0" rIns="0" bIns="0" rtlCol="0" anchor="ctr"/>
          <a:lstStyle/>
          <a:p>
            <a:pPr indent="0" marL="0">
              <a:lnSpc>
                <a:spcPct val="100000"/>
              </a:lnSpc>
              <a:buNone/>
            </a:pPr>
            <a:r>
              <a:rPr lang="en-US" sz="930" dirty="0">
                <a:solidFill>
                  <a:srgbClr val="34433B"/>
                </a:solidFill>
                <a:latin typeface="Calibri" pitchFamily="34" charset="0"/>
                <a:ea typeface="Calibri" pitchFamily="34" charset="-122"/>
                <a:cs typeface="Calibri" pitchFamily="34" charset="-120"/>
              </a:rPr>
              <a:t>Fixed categories, manual assignment</a:t>
            </a:r>
            <a:endParaRPr lang="en-US" sz="930" dirty="0"/>
          </a:p>
        </p:txBody>
      </p:sp>
      <p:sp>
        <p:nvSpPr>
          <p:cNvPr id="21" name="Shape 19"/>
          <p:cNvSpPr/>
          <p:nvPr/>
        </p:nvSpPr>
        <p:spPr>
          <a:xfrm>
            <a:off x="7589520" y="2080260"/>
            <a:ext cx="4050792" cy="397764"/>
          </a:xfrm>
          <a:prstGeom prst="rect">
            <a:avLst/>
          </a:prstGeom>
          <a:solidFill>
            <a:srgbClr val="E6F3EA"/>
          </a:solidFill>
          <a:ln w="6350">
            <a:solidFill>
              <a:srgbClr val="D3E6DA"/>
            </a:solidFill>
            <a:prstDash val="solid"/>
          </a:ln>
        </p:spPr>
      </p:sp>
      <p:sp>
        <p:nvSpPr>
          <p:cNvPr id="22" name="Text 20"/>
          <p:cNvSpPr txBox="1"/>
          <p:nvPr/>
        </p:nvSpPr>
        <p:spPr>
          <a:xfrm>
            <a:off x="7708392" y="2080260"/>
            <a:ext cx="3831336" cy="397764"/>
          </a:xfrm>
          <a:prstGeom prst="rect">
            <a:avLst/>
          </a:prstGeom>
          <a:noFill/>
          <a:ln/>
        </p:spPr>
        <p:txBody>
          <a:bodyPr wrap="square" lIns="0" tIns="0" rIns="0" bIns="0" rtlCol="0" anchor="ctr"/>
          <a:lstStyle/>
          <a:p>
            <a:pPr indent="0" marL="0">
              <a:lnSpc>
                <a:spcPct val="100000"/>
              </a:lnSpc>
              <a:buNone/>
            </a:pPr>
            <a:r>
              <a:rPr lang="en-US" sz="930" dirty="0">
                <a:solidFill>
                  <a:srgbClr val="0F6334"/>
                </a:solidFill>
                <a:latin typeface="Calibri" pitchFamily="34" charset="0"/>
                <a:ea typeface="Calibri" pitchFamily="34" charset="-122"/>
                <a:cs typeface="Calibri" pitchFamily="34" charset="-120"/>
              </a:rPr>
              <a:t>Auto-determines authority using location + issue type</a:t>
            </a:r>
            <a:endParaRPr lang="en-US" sz="930" dirty="0"/>
          </a:p>
        </p:txBody>
      </p:sp>
      <p:sp>
        <p:nvSpPr>
          <p:cNvPr id="23" name="Shape 21"/>
          <p:cNvSpPr/>
          <p:nvPr/>
        </p:nvSpPr>
        <p:spPr>
          <a:xfrm>
            <a:off x="548640" y="2478024"/>
            <a:ext cx="2880360" cy="397764"/>
          </a:xfrm>
          <a:prstGeom prst="rect">
            <a:avLst/>
          </a:prstGeom>
          <a:solidFill>
            <a:srgbClr val="FFFFFF"/>
          </a:solidFill>
          <a:ln w="6350">
            <a:solidFill>
              <a:srgbClr val="D3E6DA"/>
            </a:solidFill>
            <a:prstDash val="solid"/>
          </a:ln>
        </p:spPr>
      </p:sp>
      <p:sp>
        <p:nvSpPr>
          <p:cNvPr id="24" name="Text 22"/>
          <p:cNvSpPr txBox="1"/>
          <p:nvPr/>
        </p:nvSpPr>
        <p:spPr>
          <a:xfrm>
            <a:off x="667512" y="2478024"/>
            <a:ext cx="2660904" cy="397764"/>
          </a:xfrm>
          <a:prstGeom prst="rect">
            <a:avLst/>
          </a:prstGeom>
          <a:noFill/>
          <a:ln/>
        </p:spPr>
        <p:txBody>
          <a:bodyPr wrap="square" lIns="0" tIns="0" rIns="0" bIns="0" rtlCol="0" anchor="ctr"/>
          <a:lstStyle/>
          <a:p>
            <a:pPr indent="0" marL="0">
              <a:lnSpc>
                <a:spcPct val="100000"/>
              </a:lnSpc>
              <a:buNone/>
            </a:pPr>
            <a:r>
              <a:rPr lang="en-US" sz="930" b="1" dirty="0">
                <a:solidFill>
                  <a:srgbClr val="142018"/>
                </a:solidFill>
                <a:latin typeface="Calibri" pitchFamily="34" charset="0"/>
                <a:ea typeface="Calibri" pitchFamily="34" charset="-122"/>
                <a:cs typeface="Calibri" pitchFamily="34" charset="-120"/>
              </a:rPr>
              <a:t>Location awareness</a:t>
            </a:r>
            <a:endParaRPr lang="en-US" sz="930" dirty="0"/>
          </a:p>
        </p:txBody>
      </p:sp>
      <p:sp>
        <p:nvSpPr>
          <p:cNvPr id="25" name="Shape 23"/>
          <p:cNvSpPr/>
          <p:nvPr/>
        </p:nvSpPr>
        <p:spPr>
          <a:xfrm>
            <a:off x="3429000" y="2478024"/>
            <a:ext cx="4160520" cy="397764"/>
          </a:xfrm>
          <a:prstGeom prst="rect">
            <a:avLst/>
          </a:prstGeom>
          <a:solidFill>
            <a:srgbClr val="FFFFFF"/>
          </a:solidFill>
          <a:ln w="6350">
            <a:solidFill>
              <a:srgbClr val="D3E6DA"/>
            </a:solidFill>
            <a:prstDash val="solid"/>
          </a:ln>
        </p:spPr>
      </p:sp>
      <p:sp>
        <p:nvSpPr>
          <p:cNvPr id="26" name="Text 24"/>
          <p:cNvSpPr txBox="1"/>
          <p:nvPr/>
        </p:nvSpPr>
        <p:spPr>
          <a:xfrm>
            <a:off x="3547872" y="2478024"/>
            <a:ext cx="3941064" cy="397764"/>
          </a:xfrm>
          <a:prstGeom prst="rect">
            <a:avLst/>
          </a:prstGeom>
          <a:noFill/>
          <a:ln/>
        </p:spPr>
        <p:txBody>
          <a:bodyPr wrap="square" lIns="0" tIns="0" rIns="0" bIns="0" rtlCol="0" anchor="ctr"/>
          <a:lstStyle/>
          <a:p>
            <a:pPr indent="0" marL="0">
              <a:lnSpc>
                <a:spcPct val="100000"/>
              </a:lnSpc>
              <a:buNone/>
            </a:pPr>
            <a:r>
              <a:rPr lang="en-US" sz="930" dirty="0">
                <a:solidFill>
                  <a:srgbClr val="34433B"/>
                </a:solidFill>
                <a:latin typeface="Calibri" pitchFamily="34" charset="0"/>
                <a:ea typeface="Calibri" pitchFamily="34" charset="-122"/>
                <a:cs typeface="Calibri" pitchFamily="34" charset="-120"/>
              </a:rPr>
              <a:t>Limited or not central to routing</a:t>
            </a:r>
            <a:endParaRPr lang="en-US" sz="930" dirty="0"/>
          </a:p>
        </p:txBody>
      </p:sp>
      <p:sp>
        <p:nvSpPr>
          <p:cNvPr id="27" name="Shape 25"/>
          <p:cNvSpPr/>
          <p:nvPr/>
        </p:nvSpPr>
        <p:spPr>
          <a:xfrm>
            <a:off x="7589520" y="2478024"/>
            <a:ext cx="4050792" cy="397764"/>
          </a:xfrm>
          <a:prstGeom prst="rect">
            <a:avLst/>
          </a:prstGeom>
          <a:solidFill>
            <a:srgbClr val="E6F3EA"/>
          </a:solidFill>
          <a:ln w="6350">
            <a:solidFill>
              <a:srgbClr val="D3E6DA"/>
            </a:solidFill>
            <a:prstDash val="solid"/>
          </a:ln>
        </p:spPr>
      </p:sp>
      <p:sp>
        <p:nvSpPr>
          <p:cNvPr id="28" name="Text 26"/>
          <p:cNvSpPr txBox="1"/>
          <p:nvPr/>
        </p:nvSpPr>
        <p:spPr>
          <a:xfrm>
            <a:off x="7708392" y="2478024"/>
            <a:ext cx="3831336" cy="397764"/>
          </a:xfrm>
          <a:prstGeom prst="rect">
            <a:avLst/>
          </a:prstGeom>
          <a:noFill/>
          <a:ln/>
        </p:spPr>
        <p:txBody>
          <a:bodyPr wrap="square" lIns="0" tIns="0" rIns="0" bIns="0" rtlCol="0" anchor="ctr"/>
          <a:lstStyle/>
          <a:p>
            <a:pPr indent="0" marL="0">
              <a:lnSpc>
                <a:spcPct val="100000"/>
              </a:lnSpc>
              <a:buNone/>
            </a:pPr>
            <a:r>
              <a:rPr lang="en-US" sz="930" dirty="0">
                <a:solidFill>
                  <a:srgbClr val="0F6334"/>
                </a:solidFill>
                <a:latin typeface="Calibri" pitchFamily="34" charset="0"/>
                <a:ea typeface="Calibri" pitchFamily="34" charset="-122"/>
                <a:cs typeface="Calibri" pitchFamily="34" charset="-120"/>
              </a:rPr>
              <a:t>Uses latitude/longitude and jurisdiction boundaries</a:t>
            </a:r>
            <a:endParaRPr lang="en-US" sz="930" dirty="0"/>
          </a:p>
        </p:txBody>
      </p:sp>
      <p:sp>
        <p:nvSpPr>
          <p:cNvPr id="29" name="Shape 27"/>
          <p:cNvSpPr/>
          <p:nvPr/>
        </p:nvSpPr>
        <p:spPr>
          <a:xfrm>
            <a:off x="548640" y="2875788"/>
            <a:ext cx="2880360" cy="397764"/>
          </a:xfrm>
          <a:prstGeom prst="rect">
            <a:avLst/>
          </a:prstGeom>
          <a:solidFill>
            <a:srgbClr val="F2F8F4"/>
          </a:solidFill>
          <a:ln w="6350">
            <a:solidFill>
              <a:srgbClr val="D3E6DA"/>
            </a:solidFill>
            <a:prstDash val="solid"/>
          </a:ln>
        </p:spPr>
      </p:sp>
      <p:sp>
        <p:nvSpPr>
          <p:cNvPr id="30" name="Text 28"/>
          <p:cNvSpPr txBox="1"/>
          <p:nvPr/>
        </p:nvSpPr>
        <p:spPr>
          <a:xfrm>
            <a:off x="667512" y="2875788"/>
            <a:ext cx="2660904" cy="397764"/>
          </a:xfrm>
          <a:prstGeom prst="rect">
            <a:avLst/>
          </a:prstGeom>
          <a:noFill/>
          <a:ln/>
        </p:spPr>
        <p:txBody>
          <a:bodyPr wrap="square" lIns="0" tIns="0" rIns="0" bIns="0" rtlCol="0" anchor="ctr"/>
          <a:lstStyle/>
          <a:p>
            <a:pPr indent="0" marL="0">
              <a:lnSpc>
                <a:spcPct val="100000"/>
              </a:lnSpc>
              <a:buNone/>
            </a:pPr>
            <a:r>
              <a:rPr lang="en-US" sz="930" b="1" dirty="0">
                <a:solidFill>
                  <a:srgbClr val="142018"/>
                </a:solidFill>
                <a:latin typeface="Calibri" pitchFamily="34" charset="0"/>
                <a:ea typeface="Calibri" pitchFamily="34" charset="-122"/>
                <a:cs typeface="Calibri" pitchFamily="34" charset="-120"/>
              </a:rPr>
              <a:t>Jurisdiction handling</a:t>
            </a:r>
            <a:endParaRPr lang="en-US" sz="930" dirty="0"/>
          </a:p>
        </p:txBody>
      </p:sp>
      <p:sp>
        <p:nvSpPr>
          <p:cNvPr id="31" name="Shape 29"/>
          <p:cNvSpPr/>
          <p:nvPr/>
        </p:nvSpPr>
        <p:spPr>
          <a:xfrm>
            <a:off x="3429000" y="2875788"/>
            <a:ext cx="4160520" cy="397764"/>
          </a:xfrm>
          <a:prstGeom prst="rect">
            <a:avLst/>
          </a:prstGeom>
          <a:solidFill>
            <a:srgbClr val="F2F8F4"/>
          </a:solidFill>
          <a:ln w="6350">
            <a:solidFill>
              <a:srgbClr val="D3E6DA"/>
            </a:solidFill>
            <a:prstDash val="solid"/>
          </a:ln>
        </p:spPr>
      </p:sp>
      <p:sp>
        <p:nvSpPr>
          <p:cNvPr id="32" name="Text 30"/>
          <p:cNvSpPr txBox="1"/>
          <p:nvPr/>
        </p:nvSpPr>
        <p:spPr>
          <a:xfrm>
            <a:off x="3547872" y="2875788"/>
            <a:ext cx="3941064" cy="397764"/>
          </a:xfrm>
          <a:prstGeom prst="rect">
            <a:avLst/>
          </a:prstGeom>
          <a:noFill/>
          <a:ln/>
        </p:spPr>
        <p:txBody>
          <a:bodyPr wrap="square" lIns="0" tIns="0" rIns="0" bIns="0" rtlCol="0" anchor="ctr"/>
          <a:lstStyle/>
          <a:p>
            <a:pPr indent="0" marL="0">
              <a:lnSpc>
                <a:spcPct val="100000"/>
              </a:lnSpc>
              <a:buNone/>
            </a:pPr>
            <a:r>
              <a:rPr lang="en-US" sz="930" dirty="0">
                <a:solidFill>
                  <a:srgbClr val="34433B"/>
                </a:solidFill>
                <a:latin typeface="Calibri" pitchFamily="34" charset="0"/>
                <a:ea typeface="Calibri" pitchFamily="34" charset="-122"/>
                <a:cs typeface="Calibri" pitchFamily="34" charset="-120"/>
              </a:rPr>
              <a:t>Based on static administrative information</a:t>
            </a:r>
            <a:endParaRPr lang="en-US" sz="930" dirty="0"/>
          </a:p>
        </p:txBody>
      </p:sp>
      <p:sp>
        <p:nvSpPr>
          <p:cNvPr id="33" name="Shape 31"/>
          <p:cNvSpPr/>
          <p:nvPr/>
        </p:nvSpPr>
        <p:spPr>
          <a:xfrm>
            <a:off x="7589520" y="2875788"/>
            <a:ext cx="4050792" cy="397764"/>
          </a:xfrm>
          <a:prstGeom prst="rect">
            <a:avLst/>
          </a:prstGeom>
          <a:solidFill>
            <a:srgbClr val="E6F3EA"/>
          </a:solidFill>
          <a:ln w="6350">
            <a:solidFill>
              <a:srgbClr val="D3E6DA"/>
            </a:solidFill>
            <a:prstDash val="solid"/>
          </a:ln>
        </p:spPr>
      </p:sp>
      <p:sp>
        <p:nvSpPr>
          <p:cNvPr id="34" name="Text 32"/>
          <p:cNvSpPr txBox="1"/>
          <p:nvPr/>
        </p:nvSpPr>
        <p:spPr>
          <a:xfrm>
            <a:off x="7708392" y="2875788"/>
            <a:ext cx="3831336" cy="397764"/>
          </a:xfrm>
          <a:prstGeom prst="rect">
            <a:avLst/>
          </a:prstGeom>
          <a:noFill/>
          <a:ln/>
        </p:spPr>
        <p:txBody>
          <a:bodyPr wrap="square" lIns="0" tIns="0" rIns="0" bIns="0" rtlCol="0" anchor="ctr"/>
          <a:lstStyle/>
          <a:p>
            <a:pPr indent="0" marL="0">
              <a:lnSpc>
                <a:spcPct val="100000"/>
              </a:lnSpc>
              <a:buNone/>
            </a:pPr>
            <a:r>
              <a:rPr lang="en-US" sz="930" dirty="0">
                <a:solidFill>
                  <a:srgbClr val="0F6334"/>
                </a:solidFill>
                <a:latin typeface="Calibri" pitchFamily="34" charset="0"/>
                <a:ea typeface="Calibri" pitchFamily="34" charset="-122"/>
                <a:cs typeface="Calibri" pitchFamily="34" charset="-120"/>
              </a:rPr>
              <a:t>Handles Mysuru’s changing 2026 jurisdiction structure</a:t>
            </a:r>
            <a:endParaRPr lang="en-US" sz="930" dirty="0"/>
          </a:p>
        </p:txBody>
      </p:sp>
      <p:sp>
        <p:nvSpPr>
          <p:cNvPr id="35" name="Shape 33"/>
          <p:cNvSpPr/>
          <p:nvPr/>
        </p:nvSpPr>
        <p:spPr>
          <a:xfrm>
            <a:off x="548640" y="3273552"/>
            <a:ext cx="2880360" cy="397764"/>
          </a:xfrm>
          <a:prstGeom prst="rect">
            <a:avLst/>
          </a:prstGeom>
          <a:solidFill>
            <a:srgbClr val="FFFFFF"/>
          </a:solidFill>
          <a:ln w="6350">
            <a:solidFill>
              <a:srgbClr val="D3E6DA"/>
            </a:solidFill>
            <a:prstDash val="solid"/>
          </a:ln>
        </p:spPr>
      </p:sp>
      <p:sp>
        <p:nvSpPr>
          <p:cNvPr id="36" name="Text 34"/>
          <p:cNvSpPr txBox="1"/>
          <p:nvPr/>
        </p:nvSpPr>
        <p:spPr>
          <a:xfrm>
            <a:off x="667512" y="3273552"/>
            <a:ext cx="2660904" cy="397764"/>
          </a:xfrm>
          <a:prstGeom prst="rect">
            <a:avLst/>
          </a:prstGeom>
          <a:noFill/>
          <a:ln/>
        </p:spPr>
        <p:txBody>
          <a:bodyPr wrap="square" lIns="0" tIns="0" rIns="0" bIns="0" rtlCol="0" anchor="ctr"/>
          <a:lstStyle/>
          <a:p>
            <a:pPr indent="0" marL="0">
              <a:lnSpc>
                <a:spcPct val="100000"/>
              </a:lnSpc>
              <a:buNone/>
            </a:pPr>
            <a:r>
              <a:rPr lang="en-US" sz="930" b="1" dirty="0">
                <a:solidFill>
                  <a:srgbClr val="142018"/>
                </a:solidFill>
                <a:latin typeface="Calibri" pitchFamily="34" charset="0"/>
                <a:ea typeface="Calibri" pitchFamily="34" charset="-122"/>
                <a:cs typeface="Calibri" pitchFamily="34" charset="-120"/>
              </a:rPr>
              <a:t>Authority identification</a:t>
            </a:r>
            <a:endParaRPr lang="en-US" sz="930" dirty="0"/>
          </a:p>
        </p:txBody>
      </p:sp>
      <p:sp>
        <p:nvSpPr>
          <p:cNvPr id="37" name="Shape 35"/>
          <p:cNvSpPr/>
          <p:nvPr/>
        </p:nvSpPr>
        <p:spPr>
          <a:xfrm>
            <a:off x="3429000" y="3273552"/>
            <a:ext cx="4160520" cy="397764"/>
          </a:xfrm>
          <a:prstGeom prst="rect">
            <a:avLst/>
          </a:prstGeom>
          <a:solidFill>
            <a:srgbClr val="FFFFFF"/>
          </a:solidFill>
          <a:ln w="6350">
            <a:solidFill>
              <a:srgbClr val="D3E6DA"/>
            </a:solidFill>
            <a:prstDash val="solid"/>
          </a:ln>
        </p:spPr>
      </p:sp>
      <p:sp>
        <p:nvSpPr>
          <p:cNvPr id="38" name="Text 36"/>
          <p:cNvSpPr txBox="1"/>
          <p:nvPr/>
        </p:nvSpPr>
        <p:spPr>
          <a:xfrm>
            <a:off x="3547872" y="3273552"/>
            <a:ext cx="3941064" cy="397764"/>
          </a:xfrm>
          <a:prstGeom prst="rect">
            <a:avLst/>
          </a:prstGeom>
          <a:noFill/>
          <a:ln/>
        </p:spPr>
        <p:txBody>
          <a:bodyPr wrap="square" lIns="0" tIns="0" rIns="0" bIns="0" rtlCol="0" anchor="ctr"/>
          <a:lstStyle/>
          <a:p>
            <a:pPr indent="0" marL="0">
              <a:lnSpc>
                <a:spcPct val="100000"/>
              </a:lnSpc>
              <a:buNone/>
            </a:pPr>
            <a:r>
              <a:rPr lang="en-US" sz="930" dirty="0">
                <a:solidFill>
                  <a:srgbClr val="34433B"/>
                </a:solidFill>
                <a:latin typeface="Calibri" pitchFamily="34" charset="0"/>
                <a:ea typeface="Calibri" pitchFamily="34" charset="-122"/>
                <a:cs typeface="Calibri" pitchFamily="34" charset="-120"/>
              </a:rPr>
              <a:t>Citizen/officer may need to know the authority</a:t>
            </a:r>
            <a:endParaRPr lang="en-US" sz="930" dirty="0"/>
          </a:p>
        </p:txBody>
      </p:sp>
      <p:sp>
        <p:nvSpPr>
          <p:cNvPr id="39" name="Shape 37"/>
          <p:cNvSpPr/>
          <p:nvPr/>
        </p:nvSpPr>
        <p:spPr>
          <a:xfrm>
            <a:off x="7589520" y="3273552"/>
            <a:ext cx="4050792" cy="397764"/>
          </a:xfrm>
          <a:prstGeom prst="rect">
            <a:avLst/>
          </a:prstGeom>
          <a:solidFill>
            <a:srgbClr val="E6F3EA"/>
          </a:solidFill>
          <a:ln w="6350">
            <a:solidFill>
              <a:srgbClr val="D3E6DA"/>
            </a:solidFill>
            <a:prstDash val="solid"/>
          </a:ln>
        </p:spPr>
      </p:sp>
      <p:sp>
        <p:nvSpPr>
          <p:cNvPr id="40" name="Text 38"/>
          <p:cNvSpPr txBox="1"/>
          <p:nvPr/>
        </p:nvSpPr>
        <p:spPr>
          <a:xfrm>
            <a:off x="7708392" y="3273552"/>
            <a:ext cx="3831336" cy="397764"/>
          </a:xfrm>
          <a:prstGeom prst="rect">
            <a:avLst/>
          </a:prstGeom>
          <a:noFill/>
          <a:ln/>
        </p:spPr>
        <p:txBody>
          <a:bodyPr wrap="square" lIns="0" tIns="0" rIns="0" bIns="0" rtlCol="0" anchor="ctr"/>
          <a:lstStyle/>
          <a:p>
            <a:pPr indent="0" marL="0">
              <a:lnSpc>
                <a:spcPct val="100000"/>
              </a:lnSpc>
              <a:buNone/>
            </a:pPr>
            <a:r>
              <a:rPr lang="en-US" sz="930" dirty="0">
                <a:solidFill>
                  <a:srgbClr val="0F6334"/>
                </a:solidFill>
                <a:latin typeface="Calibri" pitchFamily="34" charset="0"/>
                <a:ea typeface="Calibri" pitchFamily="34" charset="-122"/>
                <a:cs typeface="Calibri" pitchFamily="34" charset="-120"/>
              </a:rPr>
              <a:t>System identifies the current responsible authority</a:t>
            </a:r>
            <a:endParaRPr lang="en-US" sz="930" dirty="0"/>
          </a:p>
        </p:txBody>
      </p:sp>
      <p:sp>
        <p:nvSpPr>
          <p:cNvPr id="41" name="Shape 39"/>
          <p:cNvSpPr/>
          <p:nvPr/>
        </p:nvSpPr>
        <p:spPr>
          <a:xfrm>
            <a:off x="548640" y="3671316"/>
            <a:ext cx="2880360" cy="397764"/>
          </a:xfrm>
          <a:prstGeom prst="rect">
            <a:avLst/>
          </a:prstGeom>
          <a:solidFill>
            <a:srgbClr val="F2F8F4"/>
          </a:solidFill>
          <a:ln w="6350">
            <a:solidFill>
              <a:srgbClr val="D3E6DA"/>
            </a:solidFill>
            <a:prstDash val="solid"/>
          </a:ln>
        </p:spPr>
      </p:sp>
      <p:sp>
        <p:nvSpPr>
          <p:cNvPr id="42" name="Text 40"/>
          <p:cNvSpPr txBox="1"/>
          <p:nvPr/>
        </p:nvSpPr>
        <p:spPr>
          <a:xfrm>
            <a:off x="667512" y="3671316"/>
            <a:ext cx="2660904" cy="397764"/>
          </a:xfrm>
          <a:prstGeom prst="rect">
            <a:avLst/>
          </a:prstGeom>
          <a:noFill/>
          <a:ln/>
        </p:spPr>
        <p:txBody>
          <a:bodyPr wrap="square" lIns="0" tIns="0" rIns="0" bIns="0" rtlCol="0" anchor="ctr"/>
          <a:lstStyle/>
          <a:p>
            <a:pPr indent="0" marL="0">
              <a:lnSpc>
                <a:spcPct val="100000"/>
              </a:lnSpc>
              <a:buNone/>
            </a:pPr>
            <a:r>
              <a:rPr lang="en-US" sz="930" b="1" dirty="0">
                <a:solidFill>
                  <a:srgbClr val="142018"/>
                </a:solidFill>
                <a:latin typeface="Calibri" pitchFamily="34" charset="0"/>
                <a:ea typeface="Calibri" pitchFamily="34" charset="-122"/>
                <a:cs typeface="Calibri" pitchFamily="34" charset="-120"/>
              </a:rPr>
              <a:t>Department mapping</a:t>
            </a:r>
            <a:endParaRPr lang="en-US" sz="930" dirty="0"/>
          </a:p>
        </p:txBody>
      </p:sp>
      <p:sp>
        <p:nvSpPr>
          <p:cNvPr id="43" name="Shape 41"/>
          <p:cNvSpPr/>
          <p:nvPr/>
        </p:nvSpPr>
        <p:spPr>
          <a:xfrm>
            <a:off x="3429000" y="3671316"/>
            <a:ext cx="4160520" cy="397764"/>
          </a:xfrm>
          <a:prstGeom prst="rect">
            <a:avLst/>
          </a:prstGeom>
          <a:solidFill>
            <a:srgbClr val="F2F8F4"/>
          </a:solidFill>
          <a:ln w="6350">
            <a:solidFill>
              <a:srgbClr val="D3E6DA"/>
            </a:solidFill>
            <a:prstDash val="solid"/>
          </a:ln>
        </p:spPr>
      </p:sp>
      <p:sp>
        <p:nvSpPr>
          <p:cNvPr id="44" name="Text 42"/>
          <p:cNvSpPr txBox="1"/>
          <p:nvPr/>
        </p:nvSpPr>
        <p:spPr>
          <a:xfrm>
            <a:off x="3547872" y="3671316"/>
            <a:ext cx="3941064" cy="397764"/>
          </a:xfrm>
          <a:prstGeom prst="rect">
            <a:avLst/>
          </a:prstGeom>
          <a:noFill/>
          <a:ln/>
        </p:spPr>
        <p:txBody>
          <a:bodyPr wrap="square" lIns="0" tIns="0" rIns="0" bIns="0" rtlCol="0" anchor="ctr"/>
          <a:lstStyle/>
          <a:p>
            <a:pPr indent="0" marL="0">
              <a:lnSpc>
                <a:spcPct val="100000"/>
              </a:lnSpc>
              <a:buNone/>
            </a:pPr>
            <a:r>
              <a:rPr lang="en-US" sz="930" dirty="0">
                <a:solidFill>
                  <a:srgbClr val="34433B"/>
                </a:solidFill>
                <a:latin typeface="Calibri" pitchFamily="34" charset="0"/>
                <a:ea typeface="Calibri" pitchFamily="34" charset="-122"/>
                <a:cs typeface="Calibri" pitchFamily="34" charset="-120"/>
              </a:rPr>
              <a:t>May need manual forwarding</a:t>
            </a:r>
            <a:endParaRPr lang="en-US" sz="930" dirty="0"/>
          </a:p>
        </p:txBody>
      </p:sp>
      <p:sp>
        <p:nvSpPr>
          <p:cNvPr id="45" name="Shape 43"/>
          <p:cNvSpPr/>
          <p:nvPr/>
        </p:nvSpPr>
        <p:spPr>
          <a:xfrm>
            <a:off x="7589520" y="3671316"/>
            <a:ext cx="4050792" cy="397764"/>
          </a:xfrm>
          <a:prstGeom prst="rect">
            <a:avLst/>
          </a:prstGeom>
          <a:solidFill>
            <a:srgbClr val="E6F3EA"/>
          </a:solidFill>
          <a:ln w="6350">
            <a:solidFill>
              <a:srgbClr val="D3E6DA"/>
            </a:solidFill>
            <a:prstDash val="solid"/>
          </a:ln>
        </p:spPr>
      </p:sp>
      <p:sp>
        <p:nvSpPr>
          <p:cNvPr id="46" name="Text 44"/>
          <p:cNvSpPr txBox="1"/>
          <p:nvPr/>
        </p:nvSpPr>
        <p:spPr>
          <a:xfrm>
            <a:off x="7708392" y="3671316"/>
            <a:ext cx="3831336" cy="397764"/>
          </a:xfrm>
          <a:prstGeom prst="rect">
            <a:avLst/>
          </a:prstGeom>
          <a:noFill/>
          <a:ln/>
        </p:spPr>
        <p:txBody>
          <a:bodyPr wrap="square" lIns="0" tIns="0" rIns="0" bIns="0" rtlCol="0" anchor="ctr"/>
          <a:lstStyle/>
          <a:p>
            <a:pPr indent="0" marL="0">
              <a:lnSpc>
                <a:spcPct val="100000"/>
              </a:lnSpc>
              <a:buNone/>
            </a:pPr>
            <a:r>
              <a:rPr lang="en-US" sz="930" dirty="0">
                <a:solidFill>
                  <a:srgbClr val="0F6334"/>
                </a:solidFill>
                <a:latin typeface="Calibri" pitchFamily="34" charset="0"/>
                <a:ea typeface="Calibri" pitchFamily="34" charset="-122"/>
                <a:cs typeface="Calibri" pitchFamily="34" charset="-120"/>
              </a:rPr>
              <a:t>Automatically maps issue → department → authority</a:t>
            </a:r>
            <a:endParaRPr lang="en-US" sz="930" dirty="0"/>
          </a:p>
        </p:txBody>
      </p:sp>
      <p:sp>
        <p:nvSpPr>
          <p:cNvPr id="47" name="Shape 45"/>
          <p:cNvSpPr/>
          <p:nvPr/>
        </p:nvSpPr>
        <p:spPr>
          <a:xfrm>
            <a:off x="548640" y="4069080"/>
            <a:ext cx="2880360" cy="397764"/>
          </a:xfrm>
          <a:prstGeom prst="rect">
            <a:avLst/>
          </a:prstGeom>
          <a:solidFill>
            <a:srgbClr val="FFFFFF"/>
          </a:solidFill>
          <a:ln w="6350">
            <a:solidFill>
              <a:srgbClr val="D3E6DA"/>
            </a:solidFill>
            <a:prstDash val="solid"/>
          </a:ln>
        </p:spPr>
      </p:sp>
      <p:sp>
        <p:nvSpPr>
          <p:cNvPr id="48" name="Text 46"/>
          <p:cNvSpPr txBox="1"/>
          <p:nvPr/>
        </p:nvSpPr>
        <p:spPr>
          <a:xfrm>
            <a:off x="667512" y="4069080"/>
            <a:ext cx="2660904" cy="397764"/>
          </a:xfrm>
          <a:prstGeom prst="rect">
            <a:avLst/>
          </a:prstGeom>
          <a:noFill/>
          <a:ln/>
        </p:spPr>
        <p:txBody>
          <a:bodyPr wrap="square" lIns="0" tIns="0" rIns="0" bIns="0" rtlCol="0" anchor="ctr"/>
          <a:lstStyle/>
          <a:p>
            <a:pPr indent="0" marL="0">
              <a:lnSpc>
                <a:spcPct val="100000"/>
              </a:lnSpc>
              <a:buNone/>
            </a:pPr>
            <a:r>
              <a:rPr lang="en-US" sz="930" b="1" dirty="0">
                <a:solidFill>
                  <a:srgbClr val="142018"/>
                </a:solidFill>
                <a:latin typeface="Calibri" pitchFamily="34" charset="0"/>
                <a:ea typeface="Calibri" pitchFamily="34" charset="-122"/>
                <a:cs typeface="Calibri" pitchFamily="34" charset="-120"/>
              </a:rPr>
              <a:t>Multiple authorities</a:t>
            </a:r>
            <a:endParaRPr lang="en-US" sz="930" dirty="0"/>
          </a:p>
        </p:txBody>
      </p:sp>
      <p:sp>
        <p:nvSpPr>
          <p:cNvPr id="49" name="Shape 47"/>
          <p:cNvSpPr/>
          <p:nvPr/>
        </p:nvSpPr>
        <p:spPr>
          <a:xfrm>
            <a:off x="3429000" y="4069080"/>
            <a:ext cx="4160520" cy="397764"/>
          </a:xfrm>
          <a:prstGeom prst="rect">
            <a:avLst/>
          </a:prstGeom>
          <a:solidFill>
            <a:srgbClr val="FFFFFF"/>
          </a:solidFill>
          <a:ln w="6350">
            <a:solidFill>
              <a:srgbClr val="D3E6DA"/>
            </a:solidFill>
            <a:prstDash val="solid"/>
          </a:ln>
        </p:spPr>
      </p:sp>
      <p:sp>
        <p:nvSpPr>
          <p:cNvPr id="50" name="Text 48"/>
          <p:cNvSpPr txBox="1"/>
          <p:nvPr/>
        </p:nvSpPr>
        <p:spPr>
          <a:xfrm>
            <a:off x="3547872" y="4069080"/>
            <a:ext cx="3941064" cy="397764"/>
          </a:xfrm>
          <a:prstGeom prst="rect">
            <a:avLst/>
          </a:prstGeom>
          <a:noFill/>
          <a:ln/>
        </p:spPr>
        <p:txBody>
          <a:bodyPr wrap="square" lIns="0" tIns="0" rIns="0" bIns="0" rtlCol="0" anchor="ctr"/>
          <a:lstStyle/>
          <a:p>
            <a:pPr indent="0" marL="0">
              <a:lnSpc>
                <a:spcPct val="100000"/>
              </a:lnSpc>
              <a:buNone/>
            </a:pPr>
            <a:r>
              <a:rPr lang="en-US" sz="930" dirty="0">
                <a:solidFill>
                  <a:srgbClr val="34433B"/>
                </a:solidFill>
                <a:latin typeface="Calibri" pitchFamily="34" charset="0"/>
                <a:ea typeface="Calibri" pitchFamily="34" charset="-122"/>
                <a:cs typeface="Calibri" pitchFamily="34" charset="-120"/>
              </a:rPr>
              <a:t>Difficult to handle overlapping MCC/CMC/TP/GP areas</a:t>
            </a:r>
            <a:endParaRPr lang="en-US" sz="930" dirty="0"/>
          </a:p>
        </p:txBody>
      </p:sp>
      <p:sp>
        <p:nvSpPr>
          <p:cNvPr id="51" name="Shape 49"/>
          <p:cNvSpPr/>
          <p:nvPr/>
        </p:nvSpPr>
        <p:spPr>
          <a:xfrm>
            <a:off x="7589520" y="4069080"/>
            <a:ext cx="4050792" cy="397764"/>
          </a:xfrm>
          <a:prstGeom prst="rect">
            <a:avLst/>
          </a:prstGeom>
          <a:solidFill>
            <a:srgbClr val="E6F3EA"/>
          </a:solidFill>
          <a:ln w="6350">
            <a:solidFill>
              <a:srgbClr val="D3E6DA"/>
            </a:solidFill>
            <a:prstDash val="solid"/>
          </a:ln>
        </p:spPr>
      </p:sp>
      <p:sp>
        <p:nvSpPr>
          <p:cNvPr id="52" name="Text 50"/>
          <p:cNvSpPr txBox="1"/>
          <p:nvPr/>
        </p:nvSpPr>
        <p:spPr>
          <a:xfrm>
            <a:off x="7708392" y="4069080"/>
            <a:ext cx="3831336" cy="397764"/>
          </a:xfrm>
          <a:prstGeom prst="rect">
            <a:avLst/>
          </a:prstGeom>
          <a:noFill/>
          <a:ln/>
        </p:spPr>
        <p:txBody>
          <a:bodyPr wrap="square" lIns="0" tIns="0" rIns="0" bIns="0" rtlCol="0" anchor="ctr"/>
          <a:lstStyle/>
          <a:p>
            <a:pPr indent="0" marL="0">
              <a:lnSpc>
                <a:spcPct val="100000"/>
              </a:lnSpc>
              <a:buNone/>
            </a:pPr>
            <a:r>
              <a:rPr lang="en-US" sz="930" dirty="0">
                <a:solidFill>
                  <a:srgbClr val="0F6334"/>
                </a:solidFill>
                <a:latin typeface="Calibri" pitchFamily="34" charset="0"/>
                <a:ea typeface="Calibri" pitchFamily="34" charset="-122"/>
                <a:cs typeface="Calibri" pitchFamily="34" charset="-120"/>
              </a:rPr>
              <a:t>Database maintains authorities &amp; jurisdiction relationships</a:t>
            </a:r>
            <a:endParaRPr lang="en-US" sz="930" dirty="0"/>
          </a:p>
        </p:txBody>
      </p:sp>
      <p:sp>
        <p:nvSpPr>
          <p:cNvPr id="53" name="Shape 51"/>
          <p:cNvSpPr/>
          <p:nvPr/>
        </p:nvSpPr>
        <p:spPr>
          <a:xfrm>
            <a:off x="548640" y="4466844"/>
            <a:ext cx="2880360" cy="397764"/>
          </a:xfrm>
          <a:prstGeom prst="rect">
            <a:avLst/>
          </a:prstGeom>
          <a:solidFill>
            <a:srgbClr val="F2F8F4"/>
          </a:solidFill>
          <a:ln w="6350">
            <a:solidFill>
              <a:srgbClr val="D3E6DA"/>
            </a:solidFill>
            <a:prstDash val="solid"/>
          </a:ln>
        </p:spPr>
      </p:sp>
      <p:sp>
        <p:nvSpPr>
          <p:cNvPr id="54" name="Text 52"/>
          <p:cNvSpPr txBox="1"/>
          <p:nvPr/>
        </p:nvSpPr>
        <p:spPr>
          <a:xfrm>
            <a:off x="667512" y="4466844"/>
            <a:ext cx="2660904" cy="397764"/>
          </a:xfrm>
          <a:prstGeom prst="rect">
            <a:avLst/>
          </a:prstGeom>
          <a:noFill/>
          <a:ln/>
        </p:spPr>
        <p:txBody>
          <a:bodyPr wrap="square" lIns="0" tIns="0" rIns="0" bIns="0" rtlCol="0" anchor="ctr"/>
          <a:lstStyle/>
          <a:p>
            <a:pPr indent="0" marL="0">
              <a:lnSpc>
                <a:spcPct val="100000"/>
              </a:lnSpc>
              <a:buNone/>
            </a:pPr>
            <a:r>
              <a:rPr lang="en-US" sz="930" b="1" dirty="0">
                <a:solidFill>
                  <a:srgbClr val="142018"/>
                </a:solidFill>
                <a:latin typeface="Calibri" pitchFamily="34" charset="0"/>
                <a:ea typeface="Calibri" pitchFamily="34" charset="-122"/>
                <a:cs typeface="Calibri" pitchFamily="34" charset="-120"/>
              </a:rPr>
              <a:t>Data structure</a:t>
            </a:r>
            <a:endParaRPr lang="en-US" sz="930" dirty="0"/>
          </a:p>
        </p:txBody>
      </p:sp>
      <p:sp>
        <p:nvSpPr>
          <p:cNvPr id="55" name="Shape 53"/>
          <p:cNvSpPr/>
          <p:nvPr/>
        </p:nvSpPr>
        <p:spPr>
          <a:xfrm>
            <a:off x="3429000" y="4466844"/>
            <a:ext cx="4160520" cy="397764"/>
          </a:xfrm>
          <a:prstGeom prst="rect">
            <a:avLst/>
          </a:prstGeom>
          <a:solidFill>
            <a:srgbClr val="F2F8F4"/>
          </a:solidFill>
          <a:ln w="6350">
            <a:solidFill>
              <a:srgbClr val="D3E6DA"/>
            </a:solidFill>
            <a:prstDash val="solid"/>
          </a:ln>
        </p:spPr>
      </p:sp>
      <p:sp>
        <p:nvSpPr>
          <p:cNvPr id="56" name="Text 54"/>
          <p:cNvSpPr txBox="1"/>
          <p:nvPr/>
        </p:nvSpPr>
        <p:spPr>
          <a:xfrm>
            <a:off x="3547872" y="4466844"/>
            <a:ext cx="3941064" cy="397764"/>
          </a:xfrm>
          <a:prstGeom prst="rect">
            <a:avLst/>
          </a:prstGeom>
          <a:noFill/>
          <a:ln/>
        </p:spPr>
        <p:txBody>
          <a:bodyPr wrap="square" lIns="0" tIns="0" rIns="0" bIns="0" rtlCol="0" anchor="ctr"/>
          <a:lstStyle/>
          <a:p>
            <a:pPr indent="0" marL="0">
              <a:lnSpc>
                <a:spcPct val="100000"/>
              </a:lnSpc>
              <a:buNone/>
            </a:pPr>
            <a:r>
              <a:rPr lang="en-US" sz="930" dirty="0">
                <a:solidFill>
                  <a:srgbClr val="34433B"/>
                </a:solidFill>
                <a:latin typeface="Calibri" pitchFamily="34" charset="0"/>
                <a:ea typeface="Calibri" pitchFamily="34" charset="-122"/>
                <a:cs typeface="Calibri" pitchFamily="34" charset="-120"/>
              </a:rPr>
              <a:t>Basic complaint records</a:t>
            </a:r>
            <a:endParaRPr lang="en-US" sz="930" dirty="0"/>
          </a:p>
        </p:txBody>
      </p:sp>
      <p:sp>
        <p:nvSpPr>
          <p:cNvPr id="57" name="Shape 55"/>
          <p:cNvSpPr/>
          <p:nvPr/>
        </p:nvSpPr>
        <p:spPr>
          <a:xfrm>
            <a:off x="7589520" y="4466844"/>
            <a:ext cx="4050792" cy="397764"/>
          </a:xfrm>
          <a:prstGeom prst="rect">
            <a:avLst/>
          </a:prstGeom>
          <a:solidFill>
            <a:srgbClr val="E6F3EA"/>
          </a:solidFill>
          <a:ln w="6350">
            <a:solidFill>
              <a:srgbClr val="D3E6DA"/>
            </a:solidFill>
            <a:prstDash val="solid"/>
          </a:ln>
        </p:spPr>
      </p:sp>
      <p:sp>
        <p:nvSpPr>
          <p:cNvPr id="58" name="Text 56"/>
          <p:cNvSpPr txBox="1"/>
          <p:nvPr/>
        </p:nvSpPr>
        <p:spPr>
          <a:xfrm>
            <a:off x="7708392" y="4466844"/>
            <a:ext cx="3831336" cy="397764"/>
          </a:xfrm>
          <a:prstGeom prst="rect">
            <a:avLst/>
          </a:prstGeom>
          <a:noFill/>
          <a:ln/>
        </p:spPr>
        <p:txBody>
          <a:bodyPr wrap="square" lIns="0" tIns="0" rIns="0" bIns="0" rtlCol="0" anchor="ctr"/>
          <a:lstStyle/>
          <a:p>
            <a:pPr indent="0" marL="0">
              <a:lnSpc>
                <a:spcPct val="100000"/>
              </a:lnSpc>
              <a:buNone/>
            </a:pPr>
            <a:r>
              <a:rPr lang="en-US" sz="930" dirty="0">
                <a:solidFill>
                  <a:srgbClr val="0F6334"/>
                </a:solidFill>
                <a:latin typeface="Calibri" pitchFamily="34" charset="0"/>
                <a:ea typeface="Calibri" pitchFamily="34" charset="-122"/>
                <a:cs typeface="Calibri" pitchFamily="34" charset="-120"/>
              </a:rPr>
              <a:t>Wards, localities, authorities, departments, routing rules</a:t>
            </a:r>
            <a:endParaRPr lang="en-US" sz="930" dirty="0"/>
          </a:p>
        </p:txBody>
      </p:sp>
      <p:sp>
        <p:nvSpPr>
          <p:cNvPr id="59" name="Shape 57"/>
          <p:cNvSpPr/>
          <p:nvPr/>
        </p:nvSpPr>
        <p:spPr>
          <a:xfrm>
            <a:off x="548640" y="4864608"/>
            <a:ext cx="2880360" cy="397764"/>
          </a:xfrm>
          <a:prstGeom prst="rect">
            <a:avLst/>
          </a:prstGeom>
          <a:solidFill>
            <a:srgbClr val="FFFFFF"/>
          </a:solidFill>
          <a:ln w="6350">
            <a:solidFill>
              <a:srgbClr val="D3E6DA"/>
            </a:solidFill>
            <a:prstDash val="solid"/>
          </a:ln>
        </p:spPr>
      </p:sp>
      <p:sp>
        <p:nvSpPr>
          <p:cNvPr id="60" name="Text 58"/>
          <p:cNvSpPr txBox="1"/>
          <p:nvPr/>
        </p:nvSpPr>
        <p:spPr>
          <a:xfrm>
            <a:off x="667512" y="4864608"/>
            <a:ext cx="2660904" cy="397764"/>
          </a:xfrm>
          <a:prstGeom prst="rect">
            <a:avLst/>
          </a:prstGeom>
          <a:noFill/>
          <a:ln/>
        </p:spPr>
        <p:txBody>
          <a:bodyPr wrap="square" lIns="0" tIns="0" rIns="0" bIns="0" rtlCol="0" anchor="ctr"/>
          <a:lstStyle/>
          <a:p>
            <a:pPr indent="0" marL="0">
              <a:lnSpc>
                <a:spcPct val="100000"/>
              </a:lnSpc>
              <a:buNone/>
            </a:pPr>
            <a:r>
              <a:rPr lang="en-US" sz="930" b="1" dirty="0">
                <a:solidFill>
                  <a:srgbClr val="142018"/>
                </a:solidFill>
                <a:latin typeface="Calibri" pitchFamily="34" charset="0"/>
                <a:ea typeface="Calibri" pitchFamily="34" charset="-122"/>
                <a:cs typeface="Calibri" pitchFamily="34" charset="-120"/>
              </a:rPr>
              <a:t>Future jurisdiction changes</a:t>
            </a:r>
            <a:endParaRPr lang="en-US" sz="930" dirty="0"/>
          </a:p>
        </p:txBody>
      </p:sp>
      <p:sp>
        <p:nvSpPr>
          <p:cNvPr id="61" name="Shape 59"/>
          <p:cNvSpPr/>
          <p:nvPr/>
        </p:nvSpPr>
        <p:spPr>
          <a:xfrm>
            <a:off x="3429000" y="4864608"/>
            <a:ext cx="4160520" cy="397764"/>
          </a:xfrm>
          <a:prstGeom prst="rect">
            <a:avLst/>
          </a:prstGeom>
          <a:solidFill>
            <a:srgbClr val="FFFFFF"/>
          </a:solidFill>
          <a:ln w="6350">
            <a:solidFill>
              <a:srgbClr val="D3E6DA"/>
            </a:solidFill>
            <a:prstDash val="solid"/>
          </a:ln>
        </p:spPr>
      </p:sp>
      <p:sp>
        <p:nvSpPr>
          <p:cNvPr id="62" name="Text 60"/>
          <p:cNvSpPr txBox="1"/>
          <p:nvPr/>
        </p:nvSpPr>
        <p:spPr>
          <a:xfrm>
            <a:off x="3547872" y="4864608"/>
            <a:ext cx="3941064" cy="397764"/>
          </a:xfrm>
          <a:prstGeom prst="rect">
            <a:avLst/>
          </a:prstGeom>
          <a:noFill/>
          <a:ln/>
        </p:spPr>
        <p:txBody>
          <a:bodyPr wrap="square" lIns="0" tIns="0" rIns="0" bIns="0" rtlCol="0" anchor="ctr"/>
          <a:lstStyle/>
          <a:p>
            <a:pPr indent="0" marL="0">
              <a:lnSpc>
                <a:spcPct val="100000"/>
              </a:lnSpc>
              <a:buNone/>
            </a:pPr>
            <a:r>
              <a:rPr lang="en-US" sz="930" dirty="0">
                <a:solidFill>
                  <a:srgbClr val="34433B"/>
                </a:solidFill>
                <a:latin typeface="Calibri" pitchFamily="34" charset="0"/>
                <a:ea typeface="Calibri" pitchFamily="34" charset="-122"/>
                <a:cs typeface="Calibri" pitchFamily="34" charset="-120"/>
              </a:rPr>
              <a:t>Static systems require manual updates</a:t>
            </a:r>
            <a:endParaRPr lang="en-US" sz="930" dirty="0"/>
          </a:p>
        </p:txBody>
      </p:sp>
      <p:sp>
        <p:nvSpPr>
          <p:cNvPr id="63" name="Shape 61"/>
          <p:cNvSpPr/>
          <p:nvPr/>
        </p:nvSpPr>
        <p:spPr>
          <a:xfrm>
            <a:off x="7589520" y="4864608"/>
            <a:ext cx="4050792" cy="397764"/>
          </a:xfrm>
          <a:prstGeom prst="rect">
            <a:avLst/>
          </a:prstGeom>
          <a:solidFill>
            <a:srgbClr val="E6F3EA"/>
          </a:solidFill>
          <a:ln w="6350">
            <a:solidFill>
              <a:srgbClr val="D3E6DA"/>
            </a:solidFill>
            <a:prstDash val="solid"/>
          </a:ln>
        </p:spPr>
      </p:sp>
      <p:sp>
        <p:nvSpPr>
          <p:cNvPr id="64" name="Text 62"/>
          <p:cNvSpPr txBox="1"/>
          <p:nvPr/>
        </p:nvSpPr>
        <p:spPr>
          <a:xfrm>
            <a:off x="7708392" y="4864608"/>
            <a:ext cx="3831336" cy="397764"/>
          </a:xfrm>
          <a:prstGeom prst="rect">
            <a:avLst/>
          </a:prstGeom>
          <a:noFill/>
          <a:ln/>
        </p:spPr>
        <p:txBody>
          <a:bodyPr wrap="square" lIns="0" tIns="0" rIns="0" bIns="0" rtlCol="0" anchor="ctr"/>
          <a:lstStyle/>
          <a:p>
            <a:pPr indent="0" marL="0">
              <a:lnSpc>
                <a:spcPct val="100000"/>
              </a:lnSpc>
              <a:buNone/>
            </a:pPr>
            <a:r>
              <a:rPr lang="en-US" sz="930" dirty="0">
                <a:solidFill>
                  <a:srgbClr val="0F6334"/>
                </a:solidFill>
                <a:latin typeface="Calibri" pitchFamily="34" charset="0"/>
                <a:ea typeface="Calibri" pitchFamily="34" charset="-122"/>
                <a:cs typeface="Calibri" pitchFamily="34" charset="-120"/>
              </a:rPr>
              <a:t>Includes jurisdiction history &amp; transition information</a:t>
            </a:r>
            <a:endParaRPr lang="en-US" sz="930" dirty="0"/>
          </a:p>
        </p:txBody>
      </p:sp>
      <p:sp>
        <p:nvSpPr>
          <p:cNvPr id="65" name="Shape 63"/>
          <p:cNvSpPr/>
          <p:nvPr/>
        </p:nvSpPr>
        <p:spPr>
          <a:xfrm>
            <a:off x="548640" y="5262372"/>
            <a:ext cx="2880360" cy="397764"/>
          </a:xfrm>
          <a:prstGeom prst="rect">
            <a:avLst/>
          </a:prstGeom>
          <a:solidFill>
            <a:srgbClr val="F2F8F4"/>
          </a:solidFill>
          <a:ln w="6350">
            <a:solidFill>
              <a:srgbClr val="D3E6DA"/>
            </a:solidFill>
            <a:prstDash val="solid"/>
          </a:ln>
        </p:spPr>
      </p:sp>
      <p:sp>
        <p:nvSpPr>
          <p:cNvPr id="66" name="Text 64"/>
          <p:cNvSpPr txBox="1"/>
          <p:nvPr/>
        </p:nvSpPr>
        <p:spPr>
          <a:xfrm>
            <a:off x="667512" y="5262372"/>
            <a:ext cx="2660904" cy="397764"/>
          </a:xfrm>
          <a:prstGeom prst="rect">
            <a:avLst/>
          </a:prstGeom>
          <a:noFill/>
          <a:ln/>
        </p:spPr>
        <p:txBody>
          <a:bodyPr wrap="square" lIns="0" tIns="0" rIns="0" bIns="0" rtlCol="0" anchor="ctr"/>
          <a:lstStyle/>
          <a:p>
            <a:pPr indent="0" marL="0">
              <a:lnSpc>
                <a:spcPct val="100000"/>
              </a:lnSpc>
              <a:buNone/>
            </a:pPr>
            <a:r>
              <a:rPr lang="en-US" sz="930" b="1" dirty="0">
                <a:solidFill>
                  <a:srgbClr val="142018"/>
                </a:solidFill>
                <a:latin typeface="Calibri" pitchFamily="34" charset="0"/>
                <a:ea typeface="Calibri" pitchFamily="34" charset="-122"/>
                <a:cs typeface="Calibri" pitchFamily="34" charset="-120"/>
              </a:rPr>
              <a:t>Officer usability</a:t>
            </a:r>
            <a:endParaRPr lang="en-US" sz="930" dirty="0"/>
          </a:p>
        </p:txBody>
      </p:sp>
      <p:sp>
        <p:nvSpPr>
          <p:cNvPr id="67" name="Shape 65"/>
          <p:cNvSpPr/>
          <p:nvPr/>
        </p:nvSpPr>
        <p:spPr>
          <a:xfrm>
            <a:off x="3429000" y="5262372"/>
            <a:ext cx="4160520" cy="397764"/>
          </a:xfrm>
          <a:prstGeom prst="rect">
            <a:avLst/>
          </a:prstGeom>
          <a:solidFill>
            <a:srgbClr val="F2F8F4"/>
          </a:solidFill>
          <a:ln w="6350">
            <a:solidFill>
              <a:srgbClr val="D3E6DA"/>
            </a:solidFill>
            <a:prstDash val="solid"/>
          </a:ln>
        </p:spPr>
      </p:sp>
      <p:sp>
        <p:nvSpPr>
          <p:cNvPr id="68" name="Text 66"/>
          <p:cNvSpPr txBox="1"/>
          <p:nvPr/>
        </p:nvSpPr>
        <p:spPr>
          <a:xfrm>
            <a:off x="3547872" y="5262372"/>
            <a:ext cx="3941064" cy="397764"/>
          </a:xfrm>
          <a:prstGeom prst="rect">
            <a:avLst/>
          </a:prstGeom>
          <a:noFill/>
          <a:ln/>
        </p:spPr>
        <p:txBody>
          <a:bodyPr wrap="square" lIns="0" tIns="0" rIns="0" bIns="0" rtlCol="0" anchor="ctr"/>
          <a:lstStyle/>
          <a:p>
            <a:pPr indent="0" marL="0">
              <a:lnSpc>
                <a:spcPct val="100000"/>
              </a:lnSpc>
              <a:buNone/>
            </a:pPr>
            <a:r>
              <a:rPr lang="en-US" sz="930" dirty="0">
                <a:solidFill>
                  <a:srgbClr val="34433B"/>
                </a:solidFill>
                <a:latin typeface="Calibri" pitchFamily="34" charset="0"/>
                <a:ea typeface="Calibri" pitchFamily="34" charset="-122"/>
                <a:cs typeface="Calibri" pitchFamily="34" charset="-120"/>
              </a:rPr>
              <a:t>Complaint may arrive and be redirected later</a:t>
            </a:r>
            <a:endParaRPr lang="en-US" sz="930" dirty="0"/>
          </a:p>
        </p:txBody>
      </p:sp>
      <p:sp>
        <p:nvSpPr>
          <p:cNvPr id="69" name="Shape 67"/>
          <p:cNvSpPr/>
          <p:nvPr/>
        </p:nvSpPr>
        <p:spPr>
          <a:xfrm>
            <a:off x="7589520" y="5262372"/>
            <a:ext cx="4050792" cy="397764"/>
          </a:xfrm>
          <a:prstGeom prst="rect">
            <a:avLst/>
          </a:prstGeom>
          <a:solidFill>
            <a:srgbClr val="E6F3EA"/>
          </a:solidFill>
          <a:ln w="6350">
            <a:solidFill>
              <a:srgbClr val="D3E6DA"/>
            </a:solidFill>
            <a:prstDash val="solid"/>
          </a:ln>
        </p:spPr>
      </p:sp>
      <p:sp>
        <p:nvSpPr>
          <p:cNvPr id="70" name="Text 68"/>
          <p:cNvSpPr txBox="1"/>
          <p:nvPr/>
        </p:nvSpPr>
        <p:spPr>
          <a:xfrm>
            <a:off x="7708392" y="5262372"/>
            <a:ext cx="3831336" cy="397764"/>
          </a:xfrm>
          <a:prstGeom prst="rect">
            <a:avLst/>
          </a:prstGeom>
          <a:noFill/>
          <a:ln/>
        </p:spPr>
        <p:txBody>
          <a:bodyPr wrap="square" lIns="0" tIns="0" rIns="0" bIns="0" rtlCol="0" anchor="ctr"/>
          <a:lstStyle/>
          <a:p>
            <a:pPr indent="0" marL="0">
              <a:lnSpc>
                <a:spcPct val="100000"/>
              </a:lnSpc>
              <a:buNone/>
            </a:pPr>
            <a:r>
              <a:rPr lang="en-US" sz="930" dirty="0">
                <a:solidFill>
                  <a:srgbClr val="0F6334"/>
                </a:solidFill>
                <a:latin typeface="Calibri" pitchFamily="34" charset="0"/>
                <a:ea typeface="Calibri" pitchFamily="34" charset="-122"/>
                <a:cs typeface="Calibri" pitchFamily="34" charset="-120"/>
              </a:rPr>
              <a:t>Provides a clear routing destination for the complaint</a:t>
            </a:r>
            <a:endParaRPr lang="en-US" sz="930" dirty="0"/>
          </a:p>
        </p:txBody>
      </p:sp>
      <p:sp>
        <p:nvSpPr>
          <p:cNvPr id="71" name="Shape 69"/>
          <p:cNvSpPr/>
          <p:nvPr/>
        </p:nvSpPr>
        <p:spPr>
          <a:xfrm>
            <a:off x="548640" y="5660136"/>
            <a:ext cx="2880360" cy="397764"/>
          </a:xfrm>
          <a:prstGeom prst="rect">
            <a:avLst/>
          </a:prstGeom>
          <a:solidFill>
            <a:srgbClr val="FFFFFF"/>
          </a:solidFill>
          <a:ln w="6350">
            <a:solidFill>
              <a:srgbClr val="D3E6DA"/>
            </a:solidFill>
            <a:prstDash val="solid"/>
          </a:ln>
        </p:spPr>
      </p:sp>
      <p:sp>
        <p:nvSpPr>
          <p:cNvPr id="72" name="Text 70"/>
          <p:cNvSpPr txBox="1"/>
          <p:nvPr/>
        </p:nvSpPr>
        <p:spPr>
          <a:xfrm>
            <a:off x="667512" y="5660136"/>
            <a:ext cx="2660904" cy="397764"/>
          </a:xfrm>
          <a:prstGeom prst="rect">
            <a:avLst/>
          </a:prstGeom>
          <a:noFill/>
          <a:ln/>
        </p:spPr>
        <p:txBody>
          <a:bodyPr wrap="square" lIns="0" tIns="0" rIns="0" bIns="0" rtlCol="0" anchor="ctr"/>
          <a:lstStyle/>
          <a:p>
            <a:pPr indent="0" marL="0">
              <a:lnSpc>
                <a:spcPct val="100000"/>
              </a:lnSpc>
              <a:buNone/>
            </a:pPr>
            <a:r>
              <a:rPr lang="en-US" sz="930" b="1" dirty="0">
                <a:solidFill>
                  <a:srgbClr val="142018"/>
                </a:solidFill>
                <a:latin typeface="Calibri" pitchFamily="34" charset="0"/>
                <a:ea typeface="Calibri" pitchFamily="34" charset="-122"/>
                <a:cs typeface="Calibri" pitchFamily="34" charset="-120"/>
              </a:rPr>
              <a:t>Scalability</a:t>
            </a:r>
            <a:endParaRPr lang="en-US" sz="930" dirty="0"/>
          </a:p>
        </p:txBody>
      </p:sp>
      <p:sp>
        <p:nvSpPr>
          <p:cNvPr id="73" name="Shape 71"/>
          <p:cNvSpPr/>
          <p:nvPr/>
        </p:nvSpPr>
        <p:spPr>
          <a:xfrm>
            <a:off x="3429000" y="5660136"/>
            <a:ext cx="4160520" cy="397764"/>
          </a:xfrm>
          <a:prstGeom prst="rect">
            <a:avLst/>
          </a:prstGeom>
          <a:solidFill>
            <a:srgbClr val="FFFFFF"/>
          </a:solidFill>
          <a:ln w="6350">
            <a:solidFill>
              <a:srgbClr val="D3E6DA"/>
            </a:solidFill>
            <a:prstDash val="solid"/>
          </a:ln>
        </p:spPr>
      </p:sp>
      <p:sp>
        <p:nvSpPr>
          <p:cNvPr id="74" name="Text 72"/>
          <p:cNvSpPr txBox="1"/>
          <p:nvPr/>
        </p:nvSpPr>
        <p:spPr>
          <a:xfrm>
            <a:off x="3547872" y="5660136"/>
            <a:ext cx="3941064" cy="397764"/>
          </a:xfrm>
          <a:prstGeom prst="rect">
            <a:avLst/>
          </a:prstGeom>
          <a:noFill/>
          <a:ln/>
        </p:spPr>
        <p:txBody>
          <a:bodyPr wrap="square" lIns="0" tIns="0" rIns="0" bIns="0" rtlCol="0" anchor="ctr"/>
          <a:lstStyle/>
          <a:p>
            <a:pPr indent="0" marL="0">
              <a:lnSpc>
                <a:spcPct val="100000"/>
              </a:lnSpc>
              <a:buNone/>
            </a:pPr>
            <a:r>
              <a:rPr lang="en-US" sz="930" dirty="0">
                <a:solidFill>
                  <a:srgbClr val="34433B"/>
                </a:solidFill>
                <a:latin typeface="Calibri" pitchFamily="34" charset="0"/>
                <a:ea typeface="Calibri" pitchFamily="34" charset="-122"/>
                <a:cs typeface="Calibri" pitchFamily="34" charset="-120"/>
              </a:rPr>
              <a:t>Tied to one existing administrative setup</a:t>
            </a:r>
            <a:endParaRPr lang="en-US" sz="930" dirty="0"/>
          </a:p>
        </p:txBody>
      </p:sp>
      <p:sp>
        <p:nvSpPr>
          <p:cNvPr id="75" name="Shape 73"/>
          <p:cNvSpPr/>
          <p:nvPr/>
        </p:nvSpPr>
        <p:spPr>
          <a:xfrm>
            <a:off x="7589520" y="5660136"/>
            <a:ext cx="4050792" cy="397764"/>
          </a:xfrm>
          <a:prstGeom prst="rect">
            <a:avLst/>
          </a:prstGeom>
          <a:solidFill>
            <a:srgbClr val="E6F3EA"/>
          </a:solidFill>
          <a:ln w="6350">
            <a:solidFill>
              <a:srgbClr val="D3E6DA"/>
            </a:solidFill>
            <a:prstDash val="solid"/>
          </a:ln>
        </p:spPr>
      </p:sp>
      <p:sp>
        <p:nvSpPr>
          <p:cNvPr id="76" name="Text 74"/>
          <p:cNvSpPr txBox="1"/>
          <p:nvPr/>
        </p:nvSpPr>
        <p:spPr>
          <a:xfrm>
            <a:off x="7708392" y="5660136"/>
            <a:ext cx="3831336" cy="397764"/>
          </a:xfrm>
          <a:prstGeom prst="rect">
            <a:avLst/>
          </a:prstGeom>
          <a:noFill/>
          <a:ln/>
        </p:spPr>
        <p:txBody>
          <a:bodyPr wrap="square" lIns="0" tIns="0" rIns="0" bIns="0" rtlCol="0" anchor="ctr"/>
          <a:lstStyle/>
          <a:p>
            <a:pPr indent="0" marL="0">
              <a:lnSpc>
                <a:spcPct val="100000"/>
              </a:lnSpc>
              <a:buNone/>
            </a:pPr>
            <a:r>
              <a:rPr lang="en-US" sz="930" dirty="0">
                <a:solidFill>
                  <a:srgbClr val="0F6334"/>
                </a:solidFill>
                <a:latin typeface="Calibri" pitchFamily="34" charset="0"/>
                <a:ea typeface="Calibri" pitchFamily="34" charset="-122"/>
                <a:cs typeface="Calibri" pitchFamily="34" charset="-120"/>
              </a:rPr>
              <a:t>Adapted to other cities by updating jurisdiction data</a:t>
            </a:r>
            <a:endParaRPr lang="en-US" sz="930" dirty="0"/>
          </a:p>
        </p:txBody>
      </p:sp>
      <p:sp>
        <p:nvSpPr>
          <p:cNvPr id="77" name="Text 75"/>
          <p:cNvSpPr txBox="1"/>
          <p:nvPr/>
        </p:nvSpPr>
        <p:spPr>
          <a:xfrm>
            <a:off x="548640" y="6185916"/>
            <a:ext cx="11091672" cy="365760"/>
          </a:xfrm>
          <a:prstGeom prst="rect">
            <a:avLst/>
          </a:prstGeom>
          <a:noFill/>
          <a:ln/>
        </p:spPr>
        <p:txBody>
          <a:bodyPr wrap="square" lIns="0" tIns="0" rIns="0" bIns="0" rtlCol="0" anchor="ctr"/>
          <a:lstStyle/>
          <a:p>
            <a:pPr algn="ctr" indent="0" marL="0">
              <a:buNone/>
            </a:pPr>
            <a:r>
              <a:rPr lang="en-US" sz="1050" i="1" dirty="0">
                <a:solidFill>
                  <a:srgbClr val="6C7D71"/>
                </a:solidFill>
                <a:latin typeface="Calibri" pitchFamily="34" charset="0"/>
                <a:ea typeface="Calibri" pitchFamily="34" charset="-122"/>
                <a:cs typeface="Calibri" pitchFamily="34" charset="-120"/>
              </a:rPr>
              <a:t>Traditional systems mainly record and manage complaints; Samagra Mysuru adds a location-aware routing layer determining WHERE, WHAT and WHO.</a:t>
            </a:r>
            <a:endParaRPr lang="en-US" sz="1050" dirty="0"/>
          </a:p>
        </p:txBody>
      </p:sp>
      <p:sp>
        <p:nvSpPr>
          <p:cNvPr id="78" name="Text 76"/>
          <p:cNvSpPr txBox="1"/>
          <p:nvPr/>
        </p:nvSpPr>
        <p:spPr>
          <a:xfrm>
            <a:off x="11368735" y="6400800"/>
            <a:ext cx="548640" cy="274320"/>
          </a:xfrm>
          <a:prstGeom prst="rect">
            <a:avLst/>
          </a:prstGeom>
          <a:noFill/>
          <a:ln/>
        </p:spPr>
        <p:txBody>
          <a:bodyPr wrap="square" lIns="0" tIns="0" rIns="0" bIns="0" rtlCol="0" anchor="ctr"/>
          <a:lstStyle/>
          <a:p>
            <a:pPr algn="r" indent="0" marL="0">
              <a:buNone/>
            </a:pPr>
            <a:r>
              <a:rPr lang="en-US" sz="1000" dirty="0">
                <a:solidFill>
                  <a:srgbClr val="6C7D71"/>
                </a:solidFill>
                <a:latin typeface="Calibri" pitchFamily="34" charset="0"/>
                <a:ea typeface="Calibri" pitchFamily="34" charset="-122"/>
                <a:cs typeface="Calibri" pitchFamily="34" charset="-120"/>
              </a:rPr>
              <a:t>09</a:t>
            </a:r>
            <a:endParaRPr lang="en-US" sz="1000" dirty="0"/>
          </a:p>
        </p:txBody>
      </p:sp>
      <p:sp>
        <p:nvSpPr>
          <p:cNvPr id="79" name="Text 77"/>
          <p:cNvSpPr txBox="1"/>
          <p:nvPr/>
        </p:nvSpPr>
        <p:spPr>
          <a:xfrm>
            <a:off x="548640" y="6400800"/>
            <a:ext cx="3657600" cy="274320"/>
          </a:xfrm>
          <a:prstGeom prst="rect">
            <a:avLst/>
          </a:prstGeom>
          <a:noFill/>
          <a:ln/>
        </p:spPr>
        <p:txBody>
          <a:bodyPr wrap="square" lIns="0" tIns="0" rIns="0" bIns="0" rtlCol="0" anchor="ctr"/>
          <a:lstStyle/>
          <a:p>
            <a:pPr indent="0" marL="0">
              <a:buNone/>
            </a:pPr>
            <a:r>
              <a:rPr lang="en-US" sz="900" spc="200" kern="0" dirty="0">
                <a:solidFill>
                  <a:srgbClr val="6C7D71"/>
                </a:solidFill>
                <a:latin typeface="Calibri" pitchFamily="34" charset="0"/>
                <a:ea typeface="Calibri" pitchFamily="34" charset="-122"/>
                <a:cs typeface="Calibri" pitchFamily="34" charset="-120"/>
              </a:rPr>
              <a:t>SAMAGRA MYSURU</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9966960" y="-2011680"/>
            <a:ext cx="4937760" cy="4937760"/>
          </a:xfrm>
          <a:prstGeom prst="ellipse">
            <a:avLst/>
          </a:prstGeom>
          <a:solidFill>
            <a:srgbClr val="F2F8F4">
              <a:alpha val="75000"/>
            </a:srgbClr>
          </a:solidFill>
          <a:ln/>
        </p:spPr>
      </p:sp>
      <p:sp>
        <p:nvSpPr>
          <p:cNvPr id="3" name="Text 1"/>
          <p:cNvSpPr txBox="1"/>
          <p:nvPr/>
        </p:nvSpPr>
        <p:spPr>
          <a:xfrm>
            <a:off x="548640" y="384048"/>
            <a:ext cx="9601200" cy="320040"/>
          </a:xfrm>
          <a:prstGeom prst="rect">
            <a:avLst/>
          </a:prstGeom>
          <a:noFill/>
          <a:ln/>
        </p:spPr>
        <p:txBody>
          <a:bodyPr wrap="square" lIns="0" tIns="0" rIns="0" bIns="0" rtlCol="0" anchor="ctr"/>
          <a:lstStyle/>
          <a:p>
            <a:pPr indent="0" marL="0">
              <a:buNone/>
            </a:pPr>
            <a:r>
              <a:rPr lang="en-US" sz="1250" b="1" spc="250" kern="0" dirty="0">
                <a:solidFill>
                  <a:srgbClr val="168A46"/>
                </a:solidFill>
                <a:latin typeface="Calibri" pitchFamily="34" charset="0"/>
                <a:ea typeface="Calibri" pitchFamily="34" charset="-122"/>
                <a:cs typeface="Calibri" pitchFamily="34" charset="-120"/>
              </a:rPr>
              <a:t>DATA SOURCES &amp; DATABASE CONSTRUCTION</a:t>
            </a:r>
            <a:endParaRPr lang="en-US" sz="1250" dirty="0"/>
          </a:p>
        </p:txBody>
      </p:sp>
      <p:sp>
        <p:nvSpPr>
          <p:cNvPr id="4" name="Text 2"/>
          <p:cNvSpPr txBox="1"/>
          <p:nvPr/>
        </p:nvSpPr>
        <p:spPr>
          <a:xfrm>
            <a:off x="548640" y="658368"/>
            <a:ext cx="9144000" cy="685800"/>
          </a:xfrm>
          <a:prstGeom prst="rect">
            <a:avLst/>
          </a:prstGeom>
          <a:noFill/>
          <a:ln/>
        </p:spPr>
        <p:txBody>
          <a:bodyPr wrap="square" lIns="0" tIns="0" rIns="0" bIns="0" rtlCol="0" anchor="ctr"/>
          <a:lstStyle/>
          <a:p>
            <a:pPr indent="0" marL="0">
              <a:buNone/>
            </a:pPr>
            <a:r>
              <a:rPr lang="en-US" sz="2600" b="1" dirty="0">
                <a:solidFill>
                  <a:srgbClr val="142018"/>
                </a:solidFill>
                <a:latin typeface="Calibri" pitchFamily="34" charset="0"/>
                <a:ea typeface="Calibri" pitchFamily="34" charset="-122"/>
                <a:cs typeface="Calibri" pitchFamily="34" charset="-120"/>
              </a:rPr>
              <a:t>Five sources, one routing database</a:t>
            </a:r>
            <a:endParaRPr lang="en-US" sz="2600" dirty="0"/>
          </a:p>
        </p:txBody>
      </p:sp>
      <p:sp>
        <p:nvSpPr>
          <p:cNvPr id="5" name="Shape 3"/>
          <p:cNvSpPr/>
          <p:nvPr/>
        </p:nvSpPr>
        <p:spPr>
          <a:xfrm>
            <a:off x="548640" y="1554480"/>
            <a:ext cx="2084832" cy="2286000"/>
          </a:xfrm>
          <a:prstGeom prst="roundRect">
            <a:avLst>
              <a:gd name="adj" fmla="val 3947"/>
            </a:avLst>
          </a:prstGeom>
          <a:solidFill>
            <a:srgbClr val="F2F8F4"/>
          </a:solidFill>
          <a:ln w="12700">
            <a:solidFill>
              <a:srgbClr val="D3E6DA"/>
            </a:solidFill>
            <a:prstDash val="solid"/>
          </a:ln>
          <a:effectLst>
            <a:outerShdw sx="100000" sy="100000" kx="0" ky="0" algn="bl" rotWithShape="0" blurRad="101600" dist="25400" dir="5400000">
              <a:srgbClr val="9CB3A4">
                <a:alpha val="28000"/>
              </a:srgbClr>
            </a:outerShdw>
          </a:effectLst>
        </p:spPr>
      </p:sp>
      <p:sp>
        <p:nvSpPr>
          <p:cNvPr id="6" name="Shape 4"/>
          <p:cNvSpPr/>
          <p:nvPr/>
        </p:nvSpPr>
        <p:spPr>
          <a:xfrm>
            <a:off x="1335024" y="1755648"/>
            <a:ext cx="512064" cy="512064"/>
          </a:xfrm>
          <a:prstGeom prst="ellipse">
            <a:avLst/>
          </a:prstGeom>
          <a:solidFill>
            <a:srgbClr val="E6F3EA"/>
          </a:solidFill>
          <a:ln w="12700">
            <a:solidFill>
              <a:srgbClr val="D3E6DA"/>
            </a:solidFill>
            <a:prstDash val="solid"/>
          </a:ln>
        </p:spPr>
      </p:sp>
      <p:sp>
        <p:nvSpPr>
          <p:cNvPr id="7" name="Text 5"/>
          <p:cNvSpPr txBox="1"/>
          <p:nvPr/>
        </p:nvSpPr>
        <p:spPr>
          <a:xfrm>
            <a:off x="1335024" y="1737360"/>
            <a:ext cx="512064" cy="512064"/>
          </a:xfrm>
          <a:prstGeom prst="rect">
            <a:avLst/>
          </a:prstGeom>
          <a:noFill/>
          <a:ln/>
        </p:spPr>
        <p:txBody>
          <a:bodyPr wrap="square" lIns="0" tIns="0" rIns="0" bIns="0" rtlCol="0" anchor="ctr"/>
          <a:lstStyle/>
          <a:p>
            <a:pPr algn="ctr" indent="0" marL="0">
              <a:buNone/>
            </a:pPr>
            <a:r>
              <a:rPr lang="en-US" sz="2000" b="1" dirty="0">
                <a:solidFill>
                  <a:srgbClr val="168A46"/>
                </a:solidFill>
                <a:latin typeface="Calibri" pitchFamily="34" charset="0"/>
                <a:ea typeface="Calibri" pitchFamily="34" charset="-122"/>
                <a:cs typeface="Calibri" pitchFamily="34" charset="-120"/>
              </a:rPr>
              <a:t>🏛️</a:t>
            </a:r>
            <a:endParaRPr lang="en-US" sz="2000" dirty="0"/>
          </a:p>
        </p:txBody>
      </p:sp>
      <p:sp>
        <p:nvSpPr>
          <p:cNvPr id="8" name="Text 6"/>
          <p:cNvSpPr txBox="1"/>
          <p:nvPr/>
        </p:nvSpPr>
        <p:spPr>
          <a:xfrm>
            <a:off x="676656" y="2395728"/>
            <a:ext cx="1828800" cy="502920"/>
          </a:xfrm>
          <a:prstGeom prst="rect">
            <a:avLst/>
          </a:prstGeom>
          <a:noFill/>
          <a:ln/>
        </p:spPr>
        <p:txBody>
          <a:bodyPr wrap="square" lIns="0" tIns="0" rIns="0" bIns="0" rtlCol="0" anchor="ctr"/>
          <a:lstStyle/>
          <a:p>
            <a:pPr algn="ctr" indent="0" marL="0">
              <a:lnSpc>
                <a:spcPct val="108000"/>
              </a:lnSpc>
              <a:buNone/>
            </a:pPr>
            <a:r>
              <a:rPr lang="en-US" sz="1050" b="1" dirty="0">
                <a:solidFill>
                  <a:srgbClr val="142018"/>
                </a:solidFill>
                <a:latin typeface="Calibri" pitchFamily="34" charset="0"/>
                <a:ea typeface="Calibri" pitchFamily="34" charset="-122"/>
                <a:cs typeface="Calibri" pitchFamily="34" charset="-120"/>
              </a:rPr>
              <a:t>Mysuru District Administration, GoK</a:t>
            </a:r>
            <a:endParaRPr lang="en-US" sz="1050" dirty="0"/>
          </a:p>
        </p:txBody>
      </p:sp>
      <p:sp>
        <p:nvSpPr>
          <p:cNvPr id="9" name="Text 7"/>
          <p:cNvSpPr txBox="1"/>
          <p:nvPr/>
        </p:nvSpPr>
        <p:spPr>
          <a:xfrm>
            <a:off x="676656" y="2907792"/>
            <a:ext cx="1828800" cy="868680"/>
          </a:xfrm>
          <a:prstGeom prst="rect">
            <a:avLst/>
          </a:prstGeom>
          <a:noFill/>
          <a:ln/>
        </p:spPr>
        <p:txBody>
          <a:bodyPr wrap="square" lIns="0" tIns="0" rIns="0" bIns="0" rtlCol="0" anchor="ctr"/>
          <a:lstStyle/>
          <a:p>
            <a:pPr algn="ctr" indent="0" marL="0">
              <a:lnSpc>
                <a:spcPct val="115000"/>
              </a:lnSpc>
              <a:buNone/>
            </a:pPr>
            <a:r>
              <a:rPr lang="en-US" sz="930" dirty="0">
                <a:solidFill>
                  <a:srgbClr val="34433B"/>
                </a:solidFill>
                <a:latin typeface="Calibri" pitchFamily="34" charset="0"/>
                <a:ea typeface="Calibri" pitchFamily="34" charset="-122"/>
                <a:cs typeface="Calibri" pitchFamily="34" charset="-120"/>
              </a:rPr>
              <a:t>Official 65 MCC ward numbers &amp; names</a:t>
            </a:r>
            <a:endParaRPr lang="en-US" sz="930" dirty="0"/>
          </a:p>
        </p:txBody>
      </p:sp>
      <p:sp>
        <p:nvSpPr>
          <p:cNvPr id="10" name="Shape 8"/>
          <p:cNvSpPr/>
          <p:nvPr/>
        </p:nvSpPr>
        <p:spPr>
          <a:xfrm>
            <a:off x="2779776" y="1554480"/>
            <a:ext cx="2084832" cy="2286000"/>
          </a:xfrm>
          <a:prstGeom prst="roundRect">
            <a:avLst>
              <a:gd name="adj" fmla="val 3947"/>
            </a:avLst>
          </a:prstGeom>
          <a:solidFill>
            <a:srgbClr val="F2F8F4"/>
          </a:solidFill>
          <a:ln w="12700">
            <a:solidFill>
              <a:srgbClr val="D3E6DA"/>
            </a:solidFill>
            <a:prstDash val="solid"/>
          </a:ln>
          <a:effectLst>
            <a:outerShdw sx="100000" sy="100000" kx="0" ky="0" algn="bl" rotWithShape="0" blurRad="101600" dist="25400" dir="5400000">
              <a:srgbClr val="9CB3A4">
                <a:alpha val="28000"/>
              </a:srgbClr>
            </a:outerShdw>
          </a:effectLst>
        </p:spPr>
      </p:sp>
      <p:sp>
        <p:nvSpPr>
          <p:cNvPr id="11" name="Shape 9"/>
          <p:cNvSpPr/>
          <p:nvPr/>
        </p:nvSpPr>
        <p:spPr>
          <a:xfrm>
            <a:off x="3566160" y="1755648"/>
            <a:ext cx="512064" cy="512064"/>
          </a:xfrm>
          <a:prstGeom prst="ellipse">
            <a:avLst/>
          </a:prstGeom>
          <a:solidFill>
            <a:srgbClr val="E6F3EA"/>
          </a:solidFill>
          <a:ln w="12700">
            <a:solidFill>
              <a:srgbClr val="D3E6DA"/>
            </a:solidFill>
            <a:prstDash val="solid"/>
          </a:ln>
        </p:spPr>
      </p:sp>
      <p:sp>
        <p:nvSpPr>
          <p:cNvPr id="12" name="Text 10"/>
          <p:cNvSpPr txBox="1"/>
          <p:nvPr/>
        </p:nvSpPr>
        <p:spPr>
          <a:xfrm>
            <a:off x="3566160" y="1737360"/>
            <a:ext cx="512064" cy="512064"/>
          </a:xfrm>
          <a:prstGeom prst="rect">
            <a:avLst/>
          </a:prstGeom>
          <a:noFill/>
          <a:ln/>
        </p:spPr>
        <p:txBody>
          <a:bodyPr wrap="square" lIns="0" tIns="0" rIns="0" bIns="0" rtlCol="0" anchor="ctr"/>
          <a:lstStyle/>
          <a:p>
            <a:pPr algn="ctr" indent="0" marL="0">
              <a:buNone/>
            </a:pPr>
            <a:r>
              <a:rPr lang="en-US" sz="2000" b="1" dirty="0">
                <a:solidFill>
                  <a:srgbClr val="168A46"/>
                </a:solidFill>
                <a:latin typeface="Calibri" pitchFamily="34" charset="0"/>
                <a:ea typeface="Calibri" pitchFamily="34" charset="-122"/>
                <a:cs typeface="Calibri" pitchFamily="34" charset="-120"/>
              </a:rPr>
              <a:t>🏢</a:t>
            </a:r>
            <a:endParaRPr lang="en-US" sz="2000" dirty="0"/>
          </a:p>
        </p:txBody>
      </p:sp>
      <p:sp>
        <p:nvSpPr>
          <p:cNvPr id="13" name="Text 11"/>
          <p:cNvSpPr txBox="1"/>
          <p:nvPr/>
        </p:nvSpPr>
        <p:spPr>
          <a:xfrm>
            <a:off x="2907792" y="2395728"/>
            <a:ext cx="1828800" cy="502920"/>
          </a:xfrm>
          <a:prstGeom prst="rect">
            <a:avLst/>
          </a:prstGeom>
          <a:noFill/>
          <a:ln/>
        </p:spPr>
        <p:txBody>
          <a:bodyPr wrap="square" lIns="0" tIns="0" rIns="0" bIns="0" rtlCol="0" anchor="ctr"/>
          <a:lstStyle/>
          <a:p>
            <a:pPr algn="ctr" indent="0" marL="0">
              <a:lnSpc>
                <a:spcPct val="108000"/>
              </a:lnSpc>
              <a:buNone/>
            </a:pPr>
            <a:r>
              <a:rPr lang="en-US" sz="1050" b="1" dirty="0">
                <a:solidFill>
                  <a:srgbClr val="142018"/>
                </a:solidFill>
                <a:latin typeface="Calibri" pitchFamily="34" charset="0"/>
                <a:ea typeface="Calibri" pitchFamily="34" charset="-122"/>
                <a:cs typeface="Calibri" pitchFamily="34" charset="-120"/>
              </a:rPr>
              <a:t>Mysuru City Corporation (MCC)</a:t>
            </a:r>
            <a:endParaRPr lang="en-US" sz="1050" dirty="0"/>
          </a:p>
        </p:txBody>
      </p:sp>
      <p:sp>
        <p:nvSpPr>
          <p:cNvPr id="14" name="Text 12"/>
          <p:cNvSpPr txBox="1"/>
          <p:nvPr/>
        </p:nvSpPr>
        <p:spPr>
          <a:xfrm>
            <a:off x="2907792" y="2907792"/>
            <a:ext cx="1828800" cy="868680"/>
          </a:xfrm>
          <a:prstGeom prst="rect">
            <a:avLst/>
          </a:prstGeom>
          <a:noFill/>
          <a:ln/>
        </p:spPr>
        <p:txBody>
          <a:bodyPr wrap="square" lIns="0" tIns="0" rIns="0" bIns="0" rtlCol="0" anchor="ctr"/>
          <a:lstStyle/>
          <a:p>
            <a:pPr algn="ctr" indent="0" marL="0">
              <a:lnSpc>
                <a:spcPct val="115000"/>
              </a:lnSpc>
              <a:buNone/>
            </a:pPr>
            <a:r>
              <a:rPr lang="en-US" sz="930" dirty="0">
                <a:solidFill>
                  <a:srgbClr val="34433B"/>
                </a:solidFill>
                <a:latin typeface="Calibri" pitchFamily="34" charset="0"/>
                <a:ea typeface="Calibri" pitchFamily="34" charset="-122"/>
                <a:cs typeface="Calibri" pitchFamily="34" charset="-120"/>
              </a:rPr>
              <a:t>Civic administration &amp; ward-related services</a:t>
            </a:r>
            <a:endParaRPr lang="en-US" sz="930" dirty="0"/>
          </a:p>
        </p:txBody>
      </p:sp>
      <p:sp>
        <p:nvSpPr>
          <p:cNvPr id="15" name="Shape 13"/>
          <p:cNvSpPr/>
          <p:nvPr/>
        </p:nvSpPr>
        <p:spPr>
          <a:xfrm>
            <a:off x="5010912" y="1554480"/>
            <a:ext cx="2084832" cy="2286000"/>
          </a:xfrm>
          <a:prstGeom prst="roundRect">
            <a:avLst>
              <a:gd name="adj" fmla="val 3947"/>
            </a:avLst>
          </a:prstGeom>
          <a:solidFill>
            <a:srgbClr val="F2F8F4"/>
          </a:solidFill>
          <a:ln w="12700">
            <a:solidFill>
              <a:srgbClr val="D3E6DA"/>
            </a:solidFill>
            <a:prstDash val="solid"/>
          </a:ln>
          <a:effectLst>
            <a:outerShdw sx="100000" sy="100000" kx="0" ky="0" algn="bl" rotWithShape="0" blurRad="101600" dist="25400" dir="5400000">
              <a:srgbClr val="9CB3A4">
                <a:alpha val="28000"/>
              </a:srgbClr>
            </a:outerShdw>
          </a:effectLst>
        </p:spPr>
      </p:sp>
      <p:sp>
        <p:nvSpPr>
          <p:cNvPr id="16" name="Shape 14"/>
          <p:cNvSpPr/>
          <p:nvPr/>
        </p:nvSpPr>
        <p:spPr>
          <a:xfrm>
            <a:off x="5797296" y="1755648"/>
            <a:ext cx="512064" cy="512064"/>
          </a:xfrm>
          <a:prstGeom prst="ellipse">
            <a:avLst/>
          </a:prstGeom>
          <a:solidFill>
            <a:srgbClr val="E6F3EA"/>
          </a:solidFill>
          <a:ln w="12700">
            <a:solidFill>
              <a:srgbClr val="D3E6DA"/>
            </a:solidFill>
            <a:prstDash val="solid"/>
          </a:ln>
        </p:spPr>
      </p:sp>
      <p:sp>
        <p:nvSpPr>
          <p:cNvPr id="17" name="Text 15"/>
          <p:cNvSpPr txBox="1"/>
          <p:nvPr/>
        </p:nvSpPr>
        <p:spPr>
          <a:xfrm>
            <a:off x="5797296" y="1737360"/>
            <a:ext cx="512064" cy="512064"/>
          </a:xfrm>
          <a:prstGeom prst="rect">
            <a:avLst/>
          </a:prstGeom>
          <a:noFill/>
          <a:ln/>
        </p:spPr>
        <p:txBody>
          <a:bodyPr wrap="square" lIns="0" tIns="0" rIns="0" bIns="0" rtlCol="0" anchor="ctr"/>
          <a:lstStyle/>
          <a:p>
            <a:pPr algn="ctr" indent="0" marL="0">
              <a:buNone/>
            </a:pPr>
            <a:r>
              <a:rPr lang="en-US" sz="2000" b="1" dirty="0">
                <a:solidFill>
                  <a:srgbClr val="168A46"/>
                </a:solidFill>
                <a:latin typeface="Calibri" pitchFamily="34" charset="0"/>
                <a:ea typeface="Calibri" pitchFamily="34" charset="-122"/>
                <a:cs typeface="Calibri" pitchFamily="34" charset="-120"/>
              </a:rPr>
              <a:t>🗺️</a:t>
            </a:r>
            <a:endParaRPr lang="en-US" sz="2000" dirty="0"/>
          </a:p>
        </p:txBody>
      </p:sp>
      <p:sp>
        <p:nvSpPr>
          <p:cNvPr id="18" name="Text 16"/>
          <p:cNvSpPr txBox="1"/>
          <p:nvPr/>
        </p:nvSpPr>
        <p:spPr>
          <a:xfrm>
            <a:off x="5138928" y="2395728"/>
            <a:ext cx="1828800" cy="502920"/>
          </a:xfrm>
          <a:prstGeom prst="rect">
            <a:avLst/>
          </a:prstGeom>
          <a:noFill/>
          <a:ln/>
        </p:spPr>
        <p:txBody>
          <a:bodyPr wrap="square" lIns="0" tIns="0" rIns="0" bIns="0" rtlCol="0" anchor="ctr"/>
          <a:lstStyle/>
          <a:p>
            <a:pPr algn="ctr" indent="0" marL="0">
              <a:lnSpc>
                <a:spcPct val="108000"/>
              </a:lnSpc>
              <a:buNone/>
            </a:pPr>
            <a:r>
              <a:rPr lang="en-US" sz="1050" b="1" dirty="0">
                <a:solidFill>
                  <a:srgbClr val="142018"/>
                </a:solidFill>
                <a:latin typeface="Calibri" pitchFamily="34" charset="0"/>
                <a:ea typeface="Calibri" pitchFamily="34" charset="-122"/>
                <a:cs typeface="Calibri" pitchFamily="34" charset="-120"/>
              </a:rPr>
              <a:t>OpenCity / BharAtlas</a:t>
            </a:r>
            <a:endParaRPr lang="en-US" sz="1050" dirty="0"/>
          </a:p>
        </p:txBody>
      </p:sp>
      <p:sp>
        <p:nvSpPr>
          <p:cNvPr id="19" name="Text 17"/>
          <p:cNvSpPr txBox="1"/>
          <p:nvPr/>
        </p:nvSpPr>
        <p:spPr>
          <a:xfrm>
            <a:off x="5138928" y="2907792"/>
            <a:ext cx="1828800" cy="868680"/>
          </a:xfrm>
          <a:prstGeom prst="rect">
            <a:avLst/>
          </a:prstGeom>
          <a:noFill/>
          <a:ln/>
        </p:spPr>
        <p:txBody>
          <a:bodyPr wrap="square" lIns="0" tIns="0" rIns="0" bIns="0" rtlCol="0" anchor="ctr"/>
          <a:lstStyle/>
          <a:p>
            <a:pPr algn="ctr" indent="0" marL="0">
              <a:lnSpc>
                <a:spcPct val="115000"/>
              </a:lnSpc>
              <a:buNone/>
            </a:pPr>
            <a:r>
              <a:rPr lang="en-US" sz="930" dirty="0">
                <a:solidFill>
                  <a:srgbClr val="34433B"/>
                </a:solidFill>
                <a:latin typeface="Calibri" pitchFamily="34" charset="0"/>
                <a:ea typeface="Calibri" pitchFamily="34" charset="-122"/>
                <a:cs typeface="Calibri" pitchFamily="34" charset="-120"/>
              </a:rPr>
              <a:t>Ward boundary GeoJSON for location-based routing</a:t>
            </a:r>
            <a:endParaRPr lang="en-US" sz="930" dirty="0"/>
          </a:p>
        </p:txBody>
      </p:sp>
      <p:sp>
        <p:nvSpPr>
          <p:cNvPr id="20" name="Shape 18"/>
          <p:cNvSpPr/>
          <p:nvPr/>
        </p:nvSpPr>
        <p:spPr>
          <a:xfrm>
            <a:off x="7242048" y="1554480"/>
            <a:ext cx="2084832" cy="2286000"/>
          </a:xfrm>
          <a:prstGeom prst="roundRect">
            <a:avLst>
              <a:gd name="adj" fmla="val 3947"/>
            </a:avLst>
          </a:prstGeom>
          <a:solidFill>
            <a:srgbClr val="F2F8F4"/>
          </a:solidFill>
          <a:ln w="12700">
            <a:solidFill>
              <a:srgbClr val="D3E6DA"/>
            </a:solidFill>
            <a:prstDash val="solid"/>
          </a:ln>
          <a:effectLst>
            <a:outerShdw sx="100000" sy="100000" kx="0" ky="0" algn="bl" rotWithShape="0" blurRad="101600" dist="25400" dir="5400000">
              <a:srgbClr val="9CB3A4">
                <a:alpha val="28000"/>
              </a:srgbClr>
            </a:outerShdw>
          </a:effectLst>
        </p:spPr>
      </p:sp>
      <p:sp>
        <p:nvSpPr>
          <p:cNvPr id="21" name="Shape 19"/>
          <p:cNvSpPr/>
          <p:nvPr/>
        </p:nvSpPr>
        <p:spPr>
          <a:xfrm>
            <a:off x="8028432" y="1755648"/>
            <a:ext cx="512064" cy="512064"/>
          </a:xfrm>
          <a:prstGeom prst="ellipse">
            <a:avLst/>
          </a:prstGeom>
          <a:solidFill>
            <a:srgbClr val="E6F3EA"/>
          </a:solidFill>
          <a:ln w="12700">
            <a:solidFill>
              <a:srgbClr val="D3E6DA"/>
            </a:solidFill>
            <a:prstDash val="solid"/>
          </a:ln>
        </p:spPr>
      </p:sp>
      <p:sp>
        <p:nvSpPr>
          <p:cNvPr id="22" name="Text 20"/>
          <p:cNvSpPr txBox="1"/>
          <p:nvPr/>
        </p:nvSpPr>
        <p:spPr>
          <a:xfrm>
            <a:off x="8028432" y="1737360"/>
            <a:ext cx="512064" cy="512064"/>
          </a:xfrm>
          <a:prstGeom prst="rect">
            <a:avLst/>
          </a:prstGeom>
          <a:noFill/>
          <a:ln/>
        </p:spPr>
        <p:txBody>
          <a:bodyPr wrap="square" lIns="0" tIns="0" rIns="0" bIns="0" rtlCol="0" anchor="ctr"/>
          <a:lstStyle/>
          <a:p>
            <a:pPr algn="ctr" indent="0" marL="0">
              <a:buNone/>
            </a:pPr>
            <a:r>
              <a:rPr lang="en-US" sz="2000" b="1" dirty="0">
                <a:solidFill>
                  <a:srgbClr val="168A46"/>
                </a:solidFill>
                <a:latin typeface="Calibri" pitchFamily="34" charset="0"/>
                <a:ea typeface="Calibri" pitchFamily="34" charset="-122"/>
                <a:cs typeface="Calibri" pitchFamily="34" charset="-120"/>
              </a:rPr>
              <a:t>🏘️</a:t>
            </a:r>
            <a:endParaRPr lang="en-US" sz="2000" dirty="0"/>
          </a:p>
        </p:txBody>
      </p:sp>
      <p:sp>
        <p:nvSpPr>
          <p:cNvPr id="23" name="Text 21"/>
          <p:cNvSpPr txBox="1"/>
          <p:nvPr/>
        </p:nvSpPr>
        <p:spPr>
          <a:xfrm>
            <a:off x="7370064" y="2395728"/>
            <a:ext cx="1828800" cy="502920"/>
          </a:xfrm>
          <a:prstGeom prst="rect">
            <a:avLst/>
          </a:prstGeom>
          <a:noFill/>
          <a:ln/>
        </p:spPr>
        <p:txBody>
          <a:bodyPr wrap="square" lIns="0" tIns="0" rIns="0" bIns="0" rtlCol="0" anchor="ctr"/>
          <a:lstStyle/>
          <a:p>
            <a:pPr algn="ctr" indent="0" marL="0">
              <a:lnSpc>
                <a:spcPct val="108000"/>
              </a:lnSpc>
              <a:buNone/>
            </a:pPr>
            <a:r>
              <a:rPr lang="en-US" sz="1050" b="1" dirty="0">
                <a:solidFill>
                  <a:srgbClr val="142018"/>
                </a:solidFill>
                <a:latin typeface="Calibri" pitchFamily="34" charset="0"/>
                <a:ea typeface="Calibri" pitchFamily="34" charset="-122"/>
                <a:cs typeface="Calibri" pitchFamily="34" charset="-120"/>
              </a:rPr>
              <a:t>District village/panchayat info</a:t>
            </a:r>
            <a:endParaRPr lang="en-US" sz="1050" dirty="0"/>
          </a:p>
        </p:txBody>
      </p:sp>
      <p:sp>
        <p:nvSpPr>
          <p:cNvPr id="24" name="Text 22"/>
          <p:cNvSpPr txBox="1"/>
          <p:nvPr/>
        </p:nvSpPr>
        <p:spPr>
          <a:xfrm>
            <a:off x="7370064" y="2907792"/>
            <a:ext cx="1828800" cy="868680"/>
          </a:xfrm>
          <a:prstGeom prst="rect">
            <a:avLst/>
          </a:prstGeom>
          <a:noFill/>
          <a:ln/>
        </p:spPr>
        <p:txBody>
          <a:bodyPr wrap="square" lIns="0" tIns="0" rIns="0" bIns="0" rtlCol="0" anchor="ctr"/>
          <a:lstStyle/>
          <a:p>
            <a:pPr algn="ctr" indent="0" marL="0">
              <a:lnSpc>
                <a:spcPct val="115000"/>
              </a:lnSpc>
              <a:buNone/>
            </a:pPr>
            <a:r>
              <a:rPr lang="en-US" sz="930" dirty="0">
                <a:solidFill>
                  <a:srgbClr val="34433B"/>
                </a:solidFill>
                <a:latin typeface="Calibri" pitchFamily="34" charset="0"/>
                <a:ea typeface="Calibri" pitchFamily="34" charset="-122"/>
                <a:cs typeface="Calibri" pitchFamily="34" charset="-120"/>
              </a:rPr>
              <a:t>Village names, codes, Gram Panchayat localities</a:t>
            </a:r>
            <a:endParaRPr lang="en-US" sz="930" dirty="0"/>
          </a:p>
        </p:txBody>
      </p:sp>
      <p:sp>
        <p:nvSpPr>
          <p:cNvPr id="25" name="Shape 23"/>
          <p:cNvSpPr/>
          <p:nvPr/>
        </p:nvSpPr>
        <p:spPr>
          <a:xfrm>
            <a:off x="9473184" y="1554480"/>
            <a:ext cx="2084832" cy="2286000"/>
          </a:xfrm>
          <a:prstGeom prst="roundRect">
            <a:avLst>
              <a:gd name="adj" fmla="val 3947"/>
            </a:avLst>
          </a:prstGeom>
          <a:solidFill>
            <a:srgbClr val="F2F8F4"/>
          </a:solidFill>
          <a:ln w="12700">
            <a:solidFill>
              <a:srgbClr val="D3E6DA"/>
            </a:solidFill>
            <a:prstDash val="solid"/>
          </a:ln>
          <a:effectLst>
            <a:outerShdw sx="100000" sy="100000" kx="0" ky="0" algn="bl" rotWithShape="0" blurRad="101600" dist="25400" dir="5400000">
              <a:srgbClr val="9CB3A4">
                <a:alpha val="28000"/>
              </a:srgbClr>
            </a:outerShdw>
          </a:effectLst>
        </p:spPr>
      </p:sp>
      <p:sp>
        <p:nvSpPr>
          <p:cNvPr id="26" name="Shape 24"/>
          <p:cNvSpPr/>
          <p:nvPr/>
        </p:nvSpPr>
        <p:spPr>
          <a:xfrm>
            <a:off x="10259568" y="1755648"/>
            <a:ext cx="512064" cy="512064"/>
          </a:xfrm>
          <a:prstGeom prst="ellipse">
            <a:avLst/>
          </a:prstGeom>
          <a:solidFill>
            <a:srgbClr val="E6F3EA"/>
          </a:solidFill>
          <a:ln w="12700">
            <a:solidFill>
              <a:srgbClr val="D3E6DA"/>
            </a:solidFill>
            <a:prstDash val="solid"/>
          </a:ln>
        </p:spPr>
      </p:sp>
      <p:sp>
        <p:nvSpPr>
          <p:cNvPr id="27" name="Text 25"/>
          <p:cNvSpPr txBox="1"/>
          <p:nvPr/>
        </p:nvSpPr>
        <p:spPr>
          <a:xfrm>
            <a:off x="10259568" y="1737360"/>
            <a:ext cx="512064" cy="512064"/>
          </a:xfrm>
          <a:prstGeom prst="rect">
            <a:avLst/>
          </a:prstGeom>
          <a:noFill/>
          <a:ln/>
        </p:spPr>
        <p:txBody>
          <a:bodyPr wrap="square" lIns="0" tIns="0" rIns="0" bIns="0" rtlCol="0" anchor="ctr"/>
          <a:lstStyle/>
          <a:p>
            <a:pPr algn="ctr" indent="0" marL="0">
              <a:buNone/>
            </a:pPr>
            <a:r>
              <a:rPr lang="en-US" sz="2000" b="1" dirty="0">
                <a:solidFill>
                  <a:srgbClr val="168A46"/>
                </a:solidFill>
                <a:latin typeface="Calibri" pitchFamily="34" charset="0"/>
                <a:ea typeface="Calibri" pitchFamily="34" charset="-122"/>
                <a:cs typeface="Calibri" pitchFamily="34" charset="-120"/>
              </a:rPr>
              <a:t>🏙️</a:t>
            </a:r>
            <a:endParaRPr lang="en-US" sz="2000" dirty="0"/>
          </a:p>
        </p:txBody>
      </p:sp>
      <p:sp>
        <p:nvSpPr>
          <p:cNvPr id="28" name="Text 26"/>
          <p:cNvSpPr txBox="1"/>
          <p:nvPr/>
        </p:nvSpPr>
        <p:spPr>
          <a:xfrm>
            <a:off x="9601200" y="2395728"/>
            <a:ext cx="1828800" cy="502920"/>
          </a:xfrm>
          <a:prstGeom prst="rect">
            <a:avLst/>
          </a:prstGeom>
          <a:noFill/>
          <a:ln/>
        </p:spPr>
        <p:txBody>
          <a:bodyPr wrap="square" lIns="0" tIns="0" rIns="0" bIns="0" rtlCol="0" anchor="ctr"/>
          <a:lstStyle/>
          <a:p>
            <a:pPr algn="ctr" indent="0" marL="0">
              <a:lnSpc>
                <a:spcPct val="108000"/>
              </a:lnSpc>
              <a:buNone/>
            </a:pPr>
            <a:r>
              <a:rPr lang="en-US" sz="1050" b="1" dirty="0">
                <a:solidFill>
                  <a:srgbClr val="142018"/>
                </a:solidFill>
                <a:latin typeface="Calibri" pitchFamily="34" charset="0"/>
                <a:ea typeface="Calibri" pitchFamily="34" charset="-122"/>
                <a:cs typeface="Calibri" pitchFamily="34" charset="-120"/>
              </a:rPr>
              <a:t>Greater Mysuru 2026 notification</a:t>
            </a:r>
            <a:endParaRPr lang="en-US" sz="1050" dirty="0"/>
          </a:p>
        </p:txBody>
      </p:sp>
      <p:sp>
        <p:nvSpPr>
          <p:cNvPr id="29" name="Text 27"/>
          <p:cNvSpPr txBox="1"/>
          <p:nvPr/>
        </p:nvSpPr>
        <p:spPr>
          <a:xfrm>
            <a:off x="9601200" y="2907792"/>
            <a:ext cx="1828800" cy="868680"/>
          </a:xfrm>
          <a:prstGeom prst="rect">
            <a:avLst/>
          </a:prstGeom>
          <a:noFill/>
          <a:ln/>
        </p:spPr>
        <p:txBody>
          <a:bodyPr wrap="square" lIns="0" tIns="0" rIns="0" bIns="0" rtlCol="0" anchor="ctr"/>
          <a:lstStyle/>
          <a:p>
            <a:pPr algn="ctr" indent="0" marL="0">
              <a:lnSpc>
                <a:spcPct val="115000"/>
              </a:lnSpc>
              <a:buNone/>
            </a:pPr>
            <a:r>
              <a:rPr lang="en-US" sz="930" dirty="0">
                <a:solidFill>
                  <a:srgbClr val="34433B"/>
                </a:solidFill>
                <a:latin typeface="Calibri" pitchFamily="34" charset="0"/>
                <a:ea typeface="Calibri" pitchFamily="34" charset="-122"/>
                <a:cs typeface="Calibri" pitchFamily="34" charset="-120"/>
              </a:rPr>
              <a:t>86.31 → 341.44 sq. km expansion mapping</a:t>
            </a:r>
            <a:endParaRPr lang="en-US" sz="930" dirty="0"/>
          </a:p>
        </p:txBody>
      </p:sp>
      <p:sp>
        <p:nvSpPr>
          <p:cNvPr id="30" name="Shape 28"/>
          <p:cNvSpPr/>
          <p:nvPr/>
        </p:nvSpPr>
        <p:spPr>
          <a:xfrm>
            <a:off x="548640" y="4096512"/>
            <a:ext cx="1984248" cy="475488"/>
          </a:xfrm>
          <a:prstGeom prst="roundRect">
            <a:avLst>
              <a:gd name="adj" fmla="val 17308"/>
            </a:avLst>
          </a:prstGeom>
          <a:solidFill>
            <a:srgbClr val="F2F8F4"/>
          </a:solidFill>
          <a:ln w="12700">
            <a:solidFill>
              <a:srgbClr val="D3E6DA"/>
            </a:solidFill>
            <a:prstDash val="solid"/>
          </a:ln>
        </p:spPr>
      </p:sp>
      <p:sp>
        <p:nvSpPr>
          <p:cNvPr id="31" name="Text 29"/>
          <p:cNvSpPr txBox="1"/>
          <p:nvPr/>
        </p:nvSpPr>
        <p:spPr>
          <a:xfrm>
            <a:off x="621792" y="4096512"/>
            <a:ext cx="1837944" cy="475488"/>
          </a:xfrm>
          <a:prstGeom prst="rect">
            <a:avLst/>
          </a:prstGeom>
          <a:noFill/>
          <a:ln/>
        </p:spPr>
        <p:txBody>
          <a:bodyPr wrap="square" lIns="0" tIns="0" rIns="0" bIns="0" rtlCol="0" anchor="ctr"/>
          <a:lstStyle/>
          <a:p>
            <a:pPr algn="ctr" indent="0" marL="0">
              <a:buNone/>
            </a:pPr>
            <a:r>
              <a:rPr lang="en-US" sz="930" dirty="0">
                <a:solidFill>
                  <a:srgbClr val="34433B"/>
                </a:solidFill>
                <a:latin typeface="Calibri" pitchFamily="34" charset="0"/>
                <a:ea typeface="Calibri" pitchFamily="34" charset="-122"/>
                <a:cs typeface="Calibri" pitchFamily="34" charset="-120"/>
              </a:rPr>
              <a:t>Gov / Geo Sources</a:t>
            </a:r>
            <a:endParaRPr lang="en-US" sz="930" dirty="0"/>
          </a:p>
        </p:txBody>
      </p:sp>
      <p:sp>
        <p:nvSpPr>
          <p:cNvPr id="32" name="Shape 30"/>
          <p:cNvSpPr/>
          <p:nvPr/>
        </p:nvSpPr>
        <p:spPr>
          <a:xfrm>
            <a:off x="2551176" y="3995928"/>
            <a:ext cx="256032" cy="164592"/>
          </a:xfrm>
          <a:prstGeom prst="rightArrow">
            <a:avLst/>
          </a:prstGeom>
          <a:solidFill>
            <a:srgbClr val="168A46"/>
          </a:solidFill>
          <a:ln/>
        </p:spPr>
      </p:sp>
      <p:sp>
        <p:nvSpPr>
          <p:cNvPr id="33" name="Shape 31"/>
          <p:cNvSpPr/>
          <p:nvPr/>
        </p:nvSpPr>
        <p:spPr>
          <a:xfrm>
            <a:off x="2825496" y="4096512"/>
            <a:ext cx="1984248" cy="475488"/>
          </a:xfrm>
          <a:prstGeom prst="roundRect">
            <a:avLst>
              <a:gd name="adj" fmla="val 17308"/>
            </a:avLst>
          </a:prstGeom>
          <a:solidFill>
            <a:srgbClr val="F2F8F4"/>
          </a:solidFill>
          <a:ln w="12700">
            <a:solidFill>
              <a:srgbClr val="D3E6DA"/>
            </a:solidFill>
            <a:prstDash val="solid"/>
          </a:ln>
        </p:spPr>
      </p:sp>
      <p:sp>
        <p:nvSpPr>
          <p:cNvPr id="34" name="Text 32"/>
          <p:cNvSpPr txBox="1"/>
          <p:nvPr/>
        </p:nvSpPr>
        <p:spPr>
          <a:xfrm>
            <a:off x="2898648" y="4096512"/>
            <a:ext cx="1837944" cy="475488"/>
          </a:xfrm>
          <a:prstGeom prst="rect">
            <a:avLst/>
          </a:prstGeom>
          <a:noFill/>
          <a:ln/>
        </p:spPr>
        <p:txBody>
          <a:bodyPr wrap="square" lIns="0" tIns="0" rIns="0" bIns="0" rtlCol="0" anchor="ctr"/>
          <a:lstStyle/>
          <a:p>
            <a:pPr algn="ctr" indent="0" marL="0">
              <a:buNone/>
            </a:pPr>
            <a:r>
              <a:rPr lang="en-US" sz="930" dirty="0">
                <a:solidFill>
                  <a:srgbClr val="34433B"/>
                </a:solidFill>
                <a:latin typeface="Calibri" pitchFamily="34" charset="0"/>
                <a:ea typeface="Calibri" pitchFamily="34" charset="-122"/>
                <a:cs typeface="Calibri" pitchFamily="34" charset="-120"/>
              </a:rPr>
              <a:t>Ward + Locality + Jurisdiction</a:t>
            </a:r>
            <a:endParaRPr lang="en-US" sz="930" dirty="0"/>
          </a:p>
        </p:txBody>
      </p:sp>
      <p:sp>
        <p:nvSpPr>
          <p:cNvPr id="35" name="Shape 33"/>
          <p:cNvSpPr/>
          <p:nvPr/>
        </p:nvSpPr>
        <p:spPr>
          <a:xfrm>
            <a:off x="4828032" y="3995928"/>
            <a:ext cx="256032" cy="164592"/>
          </a:xfrm>
          <a:prstGeom prst="rightArrow">
            <a:avLst/>
          </a:prstGeom>
          <a:solidFill>
            <a:srgbClr val="168A46"/>
          </a:solidFill>
          <a:ln/>
        </p:spPr>
      </p:sp>
      <p:sp>
        <p:nvSpPr>
          <p:cNvPr id="36" name="Shape 34"/>
          <p:cNvSpPr/>
          <p:nvPr/>
        </p:nvSpPr>
        <p:spPr>
          <a:xfrm>
            <a:off x="5102352" y="4096512"/>
            <a:ext cx="1984248" cy="475488"/>
          </a:xfrm>
          <a:prstGeom prst="roundRect">
            <a:avLst>
              <a:gd name="adj" fmla="val 17308"/>
            </a:avLst>
          </a:prstGeom>
          <a:solidFill>
            <a:srgbClr val="F2F8F4"/>
          </a:solidFill>
          <a:ln w="12700">
            <a:solidFill>
              <a:srgbClr val="D3E6DA"/>
            </a:solidFill>
            <a:prstDash val="solid"/>
          </a:ln>
        </p:spPr>
      </p:sp>
      <p:sp>
        <p:nvSpPr>
          <p:cNvPr id="37" name="Text 35"/>
          <p:cNvSpPr txBox="1"/>
          <p:nvPr/>
        </p:nvSpPr>
        <p:spPr>
          <a:xfrm>
            <a:off x="5175504" y="4096512"/>
            <a:ext cx="1837944" cy="475488"/>
          </a:xfrm>
          <a:prstGeom prst="rect">
            <a:avLst/>
          </a:prstGeom>
          <a:noFill/>
          <a:ln/>
        </p:spPr>
        <p:txBody>
          <a:bodyPr wrap="square" lIns="0" tIns="0" rIns="0" bIns="0" rtlCol="0" anchor="ctr"/>
          <a:lstStyle/>
          <a:p>
            <a:pPr algn="ctr" indent="0" marL="0">
              <a:buNone/>
            </a:pPr>
            <a:r>
              <a:rPr lang="en-US" sz="930" dirty="0">
                <a:solidFill>
                  <a:srgbClr val="34433B"/>
                </a:solidFill>
                <a:latin typeface="Calibri" pitchFamily="34" charset="0"/>
                <a:ea typeface="Calibri" pitchFamily="34" charset="-122"/>
                <a:cs typeface="Calibri" pitchFamily="34" charset="-120"/>
              </a:rPr>
              <a:t>Authority Mapping</a:t>
            </a:r>
            <a:endParaRPr lang="en-US" sz="930" dirty="0"/>
          </a:p>
        </p:txBody>
      </p:sp>
      <p:sp>
        <p:nvSpPr>
          <p:cNvPr id="38" name="Shape 36"/>
          <p:cNvSpPr/>
          <p:nvPr/>
        </p:nvSpPr>
        <p:spPr>
          <a:xfrm>
            <a:off x="7104888" y="3995928"/>
            <a:ext cx="256032" cy="164592"/>
          </a:xfrm>
          <a:prstGeom prst="rightArrow">
            <a:avLst/>
          </a:prstGeom>
          <a:solidFill>
            <a:srgbClr val="168A46"/>
          </a:solidFill>
          <a:ln/>
        </p:spPr>
      </p:sp>
      <p:sp>
        <p:nvSpPr>
          <p:cNvPr id="39" name="Shape 37"/>
          <p:cNvSpPr/>
          <p:nvPr/>
        </p:nvSpPr>
        <p:spPr>
          <a:xfrm>
            <a:off x="7379208" y="4096512"/>
            <a:ext cx="1984248" cy="475488"/>
          </a:xfrm>
          <a:prstGeom prst="roundRect">
            <a:avLst>
              <a:gd name="adj" fmla="val 17308"/>
            </a:avLst>
          </a:prstGeom>
          <a:solidFill>
            <a:srgbClr val="F2F8F4"/>
          </a:solidFill>
          <a:ln w="12700">
            <a:solidFill>
              <a:srgbClr val="D3E6DA"/>
            </a:solidFill>
            <a:prstDash val="solid"/>
          </a:ln>
        </p:spPr>
      </p:sp>
      <p:sp>
        <p:nvSpPr>
          <p:cNvPr id="40" name="Text 38"/>
          <p:cNvSpPr txBox="1"/>
          <p:nvPr/>
        </p:nvSpPr>
        <p:spPr>
          <a:xfrm>
            <a:off x="7452360" y="4096512"/>
            <a:ext cx="1837944" cy="475488"/>
          </a:xfrm>
          <a:prstGeom prst="rect">
            <a:avLst/>
          </a:prstGeom>
          <a:noFill/>
          <a:ln/>
        </p:spPr>
        <p:txBody>
          <a:bodyPr wrap="square" lIns="0" tIns="0" rIns="0" bIns="0" rtlCol="0" anchor="ctr"/>
          <a:lstStyle/>
          <a:p>
            <a:pPr algn="ctr" indent="0" marL="0">
              <a:buNone/>
            </a:pPr>
            <a:r>
              <a:rPr lang="en-US" sz="930" dirty="0">
                <a:solidFill>
                  <a:srgbClr val="34433B"/>
                </a:solidFill>
                <a:latin typeface="Calibri" pitchFamily="34" charset="0"/>
                <a:ea typeface="Calibri" pitchFamily="34" charset="-122"/>
                <a:cs typeface="Calibri" pitchFamily="34" charset="-120"/>
              </a:rPr>
              <a:t>Issue Categories</a:t>
            </a:r>
            <a:endParaRPr lang="en-US" sz="930" dirty="0"/>
          </a:p>
        </p:txBody>
      </p:sp>
      <p:sp>
        <p:nvSpPr>
          <p:cNvPr id="41" name="Shape 39"/>
          <p:cNvSpPr/>
          <p:nvPr/>
        </p:nvSpPr>
        <p:spPr>
          <a:xfrm>
            <a:off x="9381744" y="3995928"/>
            <a:ext cx="256032" cy="164592"/>
          </a:xfrm>
          <a:prstGeom prst="rightArrow">
            <a:avLst/>
          </a:prstGeom>
          <a:solidFill>
            <a:srgbClr val="168A46"/>
          </a:solidFill>
          <a:ln/>
        </p:spPr>
      </p:sp>
      <p:sp>
        <p:nvSpPr>
          <p:cNvPr id="42" name="Shape 40"/>
          <p:cNvSpPr/>
          <p:nvPr/>
        </p:nvSpPr>
        <p:spPr>
          <a:xfrm>
            <a:off x="9656064" y="4096512"/>
            <a:ext cx="1984248" cy="475488"/>
          </a:xfrm>
          <a:prstGeom prst="roundRect">
            <a:avLst>
              <a:gd name="adj" fmla="val 17308"/>
            </a:avLst>
          </a:prstGeom>
          <a:solidFill>
            <a:srgbClr val="E6F3EA"/>
          </a:solidFill>
          <a:ln w="12700">
            <a:solidFill>
              <a:srgbClr val="168A46"/>
            </a:solidFill>
            <a:prstDash val="solid"/>
          </a:ln>
        </p:spPr>
      </p:sp>
      <p:sp>
        <p:nvSpPr>
          <p:cNvPr id="43" name="Text 41"/>
          <p:cNvSpPr txBox="1"/>
          <p:nvPr/>
        </p:nvSpPr>
        <p:spPr>
          <a:xfrm>
            <a:off x="9729216" y="4096512"/>
            <a:ext cx="1837944" cy="475488"/>
          </a:xfrm>
          <a:prstGeom prst="rect">
            <a:avLst/>
          </a:prstGeom>
          <a:noFill/>
          <a:ln/>
        </p:spPr>
        <p:txBody>
          <a:bodyPr wrap="square" lIns="0" tIns="0" rIns="0" bIns="0" rtlCol="0" anchor="ctr"/>
          <a:lstStyle/>
          <a:p>
            <a:pPr algn="ctr" indent="0" marL="0">
              <a:buNone/>
            </a:pPr>
            <a:r>
              <a:rPr lang="en-US" sz="930" b="1" dirty="0">
                <a:solidFill>
                  <a:srgbClr val="0F6334"/>
                </a:solidFill>
                <a:latin typeface="Calibri" pitchFamily="34" charset="0"/>
                <a:ea typeface="Calibri" pitchFamily="34" charset="-122"/>
                <a:cs typeface="Calibri" pitchFamily="34" charset="-120"/>
              </a:rPr>
              <a:t>MySQL Routing DB</a:t>
            </a:r>
            <a:endParaRPr lang="en-US" sz="930" dirty="0"/>
          </a:p>
        </p:txBody>
      </p:sp>
      <p:sp>
        <p:nvSpPr>
          <p:cNvPr id="44" name="Shape 42"/>
          <p:cNvSpPr/>
          <p:nvPr/>
        </p:nvSpPr>
        <p:spPr>
          <a:xfrm>
            <a:off x="548640" y="4809744"/>
            <a:ext cx="2608326" cy="713232"/>
          </a:xfrm>
          <a:prstGeom prst="roundRect">
            <a:avLst>
              <a:gd name="adj" fmla="val 11538"/>
            </a:avLst>
          </a:prstGeom>
          <a:solidFill>
            <a:srgbClr val="F2F8F4"/>
          </a:solidFill>
          <a:ln w="12700">
            <a:solidFill>
              <a:srgbClr val="D3E6DA"/>
            </a:solidFill>
            <a:prstDash val="solid"/>
          </a:ln>
        </p:spPr>
      </p:sp>
      <p:sp>
        <p:nvSpPr>
          <p:cNvPr id="45" name="Text 43"/>
          <p:cNvSpPr txBox="1"/>
          <p:nvPr/>
        </p:nvSpPr>
        <p:spPr>
          <a:xfrm>
            <a:off x="685800" y="4864608"/>
            <a:ext cx="2334006" cy="365760"/>
          </a:xfrm>
          <a:prstGeom prst="rect">
            <a:avLst/>
          </a:prstGeom>
          <a:noFill/>
          <a:ln/>
        </p:spPr>
        <p:txBody>
          <a:bodyPr wrap="square" lIns="0" tIns="0" rIns="0" bIns="0" rtlCol="0" anchor="ctr"/>
          <a:lstStyle/>
          <a:p>
            <a:pPr indent="0" marL="0">
              <a:buNone/>
            </a:pPr>
            <a:r>
              <a:rPr lang="en-US" sz="1900" b="1" dirty="0">
                <a:solidFill>
                  <a:srgbClr val="168A46"/>
                </a:solidFill>
                <a:latin typeface="Calibri" pitchFamily="34" charset="0"/>
                <a:ea typeface="Calibri" pitchFamily="34" charset="-122"/>
                <a:cs typeface="Calibri" pitchFamily="34" charset="-120"/>
              </a:rPr>
              <a:t>65</a:t>
            </a:r>
            <a:endParaRPr lang="en-US" sz="1900" dirty="0"/>
          </a:p>
        </p:txBody>
      </p:sp>
      <p:sp>
        <p:nvSpPr>
          <p:cNvPr id="46" name="Text 44"/>
          <p:cNvSpPr txBox="1"/>
          <p:nvPr/>
        </p:nvSpPr>
        <p:spPr>
          <a:xfrm>
            <a:off x="685800" y="5230368"/>
            <a:ext cx="2334006" cy="256032"/>
          </a:xfrm>
          <a:prstGeom prst="rect">
            <a:avLst/>
          </a:prstGeom>
          <a:noFill/>
          <a:ln/>
        </p:spPr>
        <p:txBody>
          <a:bodyPr wrap="square" lIns="0" tIns="0" rIns="0" bIns="0" rtlCol="0" anchor="ctr"/>
          <a:lstStyle/>
          <a:p>
            <a:pPr indent="0" marL="0">
              <a:buNone/>
            </a:pPr>
            <a:r>
              <a:rPr lang="en-US" sz="950" dirty="0">
                <a:solidFill>
                  <a:srgbClr val="34433B"/>
                </a:solidFill>
                <a:latin typeface="Calibri" pitchFamily="34" charset="0"/>
                <a:ea typeface="Calibri" pitchFamily="34" charset="-122"/>
                <a:cs typeface="Calibri" pitchFamily="34" charset="-120"/>
              </a:rPr>
              <a:t>MCC wards</a:t>
            </a:r>
            <a:endParaRPr lang="en-US" sz="950" dirty="0"/>
          </a:p>
        </p:txBody>
      </p:sp>
      <p:sp>
        <p:nvSpPr>
          <p:cNvPr id="47" name="Shape 45"/>
          <p:cNvSpPr/>
          <p:nvPr/>
        </p:nvSpPr>
        <p:spPr>
          <a:xfrm>
            <a:off x="3376422" y="4809744"/>
            <a:ext cx="2608326" cy="713232"/>
          </a:xfrm>
          <a:prstGeom prst="roundRect">
            <a:avLst>
              <a:gd name="adj" fmla="val 11538"/>
            </a:avLst>
          </a:prstGeom>
          <a:solidFill>
            <a:srgbClr val="F2F8F4"/>
          </a:solidFill>
          <a:ln w="12700">
            <a:solidFill>
              <a:srgbClr val="D3E6DA"/>
            </a:solidFill>
            <a:prstDash val="solid"/>
          </a:ln>
        </p:spPr>
      </p:sp>
      <p:sp>
        <p:nvSpPr>
          <p:cNvPr id="48" name="Text 46"/>
          <p:cNvSpPr txBox="1"/>
          <p:nvPr/>
        </p:nvSpPr>
        <p:spPr>
          <a:xfrm>
            <a:off x="3513582" y="4864608"/>
            <a:ext cx="2334006" cy="365760"/>
          </a:xfrm>
          <a:prstGeom prst="rect">
            <a:avLst/>
          </a:prstGeom>
          <a:noFill/>
          <a:ln/>
        </p:spPr>
        <p:txBody>
          <a:bodyPr wrap="square" lIns="0" tIns="0" rIns="0" bIns="0" rtlCol="0" anchor="ctr"/>
          <a:lstStyle/>
          <a:p>
            <a:pPr indent="0" marL="0">
              <a:buNone/>
            </a:pPr>
            <a:r>
              <a:rPr lang="en-US" sz="1900" b="1" dirty="0">
                <a:solidFill>
                  <a:srgbClr val="168A46"/>
                </a:solidFill>
                <a:latin typeface="Calibri" pitchFamily="34" charset="0"/>
                <a:ea typeface="Calibri" pitchFamily="34" charset="-122"/>
                <a:cs typeface="Calibri" pitchFamily="34" charset="-120"/>
              </a:rPr>
              <a:t>119</a:t>
            </a:r>
            <a:endParaRPr lang="en-US" sz="1900" dirty="0"/>
          </a:p>
        </p:txBody>
      </p:sp>
      <p:sp>
        <p:nvSpPr>
          <p:cNvPr id="49" name="Text 47"/>
          <p:cNvSpPr txBox="1"/>
          <p:nvPr/>
        </p:nvSpPr>
        <p:spPr>
          <a:xfrm>
            <a:off x="3513582" y="5230368"/>
            <a:ext cx="2334006" cy="256032"/>
          </a:xfrm>
          <a:prstGeom prst="rect">
            <a:avLst/>
          </a:prstGeom>
          <a:noFill/>
          <a:ln/>
        </p:spPr>
        <p:txBody>
          <a:bodyPr wrap="square" lIns="0" tIns="0" rIns="0" bIns="0" rtlCol="0" anchor="ctr"/>
          <a:lstStyle/>
          <a:p>
            <a:pPr indent="0" marL="0">
              <a:buNone/>
            </a:pPr>
            <a:r>
              <a:rPr lang="en-US" sz="950" dirty="0">
                <a:solidFill>
                  <a:srgbClr val="34433B"/>
                </a:solidFill>
                <a:latin typeface="Calibri" pitchFamily="34" charset="0"/>
                <a:ea typeface="Calibri" pitchFamily="34" charset="-122"/>
                <a:cs typeface="Calibri" pitchFamily="34" charset="-120"/>
              </a:rPr>
              <a:t>Localities</a:t>
            </a:r>
            <a:endParaRPr lang="en-US" sz="950" dirty="0"/>
          </a:p>
        </p:txBody>
      </p:sp>
      <p:sp>
        <p:nvSpPr>
          <p:cNvPr id="50" name="Shape 48"/>
          <p:cNvSpPr/>
          <p:nvPr/>
        </p:nvSpPr>
        <p:spPr>
          <a:xfrm>
            <a:off x="6204204" y="4809744"/>
            <a:ext cx="2608326" cy="713232"/>
          </a:xfrm>
          <a:prstGeom prst="roundRect">
            <a:avLst>
              <a:gd name="adj" fmla="val 11538"/>
            </a:avLst>
          </a:prstGeom>
          <a:solidFill>
            <a:srgbClr val="F2F8F4"/>
          </a:solidFill>
          <a:ln w="12700">
            <a:solidFill>
              <a:srgbClr val="D3E6DA"/>
            </a:solidFill>
            <a:prstDash val="solid"/>
          </a:ln>
        </p:spPr>
      </p:sp>
      <p:sp>
        <p:nvSpPr>
          <p:cNvPr id="51" name="Text 49"/>
          <p:cNvSpPr txBox="1"/>
          <p:nvPr/>
        </p:nvSpPr>
        <p:spPr>
          <a:xfrm>
            <a:off x="6341364" y="4864608"/>
            <a:ext cx="2334006" cy="365760"/>
          </a:xfrm>
          <a:prstGeom prst="rect">
            <a:avLst/>
          </a:prstGeom>
          <a:noFill/>
          <a:ln/>
        </p:spPr>
        <p:txBody>
          <a:bodyPr wrap="square" lIns="0" tIns="0" rIns="0" bIns="0" rtlCol="0" anchor="ctr"/>
          <a:lstStyle/>
          <a:p>
            <a:pPr indent="0" marL="0">
              <a:buNone/>
            </a:pPr>
            <a:r>
              <a:rPr lang="en-US" sz="1900" b="1" dirty="0">
                <a:solidFill>
                  <a:srgbClr val="168A46"/>
                </a:solidFill>
                <a:latin typeface="Calibri" pitchFamily="34" charset="0"/>
                <a:ea typeface="Calibri" pitchFamily="34" charset="-122"/>
                <a:cs typeface="Calibri" pitchFamily="34" charset="-120"/>
              </a:rPr>
              <a:t>15</a:t>
            </a:r>
            <a:endParaRPr lang="en-US" sz="1900" dirty="0"/>
          </a:p>
        </p:txBody>
      </p:sp>
      <p:sp>
        <p:nvSpPr>
          <p:cNvPr id="52" name="Text 50"/>
          <p:cNvSpPr txBox="1"/>
          <p:nvPr/>
        </p:nvSpPr>
        <p:spPr>
          <a:xfrm>
            <a:off x="6341364" y="5230368"/>
            <a:ext cx="2334006" cy="256032"/>
          </a:xfrm>
          <a:prstGeom prst="rect">
            <a:avLst/>
          </a:prstGeom>
          <a:noFill/>
          <a:ln/>
        </p:spPr>
        <p:txBody>
          <a:bodyPr wrap="square" lIns="0" tIns="0" rIns="0" bIns="0" rtlCol="0" anchor="ctr"/>
          <a:lstStyle/>
          <a:p>
            <a:pPr indent="0" marL="0">
              <a:buNone/>
            </a:pPr>
            <a:r>
              <a:rPr lang="en-US" sz="950" dirty="0">
                <a:solidFill>
                  <a:srgbClr val="34433B"/>
                </a:solidFill>
                <a:latin typeface="Calibri" pitchFamily="34" charset="0"/>
                <a:ea typeface="Calibri" pitchFamily="34" charset="-122"/>
                <a:cs typeface="Calibri" pitchFamily="34" charset="-120"/>
              </a:rPr>
              <a:t>Authorities</a:t>
            </a:r>
            <a:endParaRPr lang="en-US" sz="950" dirty="0"/>
          </a:p>
        </p:txBody>
      </p:sp>
      <p:sp>
        <p:nvSpPr>
          <p:cNvPr id="53" name="Shape 51"/>
          <p:cNvSpPr/>
          <p:nvPr/>
        </p:nvSpPr>
        <p:spPr>
          <a:xfrm>
            <a:off x="9031986" y="4809744"/>
            <a:ext cx="2608326" cy="713232"/>
          </a:xfrm>
          <a:prstGeom prst="roundRect">
            <a:avLst>
              <a:gd name="adj" fmla="val 11538"/>
            </a:avLst>
          </a:prstGeom>
          <a:solidFill>
            <a:srgbClr val="F2F8F4"/>
          </a:solidFill>
          <a:ln w="12700">
            <a:solidFill>
              <a:srgbClr val="D3E6DA"/>
            </a:solidFill>
            <a:prstDash val="solid"/>
          </a:ln>
        </p:spPr>
      </p:sp>
      <p:sp>
        <p:nvSpPr>
          <p:cNvPr id="54" name="Text 52"/>
          <p:cNvSpPr txBox="1"/>
          <p:nvPr/>
        </p:nvSpPr>
        <p:spPr>
          <a:xfrm>
            <a:off x="9169146" y="4864608"/>
            <a:ext cx="2334006" cy="365760"/>
          </a:xfrm>
          <a:prstGeom prst="rect">
            <a:avLst/>
          </a:prstGeom>
          <a:noFill/>
          <a:ln/>
        </p:spPr>
        <p:txBody>
          <a:bodyPr wrap="square" lIns="0" tIns="0" rIns="0" bIns="0" rtlCol="0" anchor="ctr"/>
          <a:lstStyle/>
          <a:p>
            <a:pPr indent="0" marL="0">
              <a:buNone/>
            </a:pPr>
            <a:r>
              <a:rPr lang="en-US" sz="1900" b="1" dirty="0">
                <a:solidFill>
                  <a:srgbClr val="168A46"/>
                </a:solidFill>
                <a:latin typeface="Calibri" pitchFamily="34" charset="0"/>
                <a:ea typeface="Calibri" pitchFamily="34" charset="-122"/>
                <a:cs typeface="Calibri" pitchFamily="34" charset="-120"/>
              </a:rPr>
              <a:t>27</a:t>
            </a:r>
            <a:endParaRPr lang="en-US" sz="1900" dirty="0"/>
          </a:p>
        </p:txBody>
      </p:sp>
      <p:sp>
        <p:nvSpPr>
          <p:cNvPr id="55" name="Text 53"/>
          <p:cNvSpPr txBox="1"/>
          <p:nvPr/>
        </p:nvSpPr>
        <p:spPr>
          <a:xfrm>
            <a:off x="9169146" y="5230368"/>
            <a:ext cx="2334006" cy="256032"/>
          </a:xfrm>
          <a:prstGeom prst="rect">
            <a:avLst/>
          </a:prstGeom>
          <a:noFill/>
          <a:ln/>
        </p:spPr>
        <p:txBody>
          <a:bodyPr wrap="square" lIns="0" tIns="0" rIns="0" bIns="0" rtlCol="0" anchor="ctr"/>
          <a:lstStyle/>
          <a:p>
            <a:pPr indent="0" marL="0">
              <a:buNone/>
            </a:pPr>
            <a:r>
              <a:rPr lang="en-US" sz="950" dirty="0">
                <a:solidFill>
                  <a:srgbClr val="34433B"/>
                </a:solidFill>
                <a:latin typeface="Calibri" pitchFamily="34" charset="0"/>
                <a:ea typeface="Calibri" pitchFamily="34" charset="-122"/>
                <a:cs typeface="Calibri" pitchFamily="34" charset="-120"/>
              </a:rPr>
              <a:t>Issue categories</a:t>
            </a:r>
            <a:endParaRPr lang="en-US" sz="950" dirty="0"/>
          </a:p>
        </p:txBody>
      </p:sp>
      <p:sp>
        <p:nvSpPr>
          <p:cNvPr id="56" name="Text 54"/>
          <p:cNvSpPr txBox="1"/>
          <p:nvPr/>
        </p:nvSpPr>
        <p:spPr>
          <a:xfrm>
            <a:off x="548640" y="5650992"/>
            <a:ext cx="11091672" cy="365760"/>
          </a:xfrm>
          <a:prstGeom prst="rect">
            <a:avLst/>
          </a:prstGeom>
          <a:noFill/>
          <a:ln/>
        </p:spPr>
        <p:txBody>
          <a:bodyPr wrap="square" lIns="0" tIns="0" rIns="0" bIns="0" rtlCol="0" anchor="ctr"/>
          <a:lstStyle/>
          <a:p>
            <a:pPr algn="ctr" indent="0" marL="0">
              <a:buNone/>
            </a:pPr>
            <a:r>
              <a:rPr lang="en-US" sz="980" i="1" dirty="0">
                <a:solidFill>
                  <a:srgbClr val="6C7D71"/>
                </a:solidFill>
                <a:latin typeface="Calibri" pitchFamily="34" charset="0"/>
                <a:ea typeface="Calibri" pitchFamily="34" charset="-122"/>
                <a:cs typeface="Calibri" pitchFamily="34" charset="-120"/>
              </a:rPr>
              <a:t>Plus: departments, authority–department mappings, jurisdiction history, 2026 expansion components, locality aliases, service contacts, officers, complaint &amp; routing-log tables.</a:t>
            </a:r>
            <a:endParaRPr lang="en-US" sz="980" dirty="0"/>
          </a:p>
        </p:txBody>
      </p:sp>
      <p:sp>
        <p:nvSpPr>
          <p:cNvPr id="57" name="Text 55"/>
          <p:cNvSpPr txBox="1"/>
          <p:nvPr/>
        </p:nvSpPr>
        <p:spPr>
          <a:xfrm>
            <a:off x="11368735" y="6400800"/>
            <a:ext cx="548640" cy="274320"/>
          </a:xfrm>
          <a:prstGeom prst="rect">
            <a:avLst/>
          </a:prstGeom>
          <a:noFill/>
          <a:ln/>
        </p:spPr>
        <p:txBody>
          <a:bodyPr wrap="square" lIns="0" tIns="0" rIns="0" bIns="0" rtlCol="0" anchor="ctr"/>
          <a:lstStyle/>
          <a:p>
            <a:pPr algn="r" indent="0" marL="0">
              <a:buNone/>
            </a:pPr>
            <a:r>
              <a:rPr lang="en-US" sz="1000" dirty="0">
                <a:solidFill>
                  <a:srgbClr val="6C7D71"/>
                </a:solidFill>
                <a:latin typeface="Calibri" pitchFamily="34" charset="0"/>
                <a:ea typeface="Calibri" pitchFamily="34" charset="-122"/>
                <a:cs typeface="Calibri" pitchFamily="34" charset="-120"/>
              </a:rPr>
              <a:t>10</a:t>
            </a:r>
            <a:endParaRPr lang="en-US" sz="1000" dirty="0"/>
          </a:p>
        </p:txBody>
      </p:sp>
      <p:sp>
        <p:nvSpPr>
          <p:cNvPr id="58" name="Text 56"/>
          <p:cNvSpPr txBox="1"/>
          <p:nvPr/>
        </p:nvSpPr>
        <p:spPr>
          <a:xfrm>
            <a:off x="548640" y="6400800"/>
            <a:ext cx="3657600" cy="274320"/>
          </a:xfrm>
          <a:prstGeom prst="rect">
            <a:avLst/>
          </a:prstGeom>
          <a:noFill/>
          <a:ln/>
        </p:spPr>
        <p:txBody>
          <a:bodyPr wrap="square" lIns="0" tIns="0" rIns="0" bIns="0" rtlCol="0" anchor="ctr"/>
          <a:lstStyle/>
          <a:p>
            <a:pPr indent="0" marL="0">
              <a:buNone/>
            </a:pPr>
            <a:r>
              <a:rPr lang="en-US" sz="900" spc="200" kern="0" dirty="0">
                <a:solidFill>
                  <a:srgbClr val="6C7D71"/>
                </a:solidFill>
                <a:latin typeface="Calibri" pitchFamily="34" charset="0"/>
                <a:ea typeface="Calibri" pitchFamily="34" charset="-122"/>
                <a:cs typeface="Calibri" pitchFamily="34" charset="-120"/>
              </a:rPr>
              <a:t>SAMAGRA MYSURU</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2194560" y="5394960"/>
            <a:ext cx="4206240" cy="4206240"/>
          </a:xfrm>
          <a:prstGeom prst="ellipse">
            <a:avLst/>
          </a:prstGeom>
          <a:solidFill>
            <a:srgbClr val="F2F8F4">
              <a:alpha val="75000"/>
            </a:srgbClr>
          </a:solidFill>
          <a:ln/>
        </p:spPr>
      </p:sp>
      <p:sp>
        <p:nvSpPr>
          <p:cNvPr id="3" name="Text 1"/>
          <p:cNvSpPr txBox="1"/>
          <p:nvPr/>
        </p:nvSpPr>
        <p:spPr>
          <a:xfrm>
            <a:off x="548640" y="384048"/>
            <a:ext cx="9601200" cy="320040"/>
          </a:xfrm>
          <a:prstGeom prst="rect">
            <a:avLst/>
          </a:prstGeom>
          <a:noFill/>
          <a:ln/>
        </p:spPr>
        <p:txBody>
          <a:bodyPr wrap="square" lIns="0" tIns="0" rIns="0" bIns="0" rtlCol="0" anchor="ctr"/>
          <a:lstStyle/>
          <a:p>
            <a:pPr indent="0" marL="0">
              <a:buNone/>
            </a:pPr>
            <a:r>
              <a:rPr lang="en-US" sz="1250" b="1" spc="250" kern="0" dirty="0">
                <a:solidFill>
                  <a:srgbClr val="168A46"/>
                </a:solidFill>
                <a:latin typeface="Calibri" pitchFamily="34" charset="0"/>
                <a:ea typeface="Calibri" pitchFamily="34" charset="-122"/>
                <a:cs typeface="Calibri" pitchFamily="34" charset="-120"/>
              </a:rPr>
              <a:t>WEBSITE / PRODUCT</a:t>
            </a:r>
            <a:endParaRPr lang="en-US" sz="1250" dirty="0"/>
          </a:p>
        </p:txBody>
      </p:sp>
      <p:sp>
        <p:nvSpPr>
          <p:cNvPr id="4" name="Text 2"/>
          <p:cNvSpPr txBox="1"/>
          <p:nvPr/>
        </p:nvSpPr>
        <p:spPr>
          <a:xfrm>
            <a:off x="548640" y="658368"/>
            <a:ext cx="8229600" cy="685800"/>
          </a:xfrm>
          <a:prstGeom prst="rect">
            <a:avLst/>
          </a:prstGeom>
          <a:noFill/>
          <a:ln/>
        </p:spPr>
        <p:txBody>
          <a:bodyPr wrap="square" lIns="0" tIns="0" rIns="0" bIns="0" rtlCol="0" anchor="ctr"/>
          <a:lstStyle/>
          <a:p>
            <a:pPr indent="0" marL="0">
              <a:buNone/>
            </a:pPr>
            <a:r>
              <a:rPr lang="en-US" sz="2600" b="1" dirty="0">
                <a:solidFill>
                  <a:srgbClr val="142018"/>
                </a:solidFill>
                <a:latin typeface="Calibri" pitchFamily="34" charset="0"/>
                <a:ea typeface="Calibri" pitchFamily="34" charset="-122"/>
                <a:cs typeface="Calibri" pitchFamily="34" charset="-120"/>
              </a:rPr>
              <a:t>Samagra Mysuru — the platform</a:t>
            </a:r>
            <a:endParaRPr lang="en-US" sz="2600" dirty="0"/>
          </a:p>
        </p:txBody>
      </p:sp>
      <p:sp>
        <p:nvSpPr>
          <p:cNvPr id="5" name="Shape 3"/>
          <p:cNvSpPr/>
          <p:nvPr/>
        </p:nvSpPr>
        <p:spPr>
          <a:xfrm>
            <a:off x="548640" y="1508760"/>
            <a:ext cx="6035040" cy="4754880"/>
          </a:xfrm>
          <a:prstGeom prst="roundRect">
            <a:avLst>
              <a:gd name="adj" fmla="val 1923"/>
            </a:avLst>
          </a:prstGeom>
          <a:solidFill>
            <a:srgbClr val="F2F8F4"/>
          </a:solidFill>
          <a:ln w="12700">
            <a:solidFill>
              <a:srgbClr val="D3E6DA"/>
            </a:solidFill>
            <a:prstDash val="solid"/>
          </a:ln>
          <a:effectLst>
            <a:outerShdw sx="100000" sy="100000" kx="0" ky="0" algn="bl" rotWithShape="0" blurRad="101600" dist="25400" dir="5400000">
              <a:srgbClr val="9CB3A4">
                <a:alpha val="28000"/>
              </a:srgbClr>
            </a:outerShdw>
          </a:effectLst>
        </p:spPr>
      </p:sp>
      <p:pic>
        <p:nvPicPr>
          <p:cNvPr id="6" name="Image 0" descr="/home/claude/samagra/home.jpg">    </p:cNvPr>
          <p:cNvPicPr>
            <a:picLocks noChangeAspect="1"/>
          </p:cNvPicPr>
          <p:nvPr/>
        </p:nvPicPr>
        <p:blipFill>
          <a:blip r:embed="rId1"/>
          <a:srcRect l="0" r="0" t="0" b="0"/>
          <a:stretch/>
        </p:blipFill>
        <p:spPr>
          <a:xfrm>
            <a:off x="676656" y="1636776"/>
            <a:ext cx="5779008" cy="4187952"/>
          </a:xfrm>
          <a:prstGeom prst="rect">
            <a:avLst/>
          </a:prstGeom>
        </p:spPr>
      </p:pic>
      <p:sp>
        <p:nvSpPr>
          <p:cNvPr id="7" name="Text 4"/>
          <p:cNvSpPr txBox="1"/>
          <p:nvPr/>
        </p:nvSpPr>
        <p:spPr>
          <a:xfrm>
            <a:off x="676656" y="5879592"/>
            <a:ext cx="5779008" cy="310896"/>
          </a:xfrm>
          <a:prstGeom prst="rect">
            <a:avLst/>
          </a:prstGeom>
          <a:noFill/>
          <a:ln/>
        </p:spPr>
        <p:txBody>
          <a:bodyPr wrap="square" lIns="0" tIns="0" rIns="0" bIns="0" rtlCol="0" anchor="ctr"/>
          <a:lstStyle/>
          <a:p>
            <a:pPr indent="0" marL="0">
              <a:buNone/>
            </a:pPr>
            <a:r>
              <a:rPr lang="en-US" sz="1150" dirty="0">
                <a:solidFill>
                  <a:srgbClr val="34433B"/>
                </a:solidFill>
                <a:latin typeface="Calibri" pitchFamily="34" charset="0"/>
                <a:ea typeface="Calibri" pitchFamily="34" charset="-122"/>
                <a:cs typeface="Calibri" pitchFamily="34" charset="-120"/>
              </a:rPr>
              <a:t>Citizen &amp; Admin portals — landing page</a:t>
            </a:r>
            <a:endParaRPr lang="en-US" sz="1150" dirty="0"/>
          </a:p>
        </p:txBody>
      </p:sp>
      <p:sp>
        <p:nvSpPr>
          <p:cNvPr id="8" name="Shape 5"/>
          <p:cNvSpPr/>
          <p:nvPr/>
        </p:nvSpPr>
        <p:spPr>
          <a:xfrm>
            <a:off x="6784848" y="1508760"/>
            <a:ext cx="4855464" cy="1463040"/>
          </a:xfrm>
          <a:prstGeom prst="roundRect">
            <a:avLst>
              <a:gd name="adj" fmla="val 5000"/>
            </a:avLst>
          </a:prstGeom>
          <a:solidFill>
            <a:srgbClr val="F2F8F4"/>
          </a:solidFill>
          <a:ln w="12700">
            <a:solidFill>
              <a:srgbClr val="D3E6DA"/>
            </a:solidFill>
            <a:prstDash val="solid"/>
          </a:ln>
          <a:effectLst>
            <a:outerShdw sx="100000" sy="100000" kx="0" ky="0" algn="bl" rotWithShape="0" blurRad="101600" dist="25400" dir="5400000">
              <a:srgbClr val="9CB3A4">
                <a:alpha val="28000"/>
              </a:srgbClr>
            </a:outerShdw>
          </a:effectLst>
        </p:spPr>
      </p:sp>
      <p:pic>
        <p:nvPicPr>
          <p:cNvPr id="9" name="Image 1" descr="/home/claude/samagra/form.jpg">    </p:cNvPr>
          <p:cNvPicPr>
            <a:picLocks noChangeAspect="1"/>
          </p:cNvPicPr>
          <p:nvPr/>
        </p:nvPicPr>
        <p:blipFill>
          <a:blip r:embed="rId2"/>
          <a:srcRect l="0" r="0" t="0" b="0"/>
          <a:stretch/>
        </p:blipFill>
        <p:spPr>
          <a:xfrm>
            <a:off x="6894576" y="1618488"/>
            <a:ext cx="1508760" cy="1243584"/>
          </a:xfrm>
          <a:prstGeom prst="rect">
            <a:avLst/>
          </a:prstGeom>
        </p:spPr>
      </p:pic>
      <p:sp>
        <p:nvSpPr>
          <p:cNvPr id="10" name="Text 6"/>
          <p:cNvSpPr txBox="1"/>
          <p:nvPr/>
        </p:nvSpPr>
        <p:spPr>
          <a:xfrm>
            <a:off x="8613648" y="1508760"/>
            <a:ext cx="2843784" cy="1463040"/>
          </a:xfrm>
          <a:prstGeom prst="rect">
            <a:avLst/>
          </a:prstGeom>
          <a:noFill/>
          <a:ln/>
        </p:spPr>
        <p:txBody>
          <a:bodyPr wrap="square" lIns="0" tIns="0" rIns="0" bIns="0" rtlCol="0" anchor="ctr"/>
          <a:lstStyle/>
          <a:p>
            <a:pPr indent="0" marL="0">
              <a:lnSpc>
                <a:spcPct val="115000"/>
              </a:lnSpc>
              <a:buNone/>
            </a:pPr>
            <a:r>
              <a:rPr lang="en-US" sz="1200" b="1" dirty="0">
                <a:solidFill>
                  <a:srgbClr val="142018"/>
                </a:solidFill>
                <a:latin typeface="Calibri" pitchFamily="34" charset="0"/>
                <a:ea typeface="Calibri" pitchFamily="34" charset="-122"/>
                <a:cs typeface="Calibri" pitchFamily="34" charset="-120"/>
              </a:rPr>
              <a:t>New complaint form</a:t>
            </a:r>
            <a:endParaRPr lang="en-US" sz="1200" dirty="0"/>
          </a:p>
        </p:txBody>
      </p:sp>
      <p:sp>
        <p:nvSpPr>
          <p:cNvPr id="11" name="Shape 7"/>
          <p:cNvSpPr/>
          <p:nvPr/>
        </p:nvSpPr>
        <p:spPr>
          <a:xfrm>
            <a:off x="6784848" y="3154680"/>
            <a:ext cx="4855464" cy="1463040"/>
          </a:xfrm>
          <a:prstGeom prst="roundRect">
            <a:avLst>
              <a:gd name="adj" fmla="val 5000"/>
            </a:avLst>
          </a:prstGeom>
          <a:solidFill>
            <a:srgbClr val="F2F8F4"/>
          </a:solidFill>
          <a:ln w="12700">
            <a:solidFill>
              <a:srgbClr val="D3E6DA"/>
            </a:solidFill>
            <a:prstDash val="solid"/>
          </a:ln>
          <a:effectLst>
            <a:outerShdw sx="100000" sy="100000" kx="0" ky="0" algn="bl" rotWithShape="0" blurRad="101600" dist="25400" dir="5400000">
              <a:srgbClr val="9CB3A4">
                <a:alpha val="28000"/>
              </a:srgbClr>
            </a:outerShdw>
          </a:effectLst>
        </p:spPr>
      </p:sp>
      <p:pic>
        <p:nvPicPr>
          <p:cNvPr id="12" name="Image 2" descr="/home/claude/samagra/details.jpg">    </p:cNvPr>
          <p:cNvPicPr>
            <a:picLocks noChangeAspect="1"/>
          </p:cNvPicPr>
          <p:nvPr/>
        </p:nvPicPr>
        <p:blipFill>
          <a:blip r:embed="rId3"/>
          <a:srcRect l="0" r="0" t="0" b="0"/>
          <a:stretch/>
        </p:blipFill>
        <p:spPr>
          <a:xfrm>
            <a:off x="6894576" y="3264408"/>
            <a:ext cx="1508760" cy="1243584"/>
          </a:xfrm>
          <a:prstGeom prst="rect">
            <a:avLst/>
          </a:prstGeom>
        </p:spPr>
      </p:pic>
      <p:sp>
        <p:nvSpPr>
          <p:cNvPr id="13" name="Text 8"/>
          <p:cNvSpPr txBox="1"/>
          <p:nvPr/>
        </p:nvSpPr>
        <p:spPr>
          <a:xfrm>
            <a:off x="8613648" y="3154680"/>
            <a:ext cx="2843784" cy="1463040"/>
          </a:xfrm>
          <a:prstGeom prst="rect">
            <a:avLst/>
          </a:prstGeom>
          <a:noFill/>
          <a:ln/>
        </p:spPr>
        <p:txBody>
          <a:bodyPr wrap="square" lIns="0" tIns="0" rIns="0" bIns="0" rtlCol="0" anchor="ctr"/>
          <a:lstStyle/>
          <a:p>
            <a:pPr indent="0" marL="0">
              <a:lnSpc>
                <a:spcPct val="115000"/>
              </a:lnSpc>
              <a:buNone/>
            </a:pPr>
            <a:r>
              <a:rPr lang="en-US" sz="1200" b="1" dirty="0">
                <a:solidFill>
                  <a:srgbClr val="142018"/>
                </a:solidFill>
                <a:latin typeface="Calibri" pitchFamily="34" charset="0"/>
                <a:ea typeface="Calibri" pitchFamily="34" charset="-122"/>
                <a:cs typeface="Calibri" pitchFamily="34" charset="-120"/>
              </a:rPr>
              <a:t>Complaint detail view</a:t>
            </a:r>
            <a:endParaRPr lang="en-US" sz="1200" dirty="0"/>
          </a:p>
        </p:txBody>
      </p:sp>
      <p:sp>
        <p:nvSpPr>
          <p:cNvPr id="14" name="Shape 9"/>
          <p:cNvSpPr/>
          <p:nvPr/>
        </p:nvSpPr>
        <p:spPr>
          <a:xfrm>
            <a:off x="6784848" y="4800600"/>
            <a:ext cx="4855464" cy="1463040"/>
          </a:xfrm>
          <a:prstGeom prst="roundRect">
            <a:avLst>
              <a:gd name="adj" fmla="val 5000"/>
            </a:avLst>
          </a:prstGeom>
          <a:solidFill>
            <a:srgbClr val="F2F8F4"/>
          </a:solidFill>
          <a:ln w="12700">
            <a:solidFill>
              <a:srgbClr val="D3E6DA"/>
            </a:solidFill>
            <a:prstDash val="solid"/>
          </a:ln>
          <a:effectLst>
            <a:outerShdw sx="100000" sy="100000" kx="0" ky="0" algn="bl" rotWithShape="0" blurRad="101600" dist="25400" dir="5400000">
              <a:srgbClr val="9CB3A4">
                <a:alpha val="28000"/>
              </a:srgbClr>
            </a:outerShdw>
          </a:effectLst>
        </p:spPr>
      </p:sp>
      <p:pic>
        <p:nvPicPr>
          <p:cNvPr id="15" name="Image 3" descr="/home/claude/samagra/dashboard.jpg">    </p:cNvPr>
          <p:cNvPicPr>
            <a:picLocks noChangeAspect="1"/>
          </p:cNvPicPr>
          <p:nvPr/>
        </p:nvPicPr>
        <p:blipFill>
          <a:blip r:embed="rId4"/>
          <a:srcRect l="0" r="0" t="0" b="0"/>
          <a:stretch/>
        </p:blipFill>
        <p:spPr>
          <a:xfrm>
            <a:off x="6894576" y="4910328"/>
            <a:ext cx="1508760" cy="1243584"/>
          </a:xfrm>
          <a:prstGeom prst="rect">
            <a:avLst/>
          </a:prstGeom>
        </p:spPr>
      </p:pic>
      <p:sp>
        <p:nvSpPr>
          <p:cNvPr id="16" name="Text 10"/>
          <p:cNvSpPr txBox="1"/>
          <p:nvPr/>
        </p:nvSpPr>
        <p:spPr>
          <a:xfrm>
            <a:off x="8613648" y="4800600"/>
            <a:ext cx="2843784" cy="1463040"/>
          </a:xfrm>
          <a:prstGeom prst="rect">
            <a:avLst/>
          </a:prstGeom>
          <a:noFill/>
          <a:ln/>
        </p:spPr>
        <p:txBody>
          <a:bodyPr wrap="square" lIns="0" tIns="0" rIns="0" bIns="0" rtlCol="0" anchor="ctr"/>
          <a:lstStyle/>
          <a:p>
            <a:pPr indent="0" marL="0">
              <a:lnSpc>
                <a:spcPct val="115000"/>
              </a:lnSpc>
              <a:buNone/>
            </a:pPr>
            <a:r>
              <a:rPr lang="en-US" sz="1200" b="1" dirty="0">
                <a:solidFill>
                  <a:srgbClr val="142018"/>
                </a:solidFill>
                <a:latin typeface="Calibri" pitchFamily="34" charset="0"/>
                <a:ea typeface="Calibri" pitchFamily="34" charset="-122"/>
                <a:cs typeface="Calibri" pitchFamily="34" charset="-120"/>
              </a:rPr>
              <a:t>Officer analytics dashboard</a:t>
            </a:r>
            <a:endParaRPr lang="en-US" sz="1200" dirty="0"/>
          </a:p>
        </p:txBody>
      </p:sp>
      <p:sp>
        <p:nvSpPr>
          <p:cNvPr id="17" name="Text 11"/>
          <p:cNvSpPr txBox="1"/>
          <p:nvPr/>
        </p:nvSpPr>
        <p:spPr>
          <a:xfrm>
            <a:off x="11368735" y="6400800"/>
            <a:ext cx="548640" cy="274320"/>
          </a:xfrm>
          <a:prstGeom prst="rect">
            <a:avLst/>
          </a:prstGeom>
          <a:noFill/>
          <a:ln/>
        </p:spPr>
        <p:txBody>
          <a:bodyPr wrap="square" lIns="0" tIns="0" rIns="0" bIns="0" rtlCol="0" anchor="ctr"/>
          <a:lstStyle/>
          <a:p>
            <a:pPr algn="r" indent="0" marL="0">
              <a:buNone/>
            </a:pPr>
            <a:r>
              <a:rPr lang="en-US" sz="1000" dirty="0">
                <a:solidFill>
                  <a:srgbClr val="6C7D71"/>
                </a:solidFill>
                <a:latin typeface="Calibri" pitchFamily="34" charset="0"/>
                <a:ea typeface="Calibri" pitchFamily="34" charset="-122"/>
                <a:cs typeface="Calibri" pitchFamily="34" charset="-120"/>
              </a:rPr>
              <a:t>11</a:t>
            </a:r>
            <a:endParaRPr lang="en-US" sz="1000" dirty="0"/>
          </a:p>
        </p:txBody>
      </p:sp>
      <p:sp>
        <p:nvSpPr>
          <p:cNvPr id="18" name="Text 12"/>
          <p:cNvSpPr txBox="1"/>
          <p:nvPr/>
        </p:nvSpPr>
        <p:spPr>
          <a:xfrm>
            <a:off x="548640" y="6400800"/>
            <a:ext cx="3657600" cy="274320"/>
          </a:xfrm>
          <a:prstGeom prst="rect">
            <a:avLst/>
          </a:prstGeom>
          <a:noFill/>
          <a:ln/>
        </p:spPr>
        <p:txBody>
          <a:bodyPr wrap="square" lIns="0" tIns="0" rIns="0" bIns="0" rtlCol="0" anchor="ctr"/>
          <a:lstStyle/>
          <a:p>
            <a:pPr indent="0" marL="0">
              <a:buNone/>
            </a:pPr>
            <a:r>
              <a:rPr lang="en-US" sz="900" spc="200" kern="0" dirty="0">
                <a:solidFill>
                  <a:srgbClr val="6C7D71"/>
                </a:solidFill>
                <a:latin typeface="Calibri" pitchFamily="34" charset="0"/>
                <a:ea typeface="Calibri" pitchFamily="34" charset="-122"/>
                <a:cs typeface="Calibri" pitchFamily="34" charset="-120"/>
              </a:rPr>
              <a:t>SAMAGRA MYSURU</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9966960" y="-2011680"/>
            <a:ext cx="4937760" cy="4937760"/>
          </a:xfrm>
          <a:prstGeom prst="ellipse">
            <a:avLst/>
          </a:prstGeom>
          <a:solidFill>
            <a:srgbClr val="F2F8F4">
              <a:alpha val="75000"/>
            </a:srgbClr>
          </a:solidFill>
          <a:ln/>
        </p:spPr>
      </p:sp>
      <p:sp>
        <p:nvSpPr>
          <p:cNvPr id="3" name="Shape 1"/>
          <p:cNvSpPr/>
          <p:nvPr/>
        </p:nvSpPr>
        <p:spPr>
          <a:xfrm>
            <a:off x="-2194560" y="5394960"/>
            <a:ext cx="4206240" cy="4206240"/>
          </a:xfrm>
          <a:prstGeom prst="ellipse">
            <a:avLst/>
          </a:prstGeom>
          <a:solidFill>
            <a:srgbClr val="F2F8F4">
              <a:alpha val="75000"/>
            </a:srgbClr>
          </a:solidFill>
          <a:ln/>
        </p:spPr>
      </p:sp>
      <p:sp>
        <p:nvSpPr>
          <p:cNvPr id="4" name="Shape 2"/>
          <p:cNvSpPr/>
          <p:nvPr/>
        </p:nvSpPr>
        <p:spPr>
          <a:xfrm>
            <a:off x="5638648" y="1554480"/>
            <a:ext cx="914400" cy="914400"/>
          </a:xfrm>
          <a:prstGeom prst="ellipse">
            <a:avLst/>
          </a:prstGeom>
          <a:solidFill>
            <a:srgbClr val="E6F3EA"/>
          </a:solidFill>
          <a:ln w="12700">
            <a:solidFill>
              <a:srgbClr val="D3E6DA"/>
            </a:solidFill>
            <a:prstDash val="solid"/>
          </a:ln>
        </p:spPr>
      </p:sp>
      <p:sp>
        <p:nvSpPr>
          <p:cNvPr id="5" name="Text 3"/>
          <p:cNvSpPr txBox="1"/>
          <p:nvPr/>
        </p:nvSpPr>
        <p:spPr>
          <a:xfrm>
            <a:off x="5638648" y="1536192"/>
            <a:ext cx="914400" cy="914400"/>
          </a:xfrm>
          <a:prstGeom prst="rect">
            <a:avLst/>
          </a:prstGeom>
          <a:noFill/>
          <a:ln/>
        </p:spPr>
        <p:txBody>
          <a:bodyPr wrap="square" lIns="0" tIns="0" rIns="0" bIns="0" rtlCol="0" anchor="ctr"/>
          <a:lstStyle/>
          <a:p>
            <a:pPr algn="ctr" indent="0" marL="0">
              <a:buNone/>
            </a:pPr>
            <a:r>
              <a:rPr lang="en-US" sz="3800" b="1" dirty="0">
                <a:solidFill>
                  <a:srgbClr val="168A46"/>
                </a:solidFill>
                <a:latin typeface="Calibri" pitchFamily="34" charset="0"/>
                <a:ea typeface="Calibri" pitchFamily="34" charset="-122"/>
                <a:cs typeface="Calibri" pitchFamily="34" charset="-120"/>
              </a:rPr>
              <a:t>⌂</a:t>
            </a:r>
            <a:endParaRPr lang="en-US" sz="3800" dirty="0"/>
          </a:p>
        </p:txBody>
      </p:sp>
      <p:sp>
        <p:nvSpPr>
          <p:cNvPr id="6" name="Text 4"/>
          <p:cNvSpPr txBox="1"/>
          <p:nvPr/>
        </p:nvSpPr>
        <p:spPr>
          <a:xfrm>
            <a:off x="0" y="2697480"/>
            <a:ext cx="12191695" cy="914400"/>
          </a:xfrm>
          <a:prstGeom prst="rect">
            <a:avLst/>
          </a:prstGeom>
          <a:noFill/>
          <a:ln/>
        </p:spPr>
        <p:txBody>
          <a:bodyPr wrap="square" lIns="0" tIns="0" rIns="0" bIns="0" rtlCol="0" anchor="ctr"/>
          <a:lstStyle/>
          <a:p>
            <a:pPr algn="ctr" indent="0" marL="0">
              <a:buNone/>
            </a:pPr>
            <a:r>
              <a:rPr lang="en-US" sz="4600" b="1" dirty="0">
                <a:solidFill>
                  <a:srgbClr val="142018"/>
                </a:solidFill>
                <a:latin typeface="Calibri" pitchFamily="34" charset="0"/>
                <a:ea typeface="Calibri" pitchFamily="34" charset="-122"/>
                <a:cs typeface="Calibri" pitchFamily="34" charset="-120"/>
              </a:rPr>
              <a:t>THANK YOU</a:t>
            </a:r>
            <a:endParaRPr lang="en-US" sz="4600" dirty="0"/>
          </a:p>
        </p:txBody>
      </p:sp>
      <p:sp>
        <p:nvSpPr>
          <p:cNvPr id="7" name="Shape 5"/>
          <p:cNvSpPr/>
          <p:nvPr/>
        </p:nvSpPr>
        <p:spPr>
          <a:xfrm>
            <a:off x="5090008" y="3566160"/>
            <a:ext cx="2011680" cy="0"/>
          </a:xfrm>
          <a:prstGeom prst="line">
            <a:avLst/>
          </a:prstGeom>
          <a:noFill/>
          <a:ln w="28575">
            <a:solidFill>
              <a:srgbClr val="168A46"/>
            </a:solidFill>
            <a:prstDash val="solid"/>
          </a:ln>
        </p:spPr>
      </p:sp>
      <p:sp>
        <p:nvSpPr>
          <p:cNvPr id="8" name="Text 6"/>
          <p:cNvSpPr txBox="1"/>
          <p:nvPr/>
        </p:nvSpPr>
        <p:spPr>
          <a:xfrm>
            <a:off x="0" y="3703320"/>
            <a:ext cx="12191695" cy="365760"/>
          </a:xfrm>
          <a:prstGeom prst="rect">
            <a:avLst/>
          </a:prstGeom>
          <a:noFill/>
          <a:ln/>
        </p:spPr>
        <p:txBody>
          <a:bodyPr wrap="square" lIns="0" tIns="0" rIns="0" bIns="0" rtlCol="0" anchor="ctr"/>
          <a:lstStyle/>
          <a:p>
            <a:pPr algn="ctr" indent="0" marL="0">
              <a:buNone/>
            </a:pPr>
            <a:r>
              <a:rPr lang="en-US" sz="1400" dirty="0">
                <a:solidFill>
                  <a:srgbClr val="34433B"/>
                </a:solidFill>
                <a:latin typeface="Calibri" pitchFamily="34" charset="0"/>
                <a:ea typeface="Calibri" pitchFamily="34" charset="-122"/>
                <a:cs typeface="Calibri" pitchFamily="34" charset="-120"/>
              </a:rPr>
              <a:t>SAMAGRA MYSURU  •  Civic Complaint &amp; Governance Portal</a:t>
            </a:r>
            <a:endParaRPr lang="en-US" sz="1400" dirty="0"/>
          </a:p>
        </p:txBody>
      </p:sp>
      <p:sp>
        <p:nvSpPr>
          <p:cNvPr id="9" name="Text 7"/>
          <p:cNvSpPr txBox="1"/>
          <p:nvPr/>
        </p:nvSpPr>
        <p:spPr>
          <a:xfrm>
            <a:off x="0" y="4206240"/>
            <a:ext cx="12191695" cy="320040"/>
          </a:xfrm>
          <a:prstGeom prst="rect">
            <a:avLst/>
          </a:prstGeom>
          <a:noFill/>
          <a:ln/>
        </p:spPr>
        <p:txBody>
          <a:bodyPr wrap="square" lIns="0" tIns="0" rIns="0" bIns="0" rtlCol="0" anchor="ctr"/>
          <a:lstStyle/>
          <a:p>
            <a:pPr algn="ctr" indent="0" marL="0">
              <a:buNone/>
            </a:pPr>
            <a:r>
              <a:rPr lang="en-US" sz="1250" dirty="0">
                <a:solidFill>
                  <a:srgbClr val="6C7D71"/>
                </a:solidFill>
                <a:latin typeface="Calibri" pitchFamily="34" charset="0"/>
                <a:ea typeface="Calibri" pitchFamily="34" charset="-122"/>
                <a:cs typeface="Calibri" pitchFamily="34" charset="-120"/>
              </a:rPr>
              <a:t>Manasa M N   •   Prerana L   •   Sahana M Singad   •   Sinchana</a:t>
            </a:r>
            <a:endParaRPr lang="en-US" sz="1250" dirty="0"/>
          </a:p>
        </p:txBody>
      </p:sp>
      <p:sp>
        <p:nvSpPr>
          <p:cNvPr id="10" name="Text 8"/>
          <p:cNvSpPr txBox="1"/>
          <p:nvPr/>
        </p:nvSpPr>
        <p:spPr>
          <a:xfrm>
            <a:off x="0" y="4526280"/>
            <a:ext cx="12191695" cy="320040"/>
          </a:xfrm>
          <a:prstGeom prst="rect">
            <a:avLst/>
          </a:prstGeom>
          <a:noFill/>
          <a:ln/>
        </p:spPr>
        <p:txBody>
          <a:bodyPr wrap="square" lIns="0" tIns="0" rIns="0" bIns="0" rtlCol="0" anchor="ctr"/>
          <a:lstStyle/>
          <a:p>
            <a:pPr algn="ctr" indent="0" marL="0">
              <a:buNone/>
            </a:pPr>
            <a:r>
              <a:rPr lang="en-US" sz="1250" dirty="0">
                <a:solidFill>
                  <a:srgbClr val="6C7D71"/>
                </a:solidFill>
                <a:latin typeface="Calibri" pitchFamily="34" charset="0"/>
                <a:ea typeface="Calibri" pitchFamily="34" charset="-122"/>
                <a:cs typeface="Calibri" pitchFamily="34" charset="-120"/>
              </a:rPr>
              <a:t>GSSSIETW  •  Dept. of CSE (AIML)  •  Hack Mysuru 1.0</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2026-09-20T08:13:57Z</dcterms:created>
  <dcterms:modified xsi:type="dcterms:W3CDTF">2026-09-20T08:13:57Z</dcterms:modified>
</cp:coreProperties>
</file>